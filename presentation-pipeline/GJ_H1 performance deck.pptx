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Sales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418075999165771E-2"/>
          <c:y val="7.6609114399812078E-2"/>
          <c:w val="0.91736227055735708"/>
          <c:h val="0.756038918760947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Blinkit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 </c:v>
                </c:pt>
              </c:strCache>
            </c:strRef>
          </c:cat>
          <c:val>
            <c:numRef>
              <c:f>Sheet1!$B$2:$B$7</c:f>
              <c:numCache>
                <c:formatCode>#\.00,</c:formatCode>
                <c:ptCount val="6"/>
                <c:pt idx="0">
                  <c:v>11620807</c:v>
                </c:pt>
                <c:pt idx="1">
                  <c:v>11139353</c:v>
                </c:pt>
                <c:pt idx="2">
                  <c:v>15430604</c:v>
                </c:pt>
                <c:pt idx="3">
                  <c:v>16174288</c:v>
                </c:pt>
                <c:pt idx="4">
                  <c:v>16165327</c:v>
                </c:pt>
                <c:pt idx="5">
                  <c:v>13194699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85-4A23-89A8-07E3D73969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Swiggy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 </c:v>
                </c:pt>
              </c:strCache>
            </c:strRef>
          </c:cat>
          <c:val>
            <c:numRef>
              <c:f>Sheet1!$C$2:$C$7</c:f>
              <c:numCache>
                <c:formatCode>#\.00,</c:formatCode>
                <c:ptCount val="6"/>
                <c:pt idx="0">
                  <c:v>14311131</c:v>
                </c:pt>
                <c:pt idx="1">
                  <c:v>11316140</c:v>
                </c:pt>
                <c:pt idx="2">
                  <c:v>12655826</c:v>
                </c:pt>
                <c:pt idx="3">
                  <c:v>11696991</c:v>
                </c:pt>
                <c:pt idx="4">
                  <c:v>14582388</c:v>
                </c:pt>
                <c:pt idx="5">
                  <c:v>17963537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85-4A23-89A8-07E3D73969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Zepto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 </c:v>
                </c:pt>
              </c:strCache>
            </c:strRef>
          </c:cat>
          <c:val>
            <c:numRef>
              <c:f>Sheet1!$D$2:$D$7</c:f>
              <c:numCache>
                <c:formatCode>#\.00,</c:formatCode>
                <c:ptCount val="6"/>
                <c:pt idx="0">
                  <c:v>41290508.5</c:v>
                </c:pt>
                <c:pt idx="1">
                  <c:v>34980085.5</c:v>
                </c:pt>
                <c:pt idx="2">
                  <c:v>45535714</c:v>
                </c:pt>
                <c:pt idx="3">
                  <c:v>46886595</c:v>
                </c:pt>
                <c:pt idx="4">
                  <c:v>54094072.5</c:v>
                </c:pt>
                <c:pt idx="5">
                  <c:v>51735249.5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A85-4A23-89A8-07E3D7396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1190544"/>
        <c:axId val="1761191504"/>
      </c:lineChart>
      <c:catAx>
        <c:axId val="176119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191504"/>
        <c:crosses val="autoZero"/>
        <c:auto val="1"/>
        <c:lblAlgn val="ctr"/>
        <c:lblOffset val="100"/>
        <c:noMultiLvlLbl val="0"/>
      </c:catAx>
      <c:valAx>
        <c:axId val="176119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.00,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190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85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34402" y="1143000"/>
            <a:ext cx="4381805" cy="4381805"/>
          </a:xfrm>
          <a:prstGeom prst="ellipse">
            <a:avLst/>
          </a:prstGeom>
          <a:solidFill>
            <a:srgbClr val="6D8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01e19e55ef5db0db27e2e842da801cc7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571500" y="4743907"/>
            <a:ext cx="57607" cy="914400"/>
          </a:xfrm>
          <a:prstGeom prst="rect">
            <a:avLst/>
          </a:prstGeom>
        </p:spPr>
      </p:pic>
      <p:pic>
        <p:nvPicPr>
          <p:cNvPr id="6" name="Image 1" descr="gen-dedup-6196b3317ce663a59fd7aabfbc87295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0900" y="1142085"/>
            <a:ext cx="4381805" cy="4381805"/>
          </a:xfrm>
          <a:prstGeom prst="rect">
            <a:avLst/>
          </a:prstGeom>
        </p:spPr>
      </p:pic>
      <p:pic>
        <p:nvPicPr>
          <p:cNvPr id="7" name="Image 2" descr="gen-dedup-4689db3b04437440429a5fcc34689aa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533095"/>
            <a:ext cx="267005" cy="2670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3602" y="533095"/>
            <a:ext cx="1010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GODREJ JERSEY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619402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Q-COMMERCE PERFORMANCE REVIEW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52298" y="2000707"/>
            <a:ext cx="62865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9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H1 2026</a:t>
            </a:r>
            <a:endParaRPr lang="en-US" sz="4900" dirty="0"/>
          </a:p>
          <a:p>
            <a:pPr marL="0" indent="0" algn="l">
              <a:buNone/>
            </a:pPr>
            <a:r>
              <a:rPr lang="en-US" sz="49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Read-out &amp;</a:t>
            </a:r>
            <a:endParaRPr lang="en-US" sz="4900" dirty="0"/>
          </a:p>
          <a:p>
            <a:pPr marL="0" indent="0" algn="l">
              <a:buNone/>
            </a:pPr>
            <a:r>
              <a:rPr lang="en-US" sz="4900" b="1" dirty="0">
                <a:solidFill>
                  <a:srgbClr val="5775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H2 Playbook</a:t>
            </a:r>
            <a:endParaRPr lang="en-US" sz="4900" dirty="0"/>
          </a:p>
        </p:txBody>
      </p:sp>
      <p:sp>
        <p:nvSpPr>
          <p:cNvPr id="11" name="Text 6"/>
          <p:cNvSpPr txBox="1"/>
          <p:nvPr/>
        </p:nvSpPr>
        <p:spPr>
          <a:xfrm>
            <a:off x="780898" y="4743907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didn't, and where we scale next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80898" y="5064862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data-backed walkthrough across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on June '26 platform reports and Jan ‘26 → Jun '26 trend.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61722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· BRAND LEADERSHIP | PERIOD · JAN - JUNE '26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9999878" y="533095"/>
            <a:ext cx="1819656" cy="256946"/>
          </a:xfrm>
          <a:prstGeom prst="roundRect">
            <a:avLst>
              <a:gd name="adj" fmla="val 747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9999878" y="533095"/>
            <a:ext cx="18196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r">
              <a:buNone/>
            </a:pPr>
            <a:r>
              <a:rPr lang="en-US" sz="9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· SWIGGY · ZEPTO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333195"/>
            <a:ext cx="2210105" cy="819302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19095" y="1333195"/>
            <a:ext cx="2210105" cy="819302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05095" y="1333195"/>
            <a:ext cx="2210105" cy="819302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91095" y="1333195"/>
            <a:ext cx="2210105" cy="819302"/>
          </a:xfrm>
          <a:prstGeom prst="roundRect">
            <a:avLst>
              <a:gd name="adj" fmla="val 9263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77095" y="1333195"/>
            <a:ext cx="2018995" cy="819302"/>
          </a:xfrm>
          <a:prstGeom prst="roundRect">
            <a:avLst>
              <a:gd name="adj" fmla="val 926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2672687"/>
            <a:ext cx="7028992" cy="3449116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63509" y="2495397"/>
            <a:ext cx="3752698" cy="121889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63509" y="3830422"/>
            <a:ext cx="3752698" cy="121889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63509" y="5181905"/>
            <a:ext cx="3752698" cy="1218895"/>
          </a:xfrm>
          <a:prstGeom prst="roundRect">
            <a:avLst>
              <a:gd name="adj" fmla="val 4726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3095" y="6458407"/>
            <a:ext cx="11182198" cy="209398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3095" y="6458407"/>
            <a:ext cx="38405" cy="209398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gen-dedup-72f231a1bb9cc521fa7e4a1807f0d35b.png"/>
          <p:cNvPicPr>
            <a:picLocks noChangeAspect="1"/>
          </p:cNvPicPr>
          <p:nvPr/>
        </p:nvPicPr>
        <p:blipFill>
          <a:blip r:embed="rId3"/>
          <a:srcRect t="-99" b="-99"/>
          <a:stretch/>
        </p:blipFill>
        <p:spPr>
          <a:xfrm>
            <a:off x="7963509" y="2495397"/>
            <a:ext cx="47549" cy="1200607"/>
          </a:xfrm>
          <a:prstGeom prst="rect">
            <a:avLst/>
          </a:prstGeom>
        </p:spPr>
      </p:pic>
      <p:pic>
        <p:nvPicPr>
          <p:cNvPr id="15" name="Image 1" descr="gen-dedup-8362d3afad0fce896a539712aef6e976.png"/>
          <p:cNvPicPr>
            <a:picLocks noChangeAspect="1"/>
          </p:cNvPicPr>
          <p:nvPr/>
        </p:nvPicPr>
        <p:blipFill>
          <a:blip r:embed="rId4"/>
          <a:srcRect t="-99" b="-99"/>
          <a:stretch/>
        </p:blipFill>
        <p:spPr>
          <a:xfrm>
            <a:off x="7963509" y="3830422"/>
            <a:ext cx="47549" cy="1200607"/>
          </a:xfrm>
          <a:prstGeom prst="rect">
            <a:avLst/>
          </a:prstGeom>
        </p:spPr>
      </p:pic>
      <p:pic>
        <p:nvPicPr>
          <p:cNvPr id="16" name="Image 2" descr="gen-dedup-25a62798c037d414eaec32a3bb365c94.png"/>
          <p:cNvPicPr>
            <a:picLocks noChangeAspect="1"/>
          </p:cNvPicPr>
          <p:nvPr/>
        </p:nvPicPr>
        <p:blipFill>
          <a:blip r:embed="rId5"/>
          <a:srcRect t="-99" b="-99"/>
          <a:stretch/>
        </p:blipFill>
        <p:spPr>
          <a:xfrm>
            <a:off x="7963509" y="5181905"/>
            <a:ext cx="47549" cy="1200607"/>
          </a:xfrm>
          <a:prstGeom prst="rect">
            <a:avLst/>
          </a:prstGeom>
        </p:spPr>
      </p:pic>
      <p:pic>
        <p:nvPicPr>
          <p:cNvPr id="17" name="Image 3" descr="gen-dedup-710a671d8b7723fb0c6c10f90dd31261.png"/>
          <p:cNvPicPr>
            <a:picLocks noChangeAspect="1"/>
          </p:cNvPicPr>
          <p:nvPr/>
        </p:nvPicPr>
        <p:blipFill>
          <a:blip r:embed="rId6"/>
          <a:srcRect t="-8" b="-8"/>
          <a:stretch/>
        </p:blipFill>
        <p:spPr>
          <a:xfrm>
            <a:off x="708045" y="3338369"/>
            <a:ext cx="6615390" cy="251643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3095" y="362102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H1 2026 SNAPSHOT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9944100" y="323698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533095" y="629107"/>
            <a:ext cx="111639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H1 at a glance — ₹44 Cr GMV · ₹13.78 Cr Ad Sales · 5.09x blended ROAS</a:t>
            </a:r>
            <a:endParaRPr lang="en-US" sz="2500" dirty="0"/>
          </a:p>
        </p:txBody>
      </p:sp>
      <p:sp>
        <p:nvSpPr>
          <p:cNvPr id="22" name="Text 15"/>
          <p:cNvSpPr txBox="1"/>
          <p:nvPr/>
        </p:nvSpPr>
        <p:spPr>
          <a:xfrm>
            <a:off x="533095" y="106710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closed Q2 higher than Q1 · Blinkit leads on efficiency (6.69x) · Zepto delivers volume (₹9.55 Cr ad sales)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666598" y="1429207"/>
            <a:ext cx="2000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GMV (JAN–JUN)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666598" y="1619402"/>
            <a:ext cx="20007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₹44.08 Cr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666598" y="1962302"/>
            <a:ext cx="2000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platforms combined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2952598" y="1429207"/>
            <a:ext cx="2000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AD SPEND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2952598" y="1619402"/>
            <a:ext cx="20007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₹2.71 Cr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2952598" y="1962302"/>
            <a:ext cx="2000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of H1 GMV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238598" y="1429207"/>
            <a:ext cx="2000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AD SALES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5238598" y="1619402"/>
            <a:ext cx="20007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₹13.78 Cr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5238598" y="1962302"/>
            <a:ext cx="2000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31.3% of H1 GMV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524598" y="1429207"/>
            <a:ext cx="2000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BLENDED ROAS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7524598" y="1619402"/>
            <a:ext cx="20007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5.09x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7524598" y="1962302"/>
            <a:ext cx="2000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19.6% blended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9810598" y="1429207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vs Q1 GMV GROWTH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9810598" y="1619402"/>
            <a:ext cx="18105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+22.2%</a:t>
            </a:r>
            <a:endParaRPr lang="en-US" sz="2200" dirty="0"/>
          </a:p>
        </p:txBody>
      </p:sp>
      <p:sp>
        <p:nvSpPr>
          <p:cNvPr id="37" name="Text 30"/>
          <p:cNvSpPr txBox="1"/>
          <p:nvPr/>
        </p:nvSpPr>
        <p:spPr>
          <a:xfrm>
            <a:off x="9810598" y="1962302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₹19.83 Cr → ₹24.25 Cr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533095" y="244408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sales </a:t>
            </a: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Crores)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705002" y="2786987"/>
            <a:ext cx="5811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Swiggy Zepto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8135416" y="2590494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90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· EFFICIENCY LEADER</a:t>
            </a:r>
            <a:endParaRPr lang="en-US" sz="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97745"/>
              </p:ext>
            </p:extLst>
          </p:nvPr>
        </p:nvGraphicFramePr>
        <p:xfrm>
          <a:off x="8135416" y="2780690"/>
          <a:ext cx="3429000" cy="609906"/>
        </p:xfrm>
        <a:graphic>
          <a:graphicData uri="http://schemas.openxmlformats.org/drawingml/2006/table">
            <a:tbl>
              <a:tblPr/>
              <a:tblGrid>
                <a:gridCol w="76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₹8.37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₹41.9 L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₹2.80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ROAS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6.69x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%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 36"/>
          <p:cNvSpPr txBox="1"/>
          <p:nvPr/>
        </p:nvSpPr>
        <p:spPr>
          <a:xfrm>
            <a:off x="8135416" y="3428999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efficiency of the three · Apr peak GMV ₹1.62 Cr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8135416" y="3925519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9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· FASTEST EXIT MOMENTUM</a:t>
            </a:r>
            <a:endParaRPr lang="en-US" sz="800" dirty="0"/>
          </a:p>
        </p:txBody>
      </p:sp>
      <p:graphicFrame>
        <p:nvGraphicFramePr>
          <p:cNvPr id="4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71877"/>
              </p:ext>
            </p:extLst>
          </p:nvPr>
        </p:nvGraphicFramePr>
        <p:xfrm>
          <a:off x="8135416" y="4115715"/>
          <a:ext cx="3429000" cy="609906"/>
        </p:xfrm>
        <a:graphic>
          <a:graphicData uri="http://schemas.openxmlformats.org/drawingml/2006/table">
            <a:tbl>
              <a:tblPr/>
              <a:tblGrid>
                <a:gridCol w="76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₹8.25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₹28.9 L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₹1.42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ROAS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%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Text 38"/>
          <p:cNvSpPr txBox="1"/>
          <p:nvPr/>
        </p:nvSpPr>
        <p:spPr>
          <a:xfrm>
            <a:off x="8134502" y="4799686"/>
            <a:ext cx="389717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ROAS 7.37x — H1 best month · biggest headroom on Ad-share</a:t>
            </a:r>
            <a:endParaRPr lang="en-US" sz="800" dirty="0"/>
          </a:p>
        </p:txBody>
      </p:sp>
      <p:sp>
        <p:nvSpPr>
          <p:cNvPr id="48" name="Text 39"/>
          <p:cNvSpPr txBox="1"/>
          <p:nvPr/>
        </p:nvSpPr>
        <p:spPr>
          <a:xfrm>
            <a:off x="8134502" y="5277002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90" dirty="0">
                <a:solidFill>
                  <a:srgbClr val="B9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· VOLUME ENGINE</a:t>
            </a:r>
            <a:endParaRPr lang="en-US" sz="8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379868"/>
              </p:ext>
            </p:extLst>
          </p:nvPr>
        </p:nvGraphicFramePr>
        <p:xfrm>
          <a:off x="8134502" y="5467198"/>
          <a:ext cx="3429914" cy="609906"/>
        </p:xfrm>
        <a:graphic>
          <a:graphicData uri="http://schemas.openxmlformats.org/drawingml/2006/table">
            <a:tbl>
              <a:tblPr/>
              <a:tblGrid>
                <a:gridCol w="73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₹27.45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₹2.00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₹9.55 Cr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ROAS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% 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0" marT="19202" marB="192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Text 40"/>
          <p:cNvSpPr txBox="1"/>
          <p:nvPr/>
        </p:nvSpPr>
        <p:spPr>
          <a:xfrm>
            <a:off x="8134502" y="6115507"/>
            <a:ext cx="371155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GMV · 69% of Ad Sales · Mar ROAS dip (2.40x) to fix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705002" y="6476695"/>
            <a:ext cx="11621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read:</a:t>
            </a: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₹2.71 Cr ads returned ₹13.78 Cr sales (5.09x) · Zepto is 74% of spend and 69% of ad sales · Blinkit's 6.69x proves the efficiency ceiling · Swiggy's June ROAS 7.37x signals the H2 opportunity.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533095" y="6705295"/>
            <a:ext cx="11144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Monthly GMV from platform SKU-level sales sheets · Ad performance from Blinkit, Swiggy Instamart &amp; Zepto Jan–Jun '26 reports · ROAS = Ad Sales ÷ Ad Spend · ACOS = Ad Spend ÷ Ad Sales.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9944100" y="323698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'26 → JUN '26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38605"/>
            <a:ext cx="7830007" cy="4743907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72500" y="2057400"/>
            <a:ext cx="3105302" cy="1257300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72500" y="3372307"/>
            <a:ext cx="3105302" cy="1257300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72500" y="4686300"/>
            <a:ext cx="3105302" cy="1505102"/>
          </a:xfrm>
          <a:prstGeom prst="roundRect">
            <a:avLst>
              <a:gd name="adj" fmla="val 3827"/>
            </a:avLst>
          </a:prstGeom>
          <a:solidFill>
            <a:srgbClr val="FBF3F2"/>
          </a:solidFill>
          <a:ln w="12700">
            <a:solidFill>
              <a:srgbClr val="E9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📈 PERFORMANCE TREND</a:t>
            </a:r>
          </a:p>
        </p:txBody>
      </p:sp>
      <p:sp>
        <p:nvSpPr>
          <p:cNvPr id="8" name="Shape 5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Six-Month Sales Trajectory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Sales (₹ Lakhs) across Blinkit, Swiggy Instamart &amp; Zepto — showing the shape of H1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05002" y="1772107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Sales (₹ Lakhs)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48402" y="1772107"/>
            <a:ext cx="3143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Swiggy Zepto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572500" y="1772107"/>
            <a:ext cx="30861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read-out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706002" y="2171700"/>
            <a:ext cx="2820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+50.5%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706002" y="2419502"/>
            <a:ext cx="28200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GROWTH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06002" y="2590150"/>
            <a:ext cx="28200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 (₹1.13 Cr) → Jun '26 (₹1.80 Cr). Compounding since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SILB shift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day-parting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706002" y="3486607"/>
            <a:ext cx="2820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706002" y="3733495"/>
            <a:ext cx="28200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H1 GROWTH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8706002" y="3933749"/>
            <a:ext cx="28200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'25 (₹4.59 Cr) → Jun '26 (₹5.17 Cr). Peaked in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at ₹5.41 Cr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sequential correction in June.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706002" y="4800600"/>
            <a:ext cx="2820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−18.4%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706002" y="5048402"/>
            <a:ext cx="28200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MoM (JUN)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706002" y="5248656"/>
            <a:ext cx="28200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₹1.62 Cr (May) → ₹1.32 Cr (Jun). April slot-shift muted top-line; needs SB reinforcement &amp; day-parting rollout.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SKU-level Sales sheets — Blinkit, Swiggy &amp; Zepto (Dec '25 – Jun '26). All values in ₹ Lakhs. Directional analysis; correlation not causation.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‘26 → JUN '26</a:t>
            </a:r>
            <a:endParaRPr lang="en-US" sz="800" dirty="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F2BE43A7-A07C-6BD7-AA88-3CDEA05AB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4068317"/>
              </p:ext>
            </p:extLst>
          </p:nvPr>
        </p:nvGraphicFramePr>
        <p:xfrm>
          <a:off x="551993" y="2057400"/>
          <a:ext cx="7830007" cy="4325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B93DD8F-CF4A-A9D9-EBDF-95FB3F3B1CF7}"/>
              </a:ext>
            </a:extLst>
          </p:cNvPr>
          <p:cNvSpPr txBox="1"/>
          <p:nvPr/>
        </p:nvSpPr>
        <p:spPr>
          <a:xfrm>
            <a:off x="6031072" y="2337189"/>
            <a:ext cx="966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chemeClr val="accent6">
                    <a:lumMod val="50000"/>
                  </a:schemeClr>
                </a:solidFill>
              </a:rPr>
              <a:t>Zepto</a:t>
            </a: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 Peak</a:t>
            </a:r>
          </a:p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5.4Cr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CD3E64-F9D9-A5A3-530F-DF867F76B605}"/>
              </a:ext>
            </a:extLst>
          </p:cNvPr>
          <p:cNvSpPr txBox="1"/>
          <p:nvPr/>
        </p:nvSpPr>
        <p:spPr>
          <a:xfrm>
            <a:off x="6900546" y="4258297"/>
            <a:ext cx="12915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4">
                    <a:lumMod val="50000"/>
                  </a:schemeClr>
                </a:solidFill>
              </a:rPr>
              <a:t>Swiggy New high</a:t>
            </a:r>
          </a:p>
          <a:p>
            <a:pPr algn="ctr"/>
            <a:r>
              <a:rPr lang="en-US" sz="1100" b="1" dirty="0">
                <a:solidFill>
                  <a:schemeClr val="accent4">
                    <a:lumMod val="50000"/>
                  </a:schemeClr>
                </a:solidFill>
              </a:rPr>
              <a:t>1.8Cr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C65619-4664-CBAA-EAED-E62B9276AA3A}"/>
              </a:ext>
            </a:extLst>
          </p:cNvPr>
          <p:cNvSpPr txBox="1"/>
          <p:nvPr/>
        </p:nvSpPr>
        <p:spPr>
          <a:xfrm>
            <a:off x="6782358" y="5007964"/>
            <a:ext cx="12915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chemeClr val="accent5">
                    <a:lumMod val="50000"/>
                  </a:schemeClr>
                </a:solidFill>
              </a:rPr>
              <a:t>Blinkit</a:t>
            </a:r>
            <a:r>
              <a:rPr lang="en-US" sz="1100" b="1" dirty="0">
                <a:solidFill>
                  <a:schemeClr val="accent5">
                    <a:lumMod val="50000"/>
                  </a:schemeClr>
                </a:solidFill>
              </a:rPr>
              <a:t> Dip</a:t>
            </a:r>
          </a:p>
          <a:p>
            <a:pPr algn="ctr"/>
            <a:r>
              <a:rPr lang="en-US" sz="1100" b="1" dirty="0">
                <a:solidFill>
                  <a:schemeClr val="accent5">
                    <a:lumMod val="50000"/>
                  </a:schemeClr>
                </a:solidFill>
              </a:rPr>
              <a:t>18%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19402"/>
            <a:ext cx="2686507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95498" y="1619402"/>
            <a:ext cx="2686507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57900" y="1619402"/>
            <a:ext cx="2686507" cy="1104595"/>
          </a:xfrm>
          <a:prstGeom prst="roundRect">
            <a:avLst>
              <a:gd name="adj" fmla="val 6871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20302" y="1619402"/>
            <a:ext cx="2857500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3095" y="6096305"/>
            <a:ext cx="11162995" cy="495605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6096305"/>
            <a:ext cx="38405" cy="495605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EXECUTIVE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33095" y="705002"/>
            <a:ext cx="8572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June performance snapshot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33095" y="12380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'26 combined performance across Blinkit, Swiggy Instamart &amp; Zepto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7721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GMV (JUN’26)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000707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₹8.29 Cr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47619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Zepto lead · 62% share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448202" y="17721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 SPEND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48202" y="2000707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₹48.5 L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448202" y="247619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Deployed across 3 platforms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10605" y="17721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10605" y="2000707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4.88x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210605" y="247619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Sales ₹2.37 Cr / Spend ₹48.5 L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973007" y="1772107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AD-SALES SHARE OF GMV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73007" y="2000707"/>
            <a:ext cx="25722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973007" y="2476195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on Blinkit (35.2%)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33095" y="2933395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snapshot –June '26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095" y="3200400"/>
          <a:ext cx="11125504" cy="2000705"/>
        </p:xfrm>
        <a:graphic>
          <a:graphicData uri="http://schemas.openxmlformats.org/drawingml/2006/table">
            <a:tbl>
              <a:tblPr/>
              <a:tblGrid>
                <a:gridCol w="169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5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8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4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0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AD-SALES 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 (GMV)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Blinkit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₹1.32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₹7.31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₹46.5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Instamart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₹1.80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₹4.25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₹31.3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6B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7.37x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6B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+23.2%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₹5.17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₹36.9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₹1.59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−4.4%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₹8.29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₹48.5 L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₹2.37 Cr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705002" y="6172200"/>
            <a:ext cx="1085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Read-out: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Swiggy is our efficiency engine (ROAS 7.4x, +23% MoM). Zepto is our volume engine (62% of GMV) but leaks efficiency at ACOS 23%. Blinkit dipped in June — recoverable via SILB/day-parting playbook already piloted in May.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Blinkit, Swiggy Instamart &amp; Zepto June '26 platform reports · ROAS = Ad Sales ÷ Ad Spend · Blinkit ACOS calculated from Spend ÷ Ad Sales.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| June '26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28900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72470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1F5E9"/>
          </a:solidFill>
          <a:ln w="12700">
            <a:solidFill>
              <a:srgbClr val="B7C7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195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15400" y="1657807"/>
            <a:ext cx="2781605" cy="780898"/>
          </a:xfrm>
          <a:prstGeom prst="roundRect">
            <a:avLst>
              <a:gd name="adj" fmla="val 7377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5315407"/>
            <a:ext cx="5639105" cy="1067105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39205" y="2876702"/>
            <a:ext cx="5257800" cy="2018995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39205" y="5048402"/>
            <a:ext cx="5277002" cy="1314907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39205" y="5048402"/>
            <a:ext cx="38405" cy="1314907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◧ PLATFORM DEEP-DIVE · 01</a:t>
            </a:r>
          </a:p>
        </p:txBody>
      </p:sp>
      <p:sp>
        <p:nvSpPr>
          <p:cNvPr id="12" name="Shape 10"/>
          <p:cNvSpPr/>
          <p:nvPr/>
        </p:nvSpPr>
        <p:spPr>
          <a:xfrm>
            <a:off x="10267798" y="381305"/>
            <a:ext cx="1447495" cy="286207"/>
          </a:xfrm>
          <a:prstGeom prst="roundRect">
            <a:avLst>
              <a:gd name="adj" fmla="val 6709"/>
            </a:avLst>
          </a:prstGeom>
          <a:solidFill>
            <a:srgbClr val="F5C5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Efficient on ROAS, softened on top-line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'26 · Milk, Paneer &amp; Curd — search and recommendation ads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65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665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₹1.32 Cr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6598" y="2219249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18.4% vs May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762402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762402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₹7.31 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2762402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₹366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858207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858207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6.35x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858207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3 platforms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9530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(calc.)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9530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953098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cat.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068105" y="1752905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NTB CUSTOMERS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068105" y="1914754"/>
            <a:ext cx="25722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10,332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(11.0%)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068105" y="2219249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KWs = NTB engine (19.3%)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33095" y="2609698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- June '26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095" y="2876702"/>
          <a:ext cx="5619901" cy="1686155"/>
        </p:xfrm>
        <a:graphic>
          <a:graphicData uri="http://schemas.openxmlformats.org/drawingml/2006/table">
            <a:tbl>
              <a:tblPr/>
              <a:tblGrid>
                <a:gridCol w="1314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2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₹20.8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₹1.92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₹10.3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₹2.38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2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₹46.5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₹7.31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533095" y="5048402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vs Recommendation split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" y="5447995"/>
          <a:ext cx="5333695" cy="762609"/>
        </p:xfrm>
        <a:graphic>
          <a:graphicData uri="http://schemas.openxmlformats.org/drawingml/2006/table">
            <a:tbl>
              <a:tblPr/>
              <a:tblGrid>
                <a:gridCol w="171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NTB 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(Generic)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₹5.25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₹2.07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₹23.3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Text 30"/>
          <p:cNvSpPr txBox="1"/>
          <p:nvPr/>
        </p:nvSpPr>
        <p:spPr>
          <a:xfrm>
            <a:off x="6439205" y="2609698"/>
            <a:ext cx="5239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SKUs — Jun '26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629400" y="5143500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read-outs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629400" y="5415077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6707124" y="5387644"/>
            <a:ext cx="4432544" cy="19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ads deliver 11.3x ROAS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1/3rd the spend of Search but NTB is an issue.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629400" y="5586070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707124" y="5586070"/>
            <a:ext cx="12417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 is the star: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8.0x ROAS &amp; only 12.5% ACOS. Milk close behind at 6.9x.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629400" y="5757977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6707123" y="5757977"/>
            <a:ext cx="41712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drags: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4.3x ROAS / 23% ACOS - CPM ₹470 vs milk ₹332. Bid discipline needed.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629400" y="5928970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707124" y="5928970"/>
            <a:ext cx="43040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KWs power NTB acquisition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(19.3% NTB) - retain despite lower ROAS.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Blinkit Godrej Jersey Performance Report — June '26 · ACOS shown is calculated (Spend ÷ Ad Sales) per instruction.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10267798" y="381305"/>
            <a:ext cx="1448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8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AAF8682-0EEF-40E9-05BD-AF8630B2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461" y="2884672"/>
            <a:ext cx="4861182" cy="1911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28900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72470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EEF2E7"/>
          </a:solidFill>
          <a:ln w="12700">
            <a:solidFill>
              <a:srgbClr val="B7C7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195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15400" y="1657807"/>
            <a:ext cx="2781605" cy="780898"/>
          </a:xfrm>
          <a:prstGeom prst="roundRect">
            <a:avLst>
              <a:gd name="adj" fmla="val 7377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5352898"/>
            <a:ext cx="5639105" cy="1067105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39205" y="2876702"/>
            <a:ext cx="5257800" cy="2018995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39205" y="5086807"/>
            <a:ext cx="5277002" cy="1295705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39205" y="5086807"/>
            <a:ext cx="38405" cy="1295705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◧ PLATFORM DEEP-DIVE · 02</a:t>
            </a:r>
          </a:p>
        </p:txBody>
      </p:sp>
      <p:sp>
        <p:nvSpPr>
          <p:cNvPr id="12" name="Shape 10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FC80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efficiency engine - compounding since April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'26 · Bengaluru + Hyderabad focus · Paneer &amp; Curd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65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665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₹1.80 Cr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6598" y="2219249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23.2% vs May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762402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762402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₹4.25 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2762402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₹648 · CTR 11.9%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858207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/ ROI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858207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7.37x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858207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3 platforms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9530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9530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953098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tier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068105" y="1752905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AD-SALES SHARE OF GMV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068105" y="1914754"/>
            <a:ext cx="25722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068105" y="2219249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Head-room: highest of 3 platforms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33095" y="2609698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format performance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91262"/>
              </p:ext>
            </p:extLst>
          </p:nvPr>
        </p:nvGraphicFramePr>
        <p:xfrm>
          <a:off x="533095" y="2876701"/>
          <a:ext cx="5619903" cy="1552652"/>
        </p:xfrm>
        <a:graphic>
          <a:graphicData uri="http://schemas.openxmlformats.org/drawingml/2006/table">
            <a:tbl>
              <a:tblPr/>
              <a:tblGrid>
                <a:gridCol w="1975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-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₹2.81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₹20.1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SILB - Browse (Curd)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₹94.9 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₹48.4 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₹6.14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533095" y="5086807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cut — Paneer is the workhorse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56327"/>
              </p:ext>
            </p:extLst>
          </p:nvPr>
        </p:nvGraphicFramePr>
        <p:xfrm>
          <a:off x="667678" y="5402423"/>
          <a:ext cx="5237684" cy="1019556"/>
        </p:xfrm>
        <a:graphic>
          <a:graphicData uri="http://schemas.openxmlformats.org/drawingml/2006/table">
            <a:tbl>
              <a:tblPr/>
              <a:tblGrid>
                <a:gridCol w="143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GMV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%</a:t>
                      </a:r>
                      <a:endParaRPr lang="en-US" sz="8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₹2.08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₹20.6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₹57.6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₹2.17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₹10.7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₹46.7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/ Ghee / Badam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Directional only – No ads spends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 30"/>
          <p:cNvSpPr txBox="1"/>
          <p:nvPr/>
        </p:nvSpPr>
        <p:spPr>
          <a:xfrm>
            <a:off x="6439205" y="2609698"/>
            <a:ext cx="5239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performance (Paneer + Curd)</a:t>
            </a:r>
            <a:endParaRPr lang="en-US" sz="1000" dirty="0"/>
          </a:p>
        </p:txBody>
      </p:sp>
      <p:pic>
        <p:nvPicPr>
          <p:cNvPr id="35" name="Image 0" descr="gen-dedup-9168c2bea68c566aa59cc125fac71970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6591452" y="3011120"/>
            <a:ext cx="4953305" cy="180959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629400" y="5181905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read-outs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592076" y="5509468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6715354" y="5518535"/>
            <a:ext cx="4953305" cy="239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is 1.5–2.3x more efficient than Bengaluru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Paneer &amp; Curd- budget re-weighting overdue.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592076" y="5712406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707124" y="5720300"/>
            <a:ext cx="453626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Boost (12.67x ROI)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hidden gem - under-funded at ₹48K.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592076" y="5920719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6715354" y="5919732"/>
            <a:ext cx="4304081" cy="134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over-delivers -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35.8% of Paneer GMV from ads at 9.94x ROI.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610737" y="6119222"/>
            <a:ext cx="3576219" cy="18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Curd on SILB (5.3x) &gt; Curd on Search (2.68x) -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format shift is paying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10142525" y="6139282"/>
            <a:ext cx="630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Swiggy Instamart Godrej Jersey Performance Report — June '26.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28900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72470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EF6E8"/>
          </a:solidFill>
          <a:ln w="12700">
            <a:solidFill>
              <a:srgbClr val="F4C9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19595" y="1657807"/>
            <a:ext cx="2018995" cy="780898"/>
          </a:xfrm>
          <a:prstGeom prst="roundRect">
            <a:avLst>
              <a:gd name="adj" fmla="val 7377"/>
            </a:avLst>
          </a:prstGeom>
          <a:solidFill>
            <a:srgbClr val="FBF3F2"/>
          </a:solidFill>
          <a:ln w="12700">
            <a:solidFill>
              <a:srgbClr val="E9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15400" y="1657807"/>
            <a:ext cx="2781605" cy="78089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2876702"/>
            <a:ext cx="5639105" cy="2018995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3095" y="5315407"/>
            <a:ext cx="5639105" cy="1086307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39205" y="2876702"/>
            <a:ext cx="5257800" cy="2018995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39205" y="5048402"/>
            <a:ext cx="5277002" cy="1333195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39205" y="5048402"/>
            <a:ext cx="38405" cy="1333195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◧ PLATFORM DEEP-DIVE · 03</a:t>
            </a:r>
          </a:p>
        </p:txBody>
      </p:sp>
      <p:sp>
        <p:nvSpPr>
          <p:cNvPr id="13" name="Shape 11"/>
          <p:cNvSpPr/>
          <p:nvPr/>
        </p:nvSpPr>
        <p:spPr>
          <a:xfrm>
            <a:off x="10267798" y="381305"/>
            <a:ext cx="1447495" cy="286207"/>
          </a:xfrm>
          <a:prstGeom prst="roundRect">
            <a:avLst>
              <a:gd name="adj" fmla="val 6709"/>
            </a:avLst>
          </a:prstGeom>
          <a:solidFill>
            <a:srgbClr val="7B2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volume engine - efficiency to be unlocked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'26 · 62% of Q-comm GMV · SP + SB campaigns · Hyderabad-heavy footprint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665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665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₹5.17 Cr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66598" y="2219249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4.4% vs May peak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762402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62402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₹36.9 L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762402" y="2219249"/>
            <a:ext cx="189189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₹14.5 · 5.2M impressions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858207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858207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4.31x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858207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3 — headroom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953098" y="1752905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953098" y="1914754"/>
            <a:ext cx="1810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953098" y="2219249"/>
            <a:ext cx="18105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needs discipline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068105" y="1752905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SALES / GMV SHARE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9068105" y="1914754"/>
            <a:ext cx="25722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₹1.59 Cr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30.7%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068105" y="2219249"/>
            <a:ext cx="2572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424K orders · ATC rate 84.6%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33095" y="2609698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 split — SB dominates delivery</a:t>
            </a:r>
            <a:endParaRPr lang="en-US" sz="1000" dirty="0"/>
          </a:p>
        </p:txBody>
      </p:sp>
      <p:pic>
        <p:nvPicPr>
          <p:cNvPr id="32" name="Image 0" descr="gen-dedup-71a5a0e93aab8efafbccaf316f418a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3066898"/>
            <a:ext cx="1619402" cy="1619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2572207" y="3066898"/>
            <a:ext cx="7818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3349447" y="3066898"/>
            <a:ext cx="724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4071823" y="3066898"/>
            <a:ext cx="857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SALES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4924044" y="3066898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5481828" y="3066898"/>
            <a:ext cx="6199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572207" y="3215030"/>
            <a:ext cx="35240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2781605" y="3215030"/>
            <a:ext cx="5724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3349447" y="3215030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₹33.3 L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071823" y="3215030"/>
            <a:ext cx="857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₹1.47 Cr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924044" y="3215030"/>
            <a:ext cx="562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4.40x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481828" y="3215030"/>
            <a:ext cx="6199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572207" y="3519526"/>
            <a:ext cx="35240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2781605" y="3519526"/>
            <a:ext cx="5724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3349447" y="3519526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₹3.60 L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4071823" y="3519526"/>
            <a:ext cx="857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 L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4924044" y="3519526"/>
            <a:ext cx="562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3.46x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481828" y="3519526"/>
            <a:ext cx="6199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28.9%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2572207" y="3952951"/>
            <a:ext cx="3525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carries 90% of Zepto spend.</a:t>
            </a: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Started reinforcing on SKT keywords (per April action) — SB now the workhorse. SP tail needs targeting refinement.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2628900" y="3295498"/>
            <a:ext cx="95098" cy="95098"/>
          </a:xfrm>
          <a:prstGeom prst="rect">
            <a:avLst/>
          </a:prstGeom>
          <a:solidFill>
            <a:srgbClr val="E1A6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2628900" y="3600907"/>
            <a:ext cx="95098" cy="95098"/>
          </a:xfrm>
          <a:prstGeom prst="rect">
            <a:avLst/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533095" y="5048402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ROI — Paneer &amp; Milk lead</a:t>
            </a:r>
            <a:endParaRPr lang="en-US" sz="1000" dirty="0"/>
          </a:p>
        </p:txBody>
      </p:sp>
      <p:pic>
        <p:nvPicPr>
          <p:cNvPr id="54" name="Image 1" descr="gen-dedup-3c2e999ace8362d40e6fd9a0075e3780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705002" y="5467198"/>
            <a:ext cx="5333695" cy="761695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6439205" y="2609698"/>
            <a:ext cx="5239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performance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010205"/>
          <a:ext cx="4952390" cy="1248156"/>
        </p:xfrm>
        <a:graphic>
          <a:graphicData uri="http://schemas.openxmlformats.org/drawingml/2006/table">
            <a:tbl>
              <a:tblPr/>
              <a:tblGrid>
                <a:gridCol w="13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SALES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₹1.20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₹10.7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₹27.9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₹0.59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₹5.39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Text 52"/>
          <p:cNvSpPr txBox="1"/>
          <p:nvPr/>
        </p:nvSpPr>
        <p:spPr>
          <a:xfrm>
            <a:off x="6629400" y="4390949"/>
            <a:ext cx="5639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Bengaluru is 2.0x less efficient than Hyderabad on every category — biggest leak on Zepto.</a:t>
            </a:r>
            <a:endParaRPr lang="en-US" sz="800" dirty="0"/>
          </a:p>
        </p:txBody>
      </p:sp>
      <p:sp>
        <p:nvSpPr>
          <p:cNvPr id="58" name="Text 53"/>
          <p:cNvSpPr txBox="1"/>
          <p:nvPr/>
        </p:nvSpPr>
        <p:spPr>
          <a:xfrm>
            <a:off x="6629400" y="5143500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read-outs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6629400" y="5415077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6707124" y="5415077"/>
            <a:ext cx="26188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is a hidden efficient market (9.1x ROI)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scale from ₹59K spend.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6629400" y="5586070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6707124" y="5586070"/>
            <a:ext cx="16440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drags blended ROI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2.60x + ACOS 38% + CPC ₹19.3 (vs </a:t>
            </a:r>
            <a:r>
              <a:rPr lang="en-US" sz="9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₹12.7).</a:t>
            </a:r>
            <a:endParaRPr lang="en-US" sz="900" dirty="0"/>
          </a:p>
        </p:txBody>
      </p:sp>
      <p:sp>
        <p:nvSpPr>
          <p:cNvPr id="65" name="Text 60"/>
          <p:cNvSpPr txBox="1"/>
          <p:nvPr/>
        </p:nvSpPr>
        <p:spPr>
          <a:xfrm>
            <a:off x="6629400" y="5757977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66" name="Text 61"/>
          <p:cNvSpPr txBox="1"/>
          <p:nvPr/>
        </p:nvSpPr>
        <p:spPr>
          <a:xfrm>
            <a:off x="6707124" y="5776639"/>
            <a:ext cx="41817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 is over-consumed on ads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(26.8% ACOS) - pull back on generic; retain SKT.</a:t>
            </a:r>
            <a:endParaRPr lang="en-US" sz="900" dirty="0"/>
          </a:p>
        </p:txBody>
      </p:sp>
      <p:sp>
        <p:nvSpPr>
          <p:cNvPr id="68" name="Text 63"/>
          <p:cNvSpPr txBox="1"/>
          <p:nvPr/>
        </p:nvSpPr>
        <p:spPr>
          <a:xfrm>
            <a:off x="6629400" y="5928969"/>
            <a:ext cx="3858208" cy="170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Milk budget consumed of allocation - needs re-planning, not tighter throttle.</a:t>
            </a:r>
            <a:endParaRPr lang="en-US" sz="900" dirty="0"/>
          </a:p>
        </p:txBody>
      </p:sp>
      <p:sp>
        <p:nvSpPr>
          <p:cNvPr id="71" name="Text 66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Zepto Godrej Jersey Performance Report — June '26.</a:t>
            </a:r>
            <a:endParaRPr lang="en-US" sz="800" dirty="0"/>
          </a:p>
        </p:txBody>
      </p:sp>
      <p:sp>
        <p:nvSpPr>
          <p:cNvPr id="72" name="Text 67"/>
          <p:cNvSpPr txBox="1"/>
          <p:nvPr/>
        </p:nvSpPr>
        <p:spPr>
          <a:xfrm>
            <a:off x="10267798" y="381305"/>
            <a:ext cx="1448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4705502"/>
            <a:ext cx="3600907" cy="167609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04995" y="4705502"/>
            <a:ext cx="3600907" cy="167609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76895" y="4705502"/>
            <a:ext cx="3600907" cy="167609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2c21fbfc60dcc9b5449891e20595135c.png"/>
          <p:cNvPicPr>
            <a:picLocks noChangeAspect="1"/>
          </p:cNvPicPr>
          <p:nvPr/>
        </p:nvPicPr>
        <p:blipFill>
          <a:blip r:embed="rId3"/>
          <a:srcRect l="-28" r="-28"/>
          <a:stretch/>
        </p:blipFill>
        <p:spPr>
          <a:xfrm>
            <a:off x="533095" y="4705502"/>
            <a:ext cx="3581705" cy="323698"/>
          </a:xfrm>
          <a:prstGeom prst="rect">
            <a:avLst/>
          </a:prstGeom>
        </p:spPr>
      </p:pic>
      <p:pic>
        <p:nvPicPr>
          <p:cNvPr id="6" name="Image 1" descr="gen-dedup-c16739283286827d5d2a275bb23b982e.png"/>
          <p:cNvPicPr>
            <a:picLocks noChangeAspect="1"/>
          </p:cNvPicPr>
          <p:nvPr/>
        </p:nvPicPr>
        <p:blipFill>
          <a:blip r:embed="rId4"/>
          <a:srcRect l="-28" r="-28"/>
          <a:stretch/>
        </p:blipFill>
        <p:spPr>
          <a:xfrm>
            <a:off x="4304995" y="4705502"/>
            <a:ext cx="3581705" cy="323698"/>
          </a:xfrm>
          <a:prstGeom prst="rect">
            <a:avLst/>
          </a:prstGeom>
        </p:spPr>
      </p:pic>
      <p:pic>
        <p:nvPicPr>
          <p:cNvPr id="7" name="Image 2" descr="gen-dedup-a8033cde4e82ab649cd298895462f2d7.png"/>
          <p:cNvPicPr>
            <a:picLocks noChangeAspect="1"/>
          </p:cNvPicPr>
          <p:nvPr/>
        </p:nvPicPr>
        <p:blipFill>
          <a:blip r:embed="rId5"/>
          <a:srcRect l="-28" r="-28"/>
          <a:stretch/>
        </p:blipFill>
        <p:spPr>
          <a:xfrm>
            <a:off x="8076895" y="4705502"/>
            <a:ext cx="3581705" cy="32369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▤ CATEGORY INTELLIGENCE</a:t>
            </a:r>
          </a:p>
        </p:txBody>
      </p:sp>
      <p:sp>
        <p:nvSpPr>
          <p:cNvPr id="9" name="Shape 4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each category earns its keep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matrix by category × platform (June '26) — showing where to press and where to protect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00918"/>
              </p:ext>
            </p:extLst>
          </p:nvPr>
        </p:nvGraphicFramePr>
        <p:xfrm>
          <a:off x="533095" y="1619401"/>
          <a:ext cx="11143793" cy="2248508"/>
        </p:xfrm>
        <a:graphic>
          <a:graphicData uri="http://schemas.openxmlformats.org/drawingml/2006/table">
            <a:tbl>
              <a:tblPr/>
              <a:tblGrid>
                <a:gridCol w="206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67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1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BLINKIT ROAS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ROI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 ROI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ROLE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🥛 Milk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Daily-need anchor · morning day-parting winner (per May playbook)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🥣 Curd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+ margin balance · SILB &gt; SP on Swiggy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🧀 Paneer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9.94x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5.94x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efficiency on Swiggy · biggest scale headroom on Zepto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33095" y="4401007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platform winners — where to double down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666598" y="476219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· Blinkit — Milk + Curd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666598" y="5143500"/>
            <a:ext cx="32964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6.9–8.0x ROAS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666598" y="5438851"/>
            <a:ext cx="3296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666598" y="5705856"/>
            <a:ext cx="3277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top-2 scroll placement · refine Recommendation ads for better NTB · maintain SP on SKT keywords through evening slots.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4438498" y="476219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· Swiggy — Paneer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4438498" y="5143500"/>
            <a:ext cx="32964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9.94x ROI · 35.8% ad-share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438498" y="5438851"/>
            <a:ext cx="3296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BEST-IN-CLASS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4438498" y="5705856"/>
            <a:ext cx="31153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SILB/Browse Boost formats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8210398" y="476219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· Zepto — Curd + Milk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210398" y="5143500"/>
            <a:ext cx="32964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24–27%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210398" y="5438851"/>
            <a:ext cx="3296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OPPORTUNITY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8210398" y="5705856"/>
            <a:ext cx="3258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generic-KW bleed · Protect only SKT + branded queries · Reallocate freed spend to Paneer.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ROAS/ROI = Ad Sales ÷ Ad Spend. "n/a" = category-level split not reported at that granularity on that platform.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57807"/>
            <a:ext cx="3733495" cy="4724705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43400" y="1657807"/>
            <a:ext cx="3733495" cy="4724705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53705" y="1657807"/>
            <a:ext cx="3543300" cy="4724705"/>
          </a:xfrm>
          <a:prstGeom prst="roundRect">
            <a:avLst>
              <a:gd name="adj" fmla="val 2142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3b5fba38e3169fd85c41e09aa94b99f0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33095" y="1657807"/>
            <a:ext cx="3715207" cy="838505"/>
          </a:xfrm>
          <a:prstGeom prst="rect">
            <a:avLst/>
          </a:prstGeom>
        </p:spPr>
      </p:pic>
      <p:pic>
        <p:nvPicPr>
          <p:cNvPr id="6" name="Image 1" descr="gen-dedup-43af850aa3a25b786e3e537bf1ba2e3c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4343400" y="1657807"/>
            <a:ext cx="3715207" cy="838505"/>
          </a:xfrm>
          <a:prstGeom prst="rect">
            <a:avLst/>
          </a:prstGeom>
        </p:spPr>
      </p:pic>
      <p:pic>
        <p:nvPicPr>
          <p:cNvPr id="7" name="Image 2" descr="gen-dedup-9940ad5df667afdec291b4db59f7a6cc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8153705" y="1657807"/>
            <a:ext cx="3524098" cy="838505"/>
          </a:xfrm>
          <a:prstGeom prst="rect">
            <a:avLst/>
          </a:prstGeom>
        </p:spPr>
      </p:pic>
      <p:pic>
        <p:nvPicPr>
          <p:cNvPr id="8" name="Image 3" descr="gen-dedup-6f428c763faf41c62f3c6a41ff467975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24205" y="3943807"/>
            <a:ext cx="3333902" cy="9144"/>
          </a:xfrm>
          <a:prstGeom prst="rect">
            <a:avLst/>
          </a:prstGeom>
        </p:spPr>
      </p:pic>
      <p:pic>
        <p:nvPicPr>
          <p:cNvPr id="9" name="Image 4" descr="gen-dedup-6f428c763faf41c62f3c6a41ff467975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4533595" y="3943807"/>
            <a:ext cx="3333902" cy="9144"/>
          </a:xfrm>
          <a:prstGeom prst="rect">
            <a:avLst/>
          </a:prstGeom>
        </p:spPr>
      </p:pic>
      <p:pic>
        <p:nvPicPr>
          <p:cNvPr id="10" name="Image 5" descr="gen-dedup-daf2420d14898ec81a84feb21281b414.png"/>
          <p:cNvPicPr>
            <a:picLocks noChangeAspect="1"/>
          </p:cNvPicPr>
          <p:nvPr/>
        </p:nvPicPr>
        <p:blipFill>
          <a:blip r:embed="rId7"/>
          <a:srcRect l="-2089" r="-2089"/>
          <a:stretch/>
        </p:blipFill>
        <p:spPr>
          <a:xfrm>
            <a:off x="8343900" y="3943807"/>
            <a:ext cx="3143707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533095" y="418795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✓ WHAT WORKED</a:t>
            </a:r>
          </a:p>
        </p:txBody>
      </p:sp>
      <p:sp>
        <p:nvSpPr>
          <p:cNvPr id="12" name="Shape 4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8FA5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Actions that moved the numbers</a:t>
            </a:r>
            <a:endParaRPr lang="en-US" sz="2800" dirty="0"/>
          </a:p>
        </p:txBody>
      </p:sp>
      <p:sp>
        <p:nvSpPr>
          <p:cNvPr id="14" name="Text 6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optimization moves in Feb, Apr &amp; May — impact shown as observed correlation, not guaranteed causality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724205" y="1809598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5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724205" y="2038198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down on scroll‑1 &amp; scroll‑2 winners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724205" y="2667305"/>
            <a:ext cx="3333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18" name="Text 10"/>
          <p:cNvSpPr txBox="1"/>
          <p:nvPr/>
        </p:nvSpPr>
        <p:spPr>
          <a:xfrm>
            <a:off x="742798" y="2882917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Redirected spend from top‑slot bidding wars into campaigns already delivering healthy GMV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724205" y="3313431"/>
            <a:ext cx="3151937" cy="3399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Optimized for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second scroll visibility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paying </a:t>
            </a:r>
          </a:p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slot 1</a:t>
            </a:r>
            <a:endParaRPr lang="en-US" sz="900" dirty="0"/>
          </a:p>
          <a:p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724205" y="3651199"/>
            <a:ext cx="31519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Held creative and audience - only shifted bid + budget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724205" y="4058107"/>
            <a:ext cx="3333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CORRELATION</a:t>
            </a:r>
            <a:endParaRPr lang="en-US" sz="800" dirty="0"/>
          </a:p>
        </p:txBody>
      </p:sp>
      <p:sp>
        <p:nvSpPr>
          <p:cNvPr id="24" name="Text 16"/>
          <p:cNvSpPr txBox="1"/>
          <p:nvPr/>
        </p:nvSpPr>
        <p:spPr>
          <a:xfrm>
            <a:off x="724205" y="4291279"/>
            <a:ext cx="1600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724205" y="4539082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Blinkit GMV vs Feb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(₹1.11 Cr → ₹1.54 Cr)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2457907" y="4291279"/>
            <a:ext cx="1600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+11.8%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2457907" y="4539082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Zepto GMV vs Feb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(₹3.50 Cr → ₹4.55 Cr)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724205" y="4938674"/>
            <a:ext cx="3333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rebounded after the Feb trough - bid discipline held CPMs while scroll‑1/2 impressions grew.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4533595" y="1809598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5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4533595" y="2038198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shift: SILB + SB on SKT keywords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33595" y="2667305"/>
            <a:ext cx="3333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4533595" y="2920593"/>
            <a:ext cx="3444078" cy="284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Moved budget from SKT + generic keywords into </a:t>
            </a:r>
          </a:p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 / stronger visibility formats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4533594" y="3286353"/>
            <a:ext cx="3444078" cy="252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Started running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campaigns on SKT keywords </a:t>
            </a:r>
          </a:p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relying on SP alone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4533595" y="3652114"/>
            <a:ext cx="33329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Kept a defensive SP layer for branded &amp; deep‑funnel intent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4533595" y="4058107"/>
            <a:ext cx="3333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CORRELATION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4533595" y="4291279"/>
            <a:ext cx="1600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9.61x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4533595" y="4539082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Browse Boost ROI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4.08x on Search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6267298" y="4291279"/>
            <a:ext cx="1600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6.15x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6267298" y="4539082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SB ROI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4.56x on SP</a:t>
            </a:r>
            <a:endParaRPr lang="en-US" sz="800" dirty="0"/>
          </a:p>
        </p:txBody>
      </p:sp>
      <p:sp>
        <p:nvSpPr>
          <p:cNvPr id="43" name="Text 35"/>
          <p:cNvSpPr txBox="1"/>
          <p:nvPr/>
        </p:nvSpPr>
        <p:spPr>
          <a:xfrm>
            <a:off x="4533595" y="4938674"/>
            <a:ext cx="3333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SB now delivers 90% of platform ad sales.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8343900" y="1809598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5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8343900" y="2038198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Day‑parting to peak saliency hours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8343900" y="2667305"/>
            <a:ext cx="3143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47" name="Text 39"/>
          <p:cNvSpPr txBox="1"/>
          <p:nvPr/>
        </p:nvSpPr>
        <p:spPr>
          <a:xfrm>
            <a:off x="8343900" y="2920594"/>
            <a:ext cx="2740867" cy="284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Campaigns live at peak saliency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 – 11 AM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</a:p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Paneer &amp; Curd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8343899" y="3286354"/>
            <a:ext cx="2918149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Split into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+ evening slots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cleaner readings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8344441" y="3553358"/>
            <a:ext cx="3314700" cy="303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Identified "sweet hours“ -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competition, high visibility </a:t>
            </a:r>
          </a:p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CPM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8343900" y="4058107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CORRELATION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8343900" y="4291279"/>
            <a:ext cx="15051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+15.5%</a:t>
            </a:r>
            <a:endParaRPr lang="en-US" sz="1600" dirty="0"/>
          </a:p>
        </p:txBody>
      </p:sp>
      <p:sp>
        <p:nvSpPr>
          <p:cNvPr id="58" name="Text 50"/>
          <p:cNvSpPr txBox="1"/>
          <p:nvPr/>
        </p:nvSpPr>
        <p:spPr>
          <a:xfrm>
            <a:off x="8343900" y="4539082"/>
            <a:ext cx="1505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GMV May vs Apr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(₹4.69 Cr → ₹5.41 Cr)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9982505" y="4291279"/>
            <a:ext cx="15051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+24.7%</a:t>
            </a:r>
            <a:endParaRPr lang="en-US" sz="1600" dirty="0"/>
          </a:p>
        </p:txBody>
      </p:sp>
      <p:sp>
        <p:nvSpPr>
          <p:cNvPr id="60" name="Text 52"/>
          <p:cNvSpPr txBox="1"/>
          <p:nvPr/>
        </p:nvSpPr>
        <p:spPr>
          <a:xfrm>
            <a:off x="9982505" y="4539082"/>
            <a:ext cx="1505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GMV May vs Apr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(₹1.17 Cr → ₹1.46 Cr)</a:t>
            </a:r>
            <a:endParaRPr lang="en-US" sz="800" dirty="0"/>
          </a:p>
        </p:txBody>
      </p:sp>
      <p:sp>
        <p:nvSpPr>
          <p:cNvPr id="61" name="Text 53"/>
          <p:cNvSpPr txBox="1"/>
          <p:nvPr/>
        </p:nvSpPr>
        <p:spPr>
          <a:xfrm>
            <a:off x="8343900" y="4938674"/>
            <a:ext cx="31437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peak month for Zepto (₹5.41 Cr) and Swiggy accelerated further into June - day‑parting is now a repeatable lever.</a:t>
            </a:r>
            <a:endParaRPr lang="en-US" sz="800" dirty="0"/>
          </a:p>
        </p:txBody>
      </p:sp>
      <p:sp>
        <p:nvSpPr>
          <p:cNvPr id="62" name="Text 54"/>
          <p:cNvSpPr txBox="1"/>
          <p:nvPr/>
        </p:nvSpPr>
        <p:spPr>
          <a:xfrm>
            <a:off x="533095" y="6582745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lifts derived from monthly Total Sales grand totals in each platform's SKU Level Sales sheet · action‑impact framed as observed correlation, not guaranteed causality.</a:t>
            </a:r>
            <a:endParaRPr lang="en-US" sz="800" dirty="0"/>
          </a:p>
        </p:txBody>
      </p:sp>
      <p:sp>
        <p:nvSpPr>
          <p:cNvPr id="63" name="Text 5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PLAYBOOK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095" y="41879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✕ WHAT DIDN'T WORK · LEAKS TO FIX</a:t>
            </a:r>
          </a:p>
        </p:txBody>
      </p:sp>
      <p:sp>
        <p:nvSpPr>
          <p:cNvPr id="3" name="Shape 1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C254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efficiency is leaking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friction points visible in the June numbers — each with a proposed fix for H2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36521"/>
              </p:ext>
            </p:extLst>
          </p:nvPr>
        </p:nvGraphicFramePr>
        <p:xfrm>
          <a:off x="533095" y="1619402"/>
          <a:ext cx="11144707" cy="4210812"/>
        </p:xfrm>
        <a:graphic>
          <a:graphicData uri="http://schemas.openxmlformats.org/drawingml/2006/table">
            <a:tbl>
              <a:tblPr/>
              <a:tblGrid>
                <a:gridCol w="1314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/ ISSUE OBSERVED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EVIDENCE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FIX FOR H2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Blinkit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Paneer ACOS is </a:t>
                      </a: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1.7x category average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high CPM, low conversion depth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₹470 vs Milk ₹332 · ACOS 23.1% · ROAS 4.33x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generic bids on Paneer · shift 20% into Recommendation ads (11.3x ROAS)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Blinkit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GMV dropped </a:t>
                      </a: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−18% MoM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softness after April slot re‑shuffle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₹1.62 Cr → Jun ₹1.32 Cr · lost momentum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top scroll visibility instead fighting for 1-3 MVP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Curd on </a:t>
                      </a: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search is inefficient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vs SILB - spend concentrated on high ACOS format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Curd SP ROI 2.68x · ACOS 37.3% (highest single cut)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40% of Curd SP budget into SILB (5.3x) &amp; Browse Boost (12.7x) · retain SP only on top keywords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under‑consumed on </a:t>
                      </a: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high‑ROI Hyderabad Paneer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over‑spent on lower‑ROI cuts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Curd spend 2.17x of allocation vs Paneer only 1.04x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Rebalance monthly budget in favor of Paneer‑HYD · introduce dynamic caps on Curd‑BLR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7B2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 is the single biggest efficiency leak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across every category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BLR ROI 2.60x · ACOS 38% · CPC ₹19.3 (Hyd ₹12.7)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BLR spend 25% &amp; HYD dayparts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7B2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keywords over‑consuming</a:t>
                      </a: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Curd + Milk spend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KWs = 85% of Zepto ad spend · ROI 4.44x, ACOS 22.5%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generic long‑tail · protect SKT + branded · redeploy freed spend to Paneer + Ghee (higher ROI)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from June '26 platform reports · ACOS = Spend ÷ Ad Sales · fixes are proposals; expected impact to be validated post‑implementation.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GAPS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4705502"/>
            <a:ext cx="5658307" cy="1657807"/>
          </a:xfrm>
          <a:prstGeom prst="rect">
            <a:avLst/>
          </a:prstGeom>
          <a:solidFill>
            <a:srgbClr val="F1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3095" y="4705502"/>
            <a:ext cx="38405" cy="1657807"/>
          </a:xfrm>
          <a:prstGeom prst="rect">
            <a:avLst/>
          </a:prstGeom>
          <a:solidFill>
            <a:srgbClr val="E1A64B"/>
          </a:solidFill>
          <a:ln w="12700">
            <a:solidFill>
              <a:srgbClr val="E1A6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39205" y="1886407"/>
            <a:ext cx="5257800" cy="2686507"/>
          </a:xfrm>
          <a:prstGeom prst="roundRect">
            <a:avLst>
              <a:gd name="adj" fmla="val 214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39205" y="4705502"/>
            <a:ext cx="5257800" cy="1676095"/>
          </a:xfrm>
          <a:prstGeom prst="roundRect">
            <a:avLst>
              <a:gd name="adj" fmla="val 3437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41879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◈ GEO &amp; DAY-PART INTELLIGENCE</a:t>
            </a:r>
          </a:p>
        </p:txBody>
      </p:sp>
      <p:sp>
        <p:nvSpPr>
          <p:cNvPr id="7" name="Shape 5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&amp; when spend earns most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efficiency (Zepto + Swiggy) and the day‑parting effect discovered in May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" y="1619402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ROI — June '26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095" y="1886407"/>
          <a:ext cx="5619903" cy="2419501"/>
        </p:xfrm>
        <a:graphic>
          <a:graphicData uri="http://schemas.openxmlformats.org/drawingml/2006/table">
            <a:tbl>
              <a:tblPr/>
              <a:tblGrid>
                <a:gridCol w="121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6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 (Ghee-led)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₹0.59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(Paneer)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₹1.26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₹23.24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(Paneer)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Zepto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₹10.74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(Curd)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₹0.34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25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05002" y="4800600"/>
            <a:ext cx="5353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read-outs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05002" y="5078578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0719" y="5059916"/>
            <a:ext cx="4618616" cy="321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+ Hyderabad-Paneer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two most efficient rupees we deploy </a:t>
            </a:r>
          </a:p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both under-funded relative to potential.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05002" y="5432450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19303" y="5441730"/>
            <a:ext cx="43104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r>
              <a:rPr lang="en-US" sz="900" b="1" dirty="0"/>
              <a:t>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anchor market: 67% of Zepto spend, 2.0x more efficient than Bengaluru.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05002" y="5647168"/>
            <a:ext cx="859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01014" y="5616849"/>
            <a:ext cx="52578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consistent inefficiency signature across BOTH platforms → market-level issue (CPC premium, weaker conversion), not a platform artefact.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96566" y="6059727"/>
            <a:ext cx="3958325" cy="302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Recommendation: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BLR spend, redeploy to CHE + HYD dayparts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H2.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439205" y="1619402"/>
            <a:ext cx="5239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Day-parting - the "sweet hours" learning from May</a:t>
            </a:r>
            <a:endParaRPr lang="en-US" sz="1000" dirty="0"/>
          </a:p>
        </p:txBody>
      </p:sp>
      <p:pic>
        <p:nvPicPr>
          <p:cNvPr id="26" name="Image 0" descr="gen-dedup-d8dcb38fd0b9cce1e42acdc80a5439cb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6629400" y="2038198"/>
            <a:ext cx="4858207" cy="238109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629400" y="4839005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signals (May → Jun window)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629400" y="5292084"/>
            <a:ext cx="1561795" cy="666598"/>
          </a:xfrm>
          <a:prstGeom prst="roundRect">
            <a:avLst>
              <a:gd name="adj" fmla="val 8642"/>
            </a:avLst>
          </a:prstGeom>
          <a:solidFill>
            <a:srgbClr val="EE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743700" y="538718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+15.5%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743700" y="5615782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 GMV lift in May post day-parting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8324698" y="5292084"/>
            <a:ext cx="1561795" cy="666598"/>
          </a:xfrm>
          <a:prstGeom prst="roundRect">
            <a:avLst>
              <a:gd name="adj" fmla="val 8642"/>
            </a:avLst>
          </a:prstGeom>
          <a:solidFill>
            <a:srgbClr val="F1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8438998" y="538718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AM/PM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8438998" y="5615782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campaigns enabled attribution clarity per slot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10019995" y="5292084"/>
            <a:ext cx="1561795" cy="666598"/>
          </a:xfrm>
          <a:prstGeom prst="roundRect">
            <a:avLst>
              <a:gd name="adj" fmla="val 8642"/>
            </a:avLst>
          </a:prstGeom>
          <a:solidFill>
            <a:srgbClr val="FEF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10134295" y="538718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CPMs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0134295" y="5615782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Sweet-hour bids ~15–20% below auction average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Day-part curves are illustrative reconstructions of the May "sweet hours" learning; MoM impact from platform SKU-level sales sheets. Correlation not causality.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INTEL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657807"/>
            <a:ext cx="2210105" cy="4724705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19095" y="1657807"/>
            <a:ext cx="2210105" cy="4724705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05095" y="1657807"/>
            <a:ext cx="2210105" cy="4724705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91095" y="1657807"/>
            <a:ext cx="2210105" cy="4724705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77095" y="1657807"/>
            <a:ext cx="2018995" cy="4724705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gen-dedup-78bfd7da642ab9958f093623c1b31506.png"/>
          <p:cNvPicPr>
            <a:picLocks noChangeAspect="1"/>
          </p:cNvPicPr>
          <p:nvPr/>
        </p:nvPicPr>
        <p:blipFill>
          <a:blip r:embed="rId3"/>
          <a:srcRect l="-204" r="-204"/>
          <a:stretch/>
        </p:blipFill>
        <p:spPr>
          <a:xfrm>
            <a:off x="533095" y="1657807"/>
            <a:ext cx="2190902" cy="75895"/>
          </a:xfrm>
          <a:prstGeom prst="rect">
            <a:avLst/>
          </a:prstGeom>
        </p:spPr>
      </p:pic>
      <p:pic>
        <p:nvPicPr>
          <p:cNvPr id="8" name="Image 1" descr="gen-dedup-1516209f046c6c54d183de269622c69c.png"/>
          <p:cNvPicPr>
            <a:picLocks noChangeAspect="1"/>
          </p:cNvPicPr>
          <p:nvPr/>
        </p:nvPicPr>
        <p:blipFill>
          <a:blip r:embed="rId4"/>
          <a:srcRect l="-204" r="-204"/>
          <a:stretch/>
        </p:blipFill>
        <p:spPr>
          <a:xfrm>
            <a:off x="2819095" y="1657807"/>
            <a:ext cx="2190902" cy="75895"/>
          </a:xfrm>
          <a:prstGeom prst="rect">
            <a:avLst/>
          </a:prstGeom>
        </p:spPr>
      </p:pic>
      <p:pic>
        <p:nvPicPr>
          <p:cNvPr id="9" name="Image 2" descr="gen-dedup-658d65ccf5ff91e03c57ec61026d199b.png"/>
          <p:cNvPicPr>
            <a:picLocks noChangeAspect="1"/>
          </p:cNvPicPr>
          <p:nvPr/>
        </p:nvPicPr>
        <p:blipFill>
          <a:blip r:embed="rId5"/>
          <a:srcRect l="-204" r="-204"/>
          <a:stretch/>
        </p:blipFill>
        <p:spPr>
          <a:xfrm>
            <a:off x="5105095" y="1657807"/>
            <a:ext cx="2190902" cy="75895"/>
          </a:xfrm>
          <a:prstGeom prst="rect">
            <a:avLst/>
          </a:prstGeom>
        </p:spPr>
      </p:pic>
      <p:pic>
        <p:nvPicPr>
          <p:cNvPr id="10" name="Image 3" descr="gen-dedup-70637e9a6da9bdbb41e7ca094833bdff.png"/>
          <p:cNvPicPr>
            <a:picLocks noChangeAspect="1"/>
          </p:cNvPicPr>
          <p:nvPr/>
        </p:nvPicPr>
        <p:blipFill>
          <a:blip r:embed="rId6"/>
          <a:srcRect l="-204" r="-204"/>
          <a:stretch/>
        </p:blipFill>
        <p:spPr>
          <a:xfrm>
            <a:off x="7391095" y="1657807"/>
            <a:ext cx="2190902" cy="75895"/>
          </a:xfrm>
          <a:prstGeom prst="rect">
            <a:avLst/>
          </a:prstGeom>
        </p:spPr>
      </p:pic>
      <p:pic>
        <p:nvPicPr>
          <p:cNvPr id="11" name="Image 4" descr="gen-dedup-fa5307b5b8e51db5d325bef1796469df.png"/>
          <p:cNvPicPr>
            <a:picLocks noChangeAspect="1"/>
          </p:cNvPicPr>
          <p:nvPr/>
        </p:nvPicPr>
        <p:blipFill>
          <a:blip r:embed="rId7"/>
          <a:srcRect l="-212" r="-212"/>
          <a:stretch/>
        </p:blipFill>
        <p:spPr>
          <a:xfrm>
            <a:off x="9677095" y="1657807"/>
            <a:ext cx="2000707" cy="758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33095" y="41879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➤ WAY FORWARD · H2 2026</a:t>
            </a:r>
          </a:p>
        </p:txBody>
      </p:sp>
      <p:sp>
        <p:nvSpPr>
          <p:cNvPr id="13" name="Shape 6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E1A6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pillars for H2 scale-up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moves on format mix, city allocation, day-parting, SKU discipline &amp; measurement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705002" y="1867205"/>
            <a:ext cx="18480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700" dirty="0"/>
          </a:p>
        </p:txBody>
      </p:sp>
      <p:sp>
        <p:nvSpPr>
          <p:cNvPr id="17" name="Text 10"/>
          <p:cNvSpPr txBox="1"/>
          <p:nvPr/>
        </p:nvSpPr>
        <p:spPr>
          <a:xfrm>
            <a:off x="705002" y="2266798"/>
            <a:ext cx="1848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Rebalance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705002" y="276240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705002" y="343357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705002" y="4784141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705002" y="2943454"/>
            <a:ext cx="1581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SILB / Browse / SB share from ~65% today to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1367028" y="3113532"/>
            <a:ext cx="9052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by Dec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1967789" y="3113532"/>
            <a:ext cx="475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705002" y="3615538"/>
            <a:ext cx="16669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Extend April format shift to Blinkit + Zepto Curd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705002" y="3954780"/>
            <a:ext cx="1677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Scale Swiggy Browse Boost (₹48K → ₹1.5L)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705002" y="4294022"/>
            <a:ext cx="16386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Retain SP only for branded &amp; deep-funnel intent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705002" y="4965192"/>
            <a:ext cx="14063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+0.6x lift on blended ROAS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2991002" y="1867205"/>
            <a:ext cx="18480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700" dirty="0"/>
          </a:p>
        </p:txBody>
      </p:sp>
      <p:sp>
        <p:nvSpPr>
          <p:cNvPr id="29" name="Text 22"/>
          <p:cNvSpPr txBox="1"/>
          <p:nvPr/>
        </p:nvSpPr>
        <p:spPr>
          <a:xfrm>
            <a:off x="2991002" y="2266798"/>
            <a:ext cx="1848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Re-allocation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2991002" y="276240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2991002" y="343357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2991002" y="461406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2991002" y="2943454"/>
            <a:ext cx="1828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next rupee to its most efficient city.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2991002" y="3614623"/>
            <a:ext cx="13834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Bengaluru Zepto spend: </a:t>
            </a: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2991002" y="3784702"/>
            <a:ext cx="1810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Chennai (9.1x ROI): scale from ₹0.6L → ₹2L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2991002" y="4123944"/>
            <a:ext cx="1686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Extend Paneer‑Hyderabad model on Swiggy to Bangalore + Chennai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2991002" y="4795114"/>
            <a:ext cx="13331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ACOS 20% → </a:t>
            </a: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00" dirty="0"/>
          </a:p>
        </p:txBody>
      </p:sp>
      <p:sp>
        <p:nvSpPr>
          <p:cNvPr id="40" name="Text 33"/>
          <p:cNvSpPr txBox="1"/>
          <p:nvPr/>
        </p:nvSpPr>
        <p:spPr>
          <a:xfrm>
            <a:off x="5277002" y="1867205"/>
            <a:ext cx="18480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700" dirty="0"/>
          </a:p>
        </p:txBody>
      </p:sp>
      <p:sp>
        <p:nvSpPr>
          <p:cNvPr id="41" name="Text 34"/>
          <p:cNvSpPr txBox="1"/>
          <p:nvPr/>
        </p:nvSpPr>
        <p:spPr>
          <a:xfrm>
            <a:off x="5277002" y="2266798"/>
            <a:ext cx="1848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Day-part Rollout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5277002" y="276240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5277002" y="343357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5277002" y="4784141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5277002" y="2943454"/>
            <a:ext cx="15718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May's "sweet hours" playbook cross‑platform.</a:t>
            </a:r>
            <a:endParaRPr lang="en-US" sz="800" dirty="0"/>
          </a:p>
        </p:txBody>
      </p:sp>
      <p:sp>
        <p:nvSpPr>
          <p:cNvPr id="46" name="Text 39"/>
          <p:cNvSpPr txBox="1"/>
          <p:nvPr/>
        </p:nvSpPr>
        <p:spPr>
          <a:xfrm>
            <a:off x="5267670" y="3672583"/>
            <a:ext cx="1724559" cy="216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Deploy 6–11 AM slot on </a:t>
            </a:r>
            <a:r>
              <a:rPr lang="en-US" sz="80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</a:p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Milk/Paneer/Curd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5277002" y="3954780"/>
            <a:ext cx="17053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Build second slot for Ghee (weekend cook prep)</a:t>
            </a:r>
            <a:endParaRPr lang="en-US" sz="800" dirty="0"/>
          </a:p>
        </p:txBody>
      </p:sp>
      <p:sp>
        <p:nvSpPr>
          <p:cNvPr id="50" name="Text 43"/>
          <p:cNvSpPr txBox="1"/>
          <p:nvPr/>
        </p:nvSpPr>
        <p:spPr>
          <a:xfrm>
            <a:off x="5277002" y="4294022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Split every category into AM/PM sub‑campaigns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5277002" y="4965192"/>
            <a:ext cx="1571854" cy="194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Blinkit MoM: </a:t>
            </a: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</a:t>
            </a: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Aug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7563002" y="1867205"/>
            <a:ext cx="18480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700" dirty="0"/>
          </a:p>
        </p:txBody>
      </p:sp>
      <p:sp>
        <p:nvSpPr>
          <p:cNvPr id="55" name="Text 48"/>
          <p:cNvSpPr txBox="1"/>
          <p:nvPr/>
        </p:nvSpPr>
        <p:spPr>
          <a:xfrm>
            <a:off x="7563002" y="2266798"/>
            <a:ext cx="1848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Discipline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7563002" y="276240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7563002" y="343357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7563002" y="4614062"/>
            <a:ext cx="18480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59" name="Text 52"/>
          <p:cNvSpPr txBox="1"/>
          <p:nvPr/>
        </p:nvSpPr>
        <p:spPr>
          <a:xfrm>
            <a:off x="7563002" y="2943454"/>
            <a:ext cx="1810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SKU tiering framework across all 3 platforms.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7563002" y="3614623"/>
            <a:ext cx="768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61" name="Text 54"/>
          <p:cNvSpPr txBox="1"/>
          <p:nvPr/>
        </p:nvSpPr>
        <p:spPr>
          <a:xfrm>
            <a:off x="7637068" y="3567969"/>
            <a:ext cx="1803197" cy="330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A-tier </a:t>
            </a: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20% by GMV): ROAS floor 5x, </a:t>
            </a:r>
          </a:p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at all costs</a:t>
            </a:r>
            <a:endParaRPr lang="en-US" sz="800" dirty="0"/>
          </a:p>
        </p:txBody>
      </p:sp>
      <p:sp>
        <p:nvSpPr>
          <p:cNvPr id="63" name="Text 56"/>
          <p:cNvSpPr txBox="1"/>
          <p:nvPr/>
        </p:nvSpPr>
        <p:spPr>
          <a:xfrm>
            <a:off x="7563002" y="3954780"/>
            <a:ext cx="768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64" name="Text 57"/>
          <p:cNvSpPr txBox="1"/>
          <p:nvPr/>
        </p:nvSpPr>
        <p:spPr>
          <a:xfrm>
            <a:off x="7637068" y="3917456"/>
            <a:ext cx="1773935" cy="190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B-tier </a:t>
            </a: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efficiency-testing zone, day-parted</a:t>
            </a:r>
            <a:endParaRPr lang="en-US" sz="800" dirty="0"/>
          </a:p>
        </p:txBody>
      </p:sp>
      <p:sp>
        <p:nvSpPr>
          <p:cNvPr id="66" name="Text 59"/>
          <p:cNvSpPr txBox="1"/>
          <p:nvPr/>
        </p:nvSpPr>
        <p:spPr>
          <a:xfrm>
            <a:off x="7563002" y="4294022"/>
            <a:ext cx="768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67" name="Text 60"/>
          <p:cNvSpPr txBox="1"/>
          <p:nvPr/>
        </p:nvSpPr>
        <p:spPr>
          <a:xfrm>
            <a:off x="7637069" y="4294022"/>
            <a:ext cx="4251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C-tier</a:t>
            </a:r>
            <a:endParaRPr lang="en-US" sz="800" dirty="0"/>
          </a:p>
        </p:txBody>
      </p:sp>
      <p:sp>
        <p:nvSpPr>
          <p:cNvPr id="68" name="Text 61"/>
          <p:cNvSpPr txBox="1"/>
          <p:nvPr/>
        </p:nvSpPr>
        <p:spPr>
          <a:xfrm>
            <a:off x="7886700" y="4294022"/>
            <a:ext cx="18141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harvest visibility, no paid support</a:t>
            </a:r>
            <a:endParaRPr lang="en-US" sz="800" dirty="0"/>
          </a:p>
        </p:txBody>
      </p:sp>
      <p:sp>
        <p:nvSpPr>
          <p:cNvPr id="69" name="Text 62"/>
          <p:cNvSpPr txBox="1"/>
          <p:nvPr/>
        </p:nvSpPr>
        <p:spPr>
          <a:xfrm>
            <a:off x="7563002" y="4796028"/>
            <a:ext cx="21881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8–10% of spend for reinvestment</a:t>
            </a:r>
            <a:endParaRPr lang="en-US" sz="800" dirty="0"/>
          </a:p>
        </p:txBody>
      </p:sp>
      <p:sp>
        <p:nvSpPr>
          <p:cNvPr id="70" name="Text 63"/>
          <p:cNvSpPr txBox="1"/>
          <p:nvPr/>
        </p:nvSpPr>
        <p:spPr>
          <a:xfrm>
            <a:off x="9829800" y="1867205"/>
            <a:ext cx="1714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700" dirty="0"/>
          </a:p>
        </p:txBody>
      </p:sp>
      <p:sp>
        <p:nvSpPr>
          <p:cNvPr id="71" name="Text 64"/>
          <p:cNvSpPr txBox="1"/>
          <p:nvPr/>
        </p:nvSpPr>
        <p:spPr>
          <a:xfrm>
            <a:off x="9829800" y="2266798"/>
            <a:ext cx="1714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Uplift</a:t>
            </a:r>
            <a:endParaRPr lang="en-US" sz="1200" dirty="0"/>
          </a:p>
        </p:txBody>
      </p:sp>
      <p:sp>
        <p:nvSpPr>
          <p:cNvPr id="72" name="Text 65"/>
          <p:cNvSpPr txBox="1"/>
          <p:nvPr/>
        </p:nvSpPr>
        <p:spPr>
          <a:xfrm>
            <a:off x="9829800" y="27624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73" name="Text 66"/>
          <p:cNvSpPr txBox="1"/>
          <p:nvPr/>
        </p:nvSpPr>
        <p:spPr>
          <a:xfrm>
            <a:off x="9829800" y="3263494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800" dirty="0"/>
          </a:p>
        </p:txBody>
      </p:sp>
      <p:sp>
        <p:nvSpPr>
          <p:cNvPr id="74" name="Text 67"/>
          <p:cNvSpPr txBox="1"/>
          <p:nvPr/>
        </p:nvSpPr>
        <p:spPr>
          <a:xfrm>
            <a:off x="9829800" y="461406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75" name="Text 68"/>
          <p:cNvSpPr txBox="1"/>
          <p:nvPr/>
        </p:nvSpPr>
        <p:spPr>
          <a:xfrm>
            <a:off x="9829800" y="2943454"/>
            <a:ext cx="11905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 loops.</a:t>
            </a:r>
            <a:endParaRPr lang="en-US" sz="800" dirty="0"/>
          </a:p>
        </p:txBody>
      </p:sp>
      <p:sp>
        <p:nvSpPr>
          <p:cNvPr id="76" name="Text 69"/>
          <p:cNvSpPr txBox="1"/>
          <p:nvPr/>
        </p:nvSpPr>
        <p:spPr>
          <a:xfrm>
            <a:off x="9829800" y="3445459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Weekly ROAS+ACOS scorecard per platform</a:t>
            </a:r>
            <a:endParaRPr lang="en-US" sz="800" dirty="0"/>
          </a:p>
        </p:txBody>
      </p:sp>
      <p:sp>
        <p:nvSpPr>
          <p:cNvPr id="77" name="Text 70"/>
          <p:cNvSpPr txBox="1"/>
          <p:nvPr/>
        </p:nvSpPr>
        <p:spPr>
          <a:xfrm>
            <a:off x="9829800" y="3784702"/>
            <a:ext cx="14767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Clean AM/PM tagging for every campaign</a:t>
            </a:r>
            <a:endParaRPr lang="en-US" sz="800" dirty="0"/>
          </a:p>
        </p:txBody>
      </p:sp>
      <p:sp>
        <p:nvSpPr>
          <p:cNvPr id="78" name="Text 71"/>
          <p:cNvSpPr txBox="1"/>
          <p:nvPr/>
        </p:nvSpPr>
        <p:spPr>
          <a:xfrm>
            <a:off x="9829800" y="4123944"/>
            <a:ext cx="199522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Standardize ACOS calc across sheets</a:t>
            </a:r>
            <a:endParaRPr lang="en-US" sz="800" dirty="0"/>
          </a:p>
        </p:txBody>
      </p:sp>
      <p:sp>
        <p:nvSpPr>
          <p:cNvPr id="79" name="Text 72"/>
          <p:cNvSpPr txBox="1"/>
          <p:nvPr/>
        </p:nvSpPr>
        <p:spPr>
          <a:xfrm>
            <a:off x="9829800" y="4294022"/>
            <a:ext cx="20409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Add NTB % tracking on Swiggy/Zepto</a:t>
            </a:r>
            <a:endParaRPr lang="en-US" sz="800" dirty="0"/>
          </a:p>
        </p:txBody>
      </p:sp>
      <p:sp>
        <p:nvSpPr>
          <p:cNvPr id="80" name="Text 73"/>
          <p:cNvSpPr txBox="1"/>
          <p:nvPr/>
        </p:nvSpPr>
        <p:spPr>
          <a:xfrm>
            <a:off x="9829800" y="4795114"/>
            <a:ext cx="1677924" cy="284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cycles: monthly → </a:t>
            </a: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82" name="Text 75"/>
          <p:cNvSpPr txBox="1"/>
          <p:nvPr/>
        </p:nvSpPr>
        <p:spPr>
          <a:xfrm>
            <a:off x="533095" y="6629400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directional H2 goals framed from H1 signal · to be re-baselined at end of July after first month of execution.</a:t>
            </a:r>
            <a:endParaRPr lang="en-US" sz="800" dirty="0"/>
          </a:p>
        </p:txBody>
      </p:sp>
      <p:sp>
        <p:nvSpPr>
          <p:cNvPr id="83" name="Text 76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PILLARS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095" y="41879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▸ OPERATIONAL ROADMAP</a:t>
            </a:r>
          </a:p>
        </p:txBody>
      </p:sp>
      <p:sp>
        <p:nvSpPr>
          <p:cNvPr id="3" name="Shape 1"/>
          <p:cNvSpPr/>
          <p:nvPr/>
        </p:nvSpPr>
        <p:spPr>
          <a:xfrm>
            <a:off x="9944100" y="381305"/>
            <a:ext cx="1772107" cy="286207"/>
          </a:xfrm>
          <a:prstGeom prst="roundRect">
            <a:avLst>
              <a:gd name="adj" fmla="val 6709"/>
            </a:avLst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705002"/>
            <a:ext cx="10478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H2 Tactical Roadmap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12380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execution plan — the five pillars translated into calendar‑anchored actions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457958"/>
              </p:ext>
            </p:extLst>
          </p:nvPr>
        </p:nvGraphicFramePr>
        <p:xfrm>
          <a:off x="533095" y="1619402"/>
          <a:ext cx="11144707" cy="3877564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9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EXECUTION ACTIONS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ROAS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GMV (Cr)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7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&amp; Fix Blinkit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out 6–11 AM day-parting on Blinkit · Cap Paneer generic bids · Weekly ROAS scorecard live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₹8.6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Rebalance - Zepto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 Bengaluru spend · scale Chennai to ₹1.5L · A-tier SKU floors enforced across platforms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₹9.0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Paneer Expansion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HYD Paneer playbook to New cities · Scale Browse Boost from ₹48K → ₹1.5L · Onam / Ganesh push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₹9.5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Festive Peak - Diwali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Ghee-led hero-SKU push (Diwali) · Curd combo bundles · Homepage banner buy on Blinkit + Zepto · SB matched to festive KWs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₹11.2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Post-festive Retention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Retargeting to acquired NTB (Blinkit 10.3K + platform equivalents) · Winter Badam/Buttermilk saliency slot · C-tier SKU harvest live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₹10.5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E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'26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Year-End Consolidation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Full-portfolio Curd + Paneer defense · New-year buying prep · H1'27 baseline scorecard · learnings archive to brand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8FA5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5.70x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₹11.0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TOTAL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view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8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ROAS trajectory 4.88x → 5.70x · efficiency gain +17%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E1A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5.30x avg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38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₹59.8 Cr</a:t>
                      </a:r>
                      <a:endParaRPr lang="en-US" sz="93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3095" y="6536092"/>
            <a:ext cx="11125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built off H1 run-rate + planned optimization impact. GMV extrapolated from June '26 baseline plus seasonality &amp; efficiency uplift · to be re-forecast after Aug close.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44100" y="381305"/>
            <a:ext cx="17721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 → DEC '26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1080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0805" y="0"/>
            <a:ext cx="4381805" cy="6858000"/>
          </a:xfrm>
          <a:prstGeom prst="rect">
            <a:avLst/>
          </a:prstGeom>
          <a:solidFill>
            <a:srgbClr val="5775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3095" y="1695298"/>
            <a:ext cx="7067398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3095" y="2876702"/>
            <a:ext cx="7067398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3095" y="4058107"/>
            <a:ext cx="7067398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095" y="5238598"/>
            <a:ext cx="7067398" cy="1104595"/>
          </a:xfrm>
          <a:prstGeom prst="roundRect">
            <a:avLst>
              <a:gd name="adj" fmla="val 687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en-dedup-508f993dc1c38bb7208cba9b4526e2d2.png"/>
          <p:cNvPicPr>
            <a:picLocks noChangeAspect="1"/>
          </p:cNvPicPr>
          <p:nvPr/>
        </p:nvPicPr>
        <p:blipFill>
          <a:blip r:embed="rId3"/>
          <a:srcRect l="-379" r="-379"/>
          <a:stretch/>
        </p:blipFill>
        <p:spPr>
          <a:xfrm>
            <a:off x="533095" y="1695298"/>
            <a:ext cx="57607" cy="1086307"/>
          </a:xfrm>
          <a:prstGeom prst="rect">
            <a:avLst/>
          </a:prstGeom>
        </p:spPr>
      </p:pic>
      <p:pic>
        <p:nvPicPr>
          <p:cNvPr id="9" name="Image 1" descr="gen-dedup-8c1940dd65f45f8a70f04819ae5dbf26.png"/>
          <p:cNvPicPr>
            <a:picLocks noChangeAspect="1"/>
          </p:cNvPicPr>
          <p:nvPr/>
        </p:nvPicPr>
        <p:blipFill>
          <a:blip r:embed="rId4"/>
          <a:srcRect l="-379" r="-379"/>
          <a:stretch/>
        </p:blipFill>
        <p:spPr>
          <a:xfrm>
            <a:off x="533095" y="2876702"/>
            <a:ext cx="57607" cy="1086307"/>
          </a:xfrm>
          <a:prstGeom prst="rect">
            <a:avLst/>
          </a:prstGeom>
        </p:spPr>
      </p:pic>
      <p:pic>
        <p:nvPicPr>
          <p:cNvPr id="10" name="Image 2" descr="gen-dedup-66d6529434fabe0d1dc9bc2453225d01.png"/>
          <p:cNvPicPr>
            <a:picLocks noChangeAspect="1"/>
          </p:cNvPicPr>
          <p:nvPr/>
        </p:nvPicPr>
        <p:blipFill>
          <a:blip r:embed="rId5"/>
          <a:srcRect l="-379" r="-379"/>
          <a:stretch/>
        </p:blipFill>
        <p:spPr>
          <a:xfrm>
            <a:off x="533095" y="4058107"/>
            <a:ext cx="57607" cy="1086307"/>
          </a:xfrm>
          <a:prstGeom prst="rect">
            <a:avLst/>
          </a:prstGeom>
        </p:spPr>
      </p:pic>
      <p:pic>
        <p:nvPicPr>
          <p:cNvPr id="11" name="Image 3" descr="gen-dedup-efb18cf823f5be0c1cc3e8097d5d9be2.png"/>
          <p:cNvPicPr>
            <a:picLocks noChangeAspect="1"/>
          </p:cNvPicPr>
          <p:nvPr/>
        </p:nvPicPr>
        <p:blipFill>
          <a:blip r:embed="rId6"/>
          <a:srcRect l="-379" r="-379"/>
          <a:stretch/>
        </p:blipFill>
        <p:spPr>
          <a:xfrm>
            <a:off x="533095" y="5238598"/>
            <a:ext cx="57607" cy="1086307"/>
          </a:xfrm>
          <a:prstGeom prst="rect">
            <a:avLst/>
          </a:prstGeom>
        </p:spPr>
      </p:pic>
      <p:pic>
        <p:nvPicPr>
          <p:cNvPr id="12" name="Image 4" descr="gen-dedup-1925305ac5be30b6f92e923e8b92b365.png"/>
          <p:cNvPicPr>
            <a:picLocks noChangeAspect="1"/>
          </p:cNvPicPr>
          <p:nvPr/>
        </p:nvPicPr>
        <p:blipFill>
          <a:blip r:embed="rId7"/>
          <a:srcRect l="-2089" r="-2089"/>
          <a:stretch/>
        </p:blipFill>
        <p:spPr>
          <a:xfrm>
            <a:off x="8096098" y="2476195"/>
            <a:ext cx="3810305" cy="91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33095" y="41879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9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■ ASK FROM BRAND · SUPPORT NEEDED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533095" y="761695"/>
            <a:ext cx="71442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execute H2, we need four things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533095" y="1295705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from Godrej Jersey brand team to unlock the full growth plan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780898" y="1867205"/>
            <a:ext cx="1714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E1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01</a:t>
            </a:r>
            <a:endParaRPr lang="en-US" sz="800" dirty="0"/>
          </a:p>
        </p:txBody>
      </p:sp>
      <p:sp>
        <p:nvSpPr>
          <p:cNvPr id="17" name="Text 10"/>
          <p:cNvSpPr txBox="1"/>
          <p:nvPr/>
        </p:nvSpPr>
        <p:spPr>
          <a:xfrm>
            <a:off x="780898" y="2164702"/>
            <a:ext cx="1714500" cy="464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flexibility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2704795" y="1904695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~₹8–10 L monthly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platforms &amp; cities without SKU-locked splits - allows Chennai scale-up, Bengaluru pullback/cap, and Swiggy Paneer expansion. Total budget envelope unchanged.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780898" y="3047695"/>
            <a:ext cx="1714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8FA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02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780898" y="3312367"/>
            <a:ext cx="1714500" cy="497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refresh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2704795" y="3086100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+ Ghee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hero creatives are the same since long - festive season needs fresh visuals, especially for Diwali homepage banners.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creatives/category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mid-Aug (5 categories = 10 assets).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80898" y="4229100"/>
            <a:ext cx="1714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57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03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780898" y="4553339"/>
            <a:ext cx="1714500" cy="437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fill-rate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2704795" y="4267505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+ Curd hero SKUs need </a:t>
            </a: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fill rate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top cities to support Swiggy expansion. Current OOS incidents in metro dark stores waste high-ROI ad clicks - align with supply team.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80898" y="5410505"/>
            <a:ext cx="1714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04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780898" y="5728996"/>
            <a:ext cx="1714500" cy="443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parity view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2704795" y="5447995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pricing benchmark vs Amul, Heritage, Nandini - high-ACOS moments on Curd correlate with competitor discount events.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8096098" y="666598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5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NOTE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8096098" y="952805"/>
            <a:ext cx="3810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reading the numbers,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</a:t>
            </a:r>
            <a:r>
              <a:rPr lang="en-US" sz="2400" b="1" dirty="0">
                <a:solidFill>
                  <a:srgbClr val="F4C97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shaping them.</a:t>
            </a:r>
            <a:endParaRPr lang="en-US" sz="2400" dirty="0"/>
          </a:p>
        </p:txBody>
      </p:sp>
      <p:sp>
        <p:nvSpPr>
          <p:cNvPr id="30" name="Text 23"/>
          <p:cNvSpPr txBox="1"/>
          <p:nvPr/>
        </p:nvSpPr>
        <p:spPr>
          <a:xfrm>
            <a:off x="8096098" y="292150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₹59.8 Cr </a:t>
            </a:r>
            <a:r>
              <a:rPr lang="en-US" sz="9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GMV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8096098" y="3245206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5.30x </a:t>
            </a:r>
            <a:r>
              <a:rPr lang="en-US" sz="9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096098" y="3568903"/>
            <a:ext cx="44961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ppt </a:t>
            </a:r>
            <a:r>
              <a:rPr lang="en-US" sz="900" b="1" dirty="0">
                <a:solidFill>
                  <a:srgbClr val="F4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ACOS improvement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8096098" y="2704795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NORTH STAR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8096098" y="4045306"/>
            <a:ext cx="3810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H2 lever is a repeat of a proven H1 signal - nothing untested. The ask is </a:t>
            </a: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support.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8096098" y="6096305"/>
            <a:ext cx="3810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9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 WELCOME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kern="0" spc="9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June '26 platform reports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3686</Words>
  <Application>Microsoft Office PowerPoint</Application>
  <PresentationFormat>Widescreen</PresentationFormat>
  <Paragraphs>705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Kamal Malav</cp:lastModifiedBy>
  <cp:revision>40</cp:revision>
  <dcterms:created xsi:type="dcterms:W3CDTF">2026-07-03T13:09:02Z</dcterms:created>
  <dcterms:modified xsi:type="dcterms:W3CDTF">2026-07-07T06:26:29Z</dcterms:modified>
</cp:coreProperties>
</file>