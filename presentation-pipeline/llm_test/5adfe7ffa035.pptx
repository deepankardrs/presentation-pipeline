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2.xml" ContentType="application/vnd.openxmlformats-officedocument.presentationml.slide+xml"/>
  <Override PartName="/ppt/embeddings/Microsoft_Excel_Worksheet1.xlsx" ContentType="application/vnd.openxmlformats-officedocument.spreadsheetml.sheet"/>
  <Override PartName="/ppt/charts/chart1.xml" ContentType="application/vnd.openxmlformats-officedocument.drawingml.chart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</p:defaultTextStyle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Occasion %</c:v>
                </c:pt>
              </c:strCache>
            </c:strRef>
          </c:tx>
          <c:spPr>
            <a:solidFill>
              <a:srgbClr val="2563EB"/>
            </a:solidFill>
            <a:ln>
              <a:solidFill>
                <a:srgbClr val="2563EB"/>
              </a:solidFill>
            </a:ln>
          </c:spPr>
          <c:dPt>
            <c:idx val="0"/>
            <c:spPr>
              <a:solidFill>
                <a:srgbClr val="2563EB"/>
              </a:solidFill>
            </c:spPr>
          </c:dPt>
          <c:dPt>
            <c:idx val="1"/>
            <c:spPr>
              <a:solidFill>
                <a:srgbClr val="0EA5E9"/>
              </a:solidFill>
            </c:spPr>
          </c:dPt>
          <c:dPt>
            <c:idx val="2"/>
            <c:spPr>
              <a:solidFill>
                <a:srgbClr val="10B981"/>
              </a:solidFill>
            </c:spPr>
          </c:dPt>
          <c:dPt>
            <c:idx val="3"/>
            <c:spPr>
              <a:solidFill>
                <a:srgbClr val="F59E0B"/>
              </a:solidFill>
            </c:spPr>
          </c:dPt>
          <c:dPt>
            <c:idx val="4"/>
            <c:spPr>
              <a:solidFill>
                <a:srgbClr val="EF4444"/>
              </a:solidFill>
            </c:spPr>
          </c:dPt>
          <c:dPt>
            <c:idx val="5"/>
            <c:spPr>
              <a:solidFill>
                <a:srgbClr val="8B5CF6"/>
              </a:solidFill>
            </c:spPr>
          </c:dPt>
          <c:cat>
            <c:strRef>
              <c:f>Sheet1!$A$2:$A$7</c:f>
              <c:strCache>
                <c:ptCount val="6"/>
                <c:pt idx="0">
                  <c:v>Pre-workout</c:v>
                </c:pt>
                <c:pt idx="1">
                  <c:v>Gaming</c:v>
                </c:pt>
                <c:pt idx="2">
                  <c:v>Late-night work/study</c:v>
                </c:pt>
                <c:pt idx="3">
                  <c:v>Travel/commuting</c:v>
                </c:pt>
                <c:pt idx="4">
                  <c:v>Parties/social</c:v>
                </c:pt>
                <c:pt idx="5">
                  <c:v>Instant energy needs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</c:v>
                </c:pt>
                <c:pt idx="1">
                  <c:v>18</c:v>
                </c:pt>
                <c:pt idx="2">
                  <c:v>16</c:v>
                </c:pt>
                <c:pt idx="3">
                  <c:v>14</c:v>
                </c:pt>
                <c:pt idx="4">
                  <c:v>12</c:v>
                </c:pt>
                <c:pt idx="5">
                  <c:v>18</c:v>
                </c:pt>
              </c:numCache>
            </c:numRef>
          </c:val>
        </c:ser>
        <c:axId val="100002"/>
        <c:axId val="100003"/>
      </c:barChart>
      <c:catAx>
        <c:axId val="10000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00003"/>
        <c:crosses val="autoZero"/>
        <c:auto val="1"/>
        <c:lblAlgn val="ctr"/>
        <c:lblOffset val="100"/>
        <c:noMultiLvlLbl val="1"/>
      </c:catAx>
      <c:valAx>
        <c:axId val="100003"/>
        <c:scaling>
          <c:orientation val="minMax"/>
        </c:scaling>
        <c:delete val="0"/>
        <c:axPos val="l"/>
        <c:majorGridlines>
          <c:spPr>
            <a:ln w="12700">
              <a:solidFill>
                <a:srgbClr val="888888"/>
              </a:solidFill>
            </a:ln>
          </c:spPr>
        </c:majorGridlines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00002"/>
        <c:crosses val="autoZero"/>
        <c:crossBetween val="between"/>
      </c:valAx>
      <c:spPr>
        <a:noFill/>
        <a:ln>
          <a:noFill/>
        </a:ln>
      </c:spPr>
    </c:plotArea>
    <c:plotVisOnly val="1"/>
    <c:dispBlanksAs val="span"/>
    <c:showDLblsOverMax val="0"/>
  </c:chart>
  <c:spPr>
    <a:noFill/>
    <a:ln>
      <a:noFill/>
    </a:ln>
  </c:sp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OM_LAYOUT"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OM_MASTER"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 1"/>
          <p:cNvSpPr txBox="1"/>
          <p:nvPr/>
        </p:nvSpPr>
        <p:spPr>
          <a:xfrm>
            <a:off x="1619250" y="488271"/>
            <a:ext cx="89535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 marL="0" indent="0">
              <a:lnSpc>
                <a:spcPts val="2567"/>
              </a:lnSpc>
              <a:buNone/>
            </a:pPr>
            <a:r>
              <a:rPr b="1" sz="21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Unlocking the Next Phase of Growth for XTSY on Quick Commerce</a:t>
            </a:r>
            <a:endParaRPr/>
          </a:p>
        </p:txBody>
      </p:sp>
      <p:sp>
        <p:nvSpPr>
          <p:cNvPr id="2" name="Shape 1"/>
          <p:cNvSpPr/>
          <p:nvPr/>
        </p:nvSpPr>
        <p:spPr>
          <a:xfrm>
            <a:off x="257175" y="1209675"/>
            <a:ext cx="4371975" cy="2647950"/>
          </a:xfrm>
          <a:prstGeom prst="roundRect">
            <a:avLst>
              <a:gd name="adj" fmla="val 5036"/>
            </a:avLst>
          </a:prstGeom>
          <a:solidFill>
            <a:srgbClr val="EEF2FD"/>
          </a:solidFill>
          <a:ln>
            <a:noFill/>
          </a:ln>
        </p:spPr>
      </p:sp>
      <p:sp>
        <p:nvSpPr>
          <p:cNvPr id="3" name="Shape 2"/>
          <p:cNvSpPr/>
          <p:nvPr/>
        </p:nvSpPr>
        <p:spPr>
          <a:xfrm>
            <a:off x="257175" y="1209675"/>
            <a:ext cx="4371975" cy="2647950"/>
          </a:xfrm>
          <a:custGeom>
            <a:avLst/>
            <a:gdLst/>
            <a:ahLst/>
            <a:cxnLst/>
            <a:rect l="l" t="t" r="r" b="b"/>
            <a:pathLst>
              <a:path w="4371975" h="2647950">
                <a:moveTo>
                  <a:pt x="133350" y="2624138"/>
                </a:moveTo>
                <a:lnTo>
                  <a:pt x="111980" y="2622033"/>
                </a:lnTo>
                <a:lnTo>
                  <a:pt x="91432" y="2615799"/>
                </a:lnTo>
                <a:lnTo>
                  <a:pt x="72494" y="2605677"/>
                </a:lnTo>
                <a:lnTo>
                  <a:pt x="55895" y="2592055"/>
                </a:lnTo>
                <a:lnTo>
                  <a:pt x="42273" y="2575456"/>
                </a:lnTo>
                <a:lnTo>
                  <a:pt x="32151" y="2556518"/>
                </a:lnTo>
                <a:lnTo>
                  <a:pt x="25917" y="2535970"/>
                </a:lnTo>
                <a:lnTo>
                  <a:pt x="23813" y="2514600"/>
                </a:lnTo>
                <a:lnTo>
                  <a:pt x="23813" y="133350"/>
                </a:lnTo>
                <a:lnTo>
                  <a:pt x="25917" y="111980"/>
                </a:lnTo>
                <a:lnTo>
                  <a:pt x="32151" y="91432"/>
                </a:lnTo>
                <a:lnTo>
                  <a:pt x="42273" y="72494"/>
                </a:lnTo>
                <a:lnTo>
                  <a:pt x="55895" y="55895"/>
                </a:lnTo>
                <a:lnTo>
                  <a:pt x="72494" y="42273"/>
                </a:lnTo>
                <a:lnTo>
                  <a:pt x="91432" y="32151"/>
                </a:lnTo>
                <a:lnTo>
                  <a:pt x="111980" y="25917"/>
                </a:lnTo>
                <a:lnTo>
                  <a:pt x="133350" y="23813"/>
                </a:lnTo>
              </a:path>
            </a:pathLst>
          </a:custGeom>
          <a:noFill/>
          <a:ln w="47625">
            <a:solidFill>
              <a:srgbClr val="2563EB"/>
            </a:solidFill>
          </a:ln>
        </p:spPr>
      </p:sp>
      <p:sp>
        <p:nvSpPr>
          <p:cNvPr id="4" name="Text 2"/>
          <p:cNvSpPr txBox="1"/>
          <p:nvPr/>
        </p:nvSpPr>
        <p:spPr>
          <a:xfrm>
            <a:off x="371475" y="2334997"/>
            <a:ext cx="4152900" cy="1047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780"/>
              </a:lnSpc>
              <a:buNone/>
            </a:pPr>
            <a:r>
              <a:rPr b="1" sz="600" spc="150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ECOSYSTEM SHIFT</a:t>
            </a:r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371475" y="2491207"/>
            <a:ext cx="41529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870"/>
              </a:lnSpc>
              <a:buNone/>
            </a:pPr>
            <a:r>
              <a:rPr sz="6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Quick Commerce platforms such as Zepto, Blinkit, and Instamart are now primary channels for impulse beverage consumption, with category sales growing over 35% YoY.</a:t>
            </a:r>
            <a:endParaRPr/>
          </a:p>
        </p:txBody>
      </p:sp>
      <p:sp>
        <p:nvSpPr>
          <p:cNvPr id="6" name="Shape 3"/>
          <p:cNvSpPr/>
          <p:nvPr/>
        </p:nvSpPr>
        <p:spPr>
          <a:xfrm>
            <a:off x="257175" y="3952875"/>
            <a:ext cx="4371975" cy="2638425"/>
          </a:xfrm>
          <a:prstGeom prst="roundRect">
            <a:avLst>
              <a:gd name="adj" fmla="val 5054"/>
            </a:avLst>
          </a:prstGeom>
          <a:solidFill>
            <a:srgbClr val="EEF2FD"/>
          </a:solidFill>
          <a:ln>
            <a:noFill/>
          </a:ln>
        </p:spPr>
      </p:sp>
      <p:sp>
        <p:nvSpPr>
          <p:cNvPr id="7" name="Shape 4"/>
          <p:cNvSpPr/>
          <p:nvPr/>
        </p:nvSpPr>
        <p:spPr>
          <a:xfrm>
            <a:off x="257175" y="3952875"/>
            <a:ext cx="4371975" cy="2638425"/>
          </a:xfrm>
          <a:custGeom>
            <a:avLst/>
            <a:gdLst/>
            <a:ahLst/>
            <a:cxnLst/>
            <a:rect l="l" t="t" r="r" b="b"/>
            <a:pathLst>
              <a:path w="4371975" h="2638425">
                <a:moveTo>
                  <a:pt x="133350" y="2614613"/>
                </a:moveTo>
                <a:lnTo>
                  <a:pt x="111980" y="2612508"/>
                </a:lnTo>
                <a:lnTo>
                  <a:pt x="91432" y="2606274"/>
                </a:lnTo>
                <a:lnTo>
                  <a:pt x="72494" y="2596152"/>
                </a:lnTo>
                <a:lnTo>
                  <a:pt x="55895" y="2582530"/>
                </a:lnTo>
                <a:lnTo>
                  <a:pt x="42273" y="2565931"/>
                </a:lnTo>
                <a:lnTo>
                  <a:pt x="32151" y="2546993"/>
                </a:lnTo>
                <a:lnTo>
                  <a:pt x="25917" y="2526445"/>
                </a:lnTo>
                <a:lnTo>
                  <a:pt x="23813" y="2505075"/>
                </a:lnTo>
                <a:lnTo>
                  <a:pt x="23813" y="133350"/>
                </a:lnTo>
                <a:lnTo>
                  <a:pt x="25917" y="111980"/>
                </a:lnTo>
                <a:lnTo>
                  <a:pt x="32151" y="91432"/>
                </a:lnTo>
                <a:lnTo>
                  <a:pt x="42273" y="72494"/>
                </a:lnTo>
                <a:lnTo>
                  <a:pt x="55895" y="55895"/>
                </a:lnTo>
                <a:lnTo>
                  <a:pt x="72494" y="42273"/>
                </a:lnTo>
                <a:lnTo>
                  <a:pt x="91432" y="32151"/>
                </a:lnTo>
                <a:lnTo>
                  <a:pt x="111980" y="25917"/>
                </a:lnTo>
                <a:lnTo>
                  <a:pt x="133350" y="23813"/>
                </a:lnTo>
              </a:path>
            </a:pathLst>
          </a:custGeom>
          <a:noFill/>
          <a:ln w="47625">
            <a:solidFill>
              <a:srgbClr val="2563EB"/>
            </a:solidFill>
          </a:ln>
        </p:spPr>
      </p:sp>
      <p:sp>
        <p:nvSpPr>
          <p:cNvPr id="8" name="Text 4"/>
          <p:cNvSpPr txBox="1"/>
          <p:nvPr/>
        </p:nvSpPr>
        <p:spPr>
          <a:xfrm>
            <a:off x="371475" y="5078197"/>
            <a:ext cx="4152900" cy="1047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780"/>
              </a:lnSpc>
              <a:buNone/>
            </a:pPr>
            <a:r>
              <a:rPr b="1" sz="600" spc="150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XTSY ADVANTAGE</a:t>
            </a:r>
            <a:endParaRPr/>
          </a:p>
        </p:txBody>
      </p:sp>
      <p:sp>
        <p:nvSpPr>
          <p:cNvPr id="9" name="Text 5"/>
          <p:cNvSpPr txBox="1"/>
          <p:nvPr/>
        </p:nvSpPr>
        <p:spPr>
          <a:xfrm>
            <a:off x="371475" y="5234407"/>
            <a:ext cx="4152900" cy="2381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870"/>
              </a:lnSpc>
              <a:buNone/>
            </a:pPr>
            <a:r>
              <a:rPr sz="6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XTSY is positioned to scale rapidly by leveraging platform integrations, data-driven execution, and a focus on visibility and consumer penetration.</a:t>
            </a:r>
            <a:endParaRPr/>
          </a:p>
        </p:txBody>
      </p:sp>
      <p:sp>
        <p:nvSpPr>
          <p:cNvPr id="10" name="Shape 5"/>
          <p:cNvSpPr/>
          <p:nvPr/>
        </p:nvSpPr>
        <p:spPr>
          <a:xfrm>
            <a:off x="7591425" y="1209675"/>
            <a:ext cx="1524000" cy="1524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1" name="Shape 6"/>
          <p:cNvSpPr/>
          <p:nvPr/>
        </p:nvSpPr>
        <p:spPr>
          <a:xfrm>
            <a:off x="7591425" y="1209675"/>
            <a:ext cx="1524000" cy="1524000"/>
          </a:xfrm>
          <a:prstGeom prst="ellipse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1268"/>
              </a:lnSpc>
            </a:pPr>
            <a:r>
              <a:rPr b="1" sz="975">
                <a:solidFill>
                  <a:srgbClr val="F7F9FC"/>
                </a:solidFill>
                <a:latin typeface="Noto Sans JP"/>
                <a:ea typeface="Noto Sans JP"/>
                <a:cs typeface="Noto Sans JP"/>
              </a:rPr>
              <a:t>XTSY</a:t>
            </a:r>
            <a:endParaRPr/>
          </a:p>
        </p:txBody>
      </p:sp>
      <p:sp>
        <p:nvSpPr>
          <p:cNvPr id="12" name="Shape 7"/>
          <p:cNvSpPr/>
          <p:nvPr/>
        </p:nvSpPr>
        <p:spPr>
          <a:xfrm>
            <a:off x="6886575" y="2733675"/>
            <a:ext cx="857250" cy="857250"/>
          </a:xfrm>
          <a:prstGeom prst="rect">
            <a:avLst/>
          </a:prstGeom>
          <a:solidFill>
            <a:srgbClr val="D1E6FF"/>
          </a:solidFill>
          <a:ln>
            <a:noFill/>
          </a:ln>
        </p:spPr>
      </p:sp>
      <p:sp>
        <p:nvSpPr>
          <p:cNvPr id="13" name="Shape 8"/>
          <p:cNvSpPr/>
          <p:nvPr/>
        </p:nvSpPr>
        <p:spPr>
          <a:xfrm>
            <a:off x="6886575" y="2733675"/>
            <a:ext cx="857250" cy="857250"/>
          </a:xfrm>
          <a:prstGeom prst="ellipse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975"/>
              </a:lnSpc>
            </a:pPr>
            <a:r>
              <a:rPr b="1" sz="7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Zepto</a:t>
            </a:r>
            <a:endParaRPr/>
          </a:p>
        </p:txBody>
      </p:sp>
      <p:sp>
        <p:nvSpPr>
          <p:cNvPr id="14" name="Shape 9"/>
          <p:cNvSpPr/>
          <p:nvPr/>
        </p:nvSpPr>
        <p:spPr>
          <a:xfrm>
            <a:off x="6886575" y="2733675"/>
            <a:ext cx="857250" cy="857250"/>
          </a:xfrm>
          <a:prstGeom prst="rect">
            <a:avLst/>
          </a:prstGeom>
          <a:solidFill>
            <a:srgbClr val="D1E6FF"/>
          </a:solidFill>
          <a:ln>
            <a:noFill/>
          </a:ln>
        </p:spPr>
      </p:sp>
      <p:sp>
        <p:nvSpPr>
          <p:cNvPr id="15" name="Shape 10"/>
          <p:cNvSpPr/>
          <p:nvPr/>
        </p:nvSpPr>
        <p:spPr>
          <a:xfrm>
            <a:off x="6886575" y="2733675"/>
            <a:ext cx="857250" cy="857250"/>
          </a:xfrm>
          <a:prstGeom prst="ellipse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975"/>
              </a:lnSpc>
            </a:pPr>
            <a:r>
              <a:rPr b="1" sz="7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Blinkit</a:t>
            </a:r>
            <a:endParaRPr/>
          </a:p>
        </p:txBody>
      </p:sp>
      <p:sp>
        <p:nvSpPr>
          <p:cNvPr id="16" name="Shape 11"/>
          <p:cNvSpPr/>
          <p:nvPr/>
        </p:nvSpPr>
        <p:spPr>
          <a:xfrm>
            <a:off x="6886575" y="2733675"/>
            <a:ext cx="857250" cy="857250"/>
          </a:xfrm>
          <a:prstGeom prst="rect">
            <a:avLst/>
          </a:prstGeom>
          <a:solidFill>
            <a:srgbClr val="D1E6FF"/>
          </a:solidFill>
          <a:ln>
            <a:noFill/>
          </a:ln>
        </p:spPr>
      </p:sp>
      <p:sp>
        <p:nvSpPr>
          <p:cNvPr id="17" name="Shape 12"/>
          <p:cNvSpPr/>
          <p:nvPr/>
        </p:nvSpPr>
        <p:spPr>
          <a:xfrm>
            <a:off x="6886575" y="2733675"/>
            <a:ext cx="857250" cy="857250"/>
          </a:xfrm>
          <a:prstGeom prst="ellipse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975"/>
              </a:lnSpc>
            </a:pPr>
            <a:r>
              <a:rPr b="1" sz="7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Instamart</a:t>
            </a:r>
            <a:endParaRPr/>
          </a:p>
        </p:txBody>
      </p:sp>
      <p:cxnSp>
        <p:nvCxnSpPr>
          <p:cNvPr id="19" name="Connector 1"/>
          <p:cNvCxnSpPr>
            <a:stCxn id="11" idx="2"/>
            <a:endCxn id="13" idx="0"/>
          </p:cNvCxnSpPr>
          <p:nvPr/>
        </p:nvCxnSpPr>
        <p:spPr>
          <a:xfrm flipH="1">
            <a:off x="7315200" y="2733675"/>
            <a:ext cx="1038225" cy="1"/>
          </a:xfrm>
          <a:prstGeom prst="straightConnector1">
            <a:avLst/>
          </a:prstGeom>
          <a:ln w="38100">
            <a:solidFill>
              <a:srgbClr val="2563EB"/>
            </a:solidFill>
          </a:ln>
        </p:spPr>
      </p:cxnSp>
      <p:cxnSp>
        <p:nvCxnSpPr>
          <p:cNvPr id="20" name="Connector 2"/>
          <p:cNvCxnSpPr>
            <a:stCxn id="11" idx="2"/>
            <a:endCxn id="15" idx="0"/>
          </p:cNvCxnSpPr>
          <p:nvPr/>
        </p:nvCxnSpPr>
        <p:spPr>
          <a:xfrm flipH="1">
            <a:off x="7315200" y="2733675"/>
            <a:ext cx="1038225" cy="1"/>
          </a:xfrm>
          <a:prstGeom prst="straightConnector1">
            <a:avLst/>
          </a:prstGeom>
          <a:ln w="38100">
            <a:solidFill>
              <a:srgbClr val="2563EB"/>
            </a:solidFill>
          </a:ln>
        </p:spPr>
      </p:cxnSp>
      <p:cxnSp>
        <p:nvCxnSpPr>
          <p:cNvPr id="21" name="Connector 3"/>
          <p:cNvCxnSpPr>
            <a:stCxn id="11" idx="2"/>
            <a:endCxn id="17" idx="0"/>
          </p:cNvCxnSpPr>
          <p:nvPr/>
        </p:nvCxnSpPr>
        <p:spPr>
          <a:xfrm flipH="1">
            <a:off x="7315200" y="2733675"/>
            <a:ext cx="1038225" cy="1"/>
          </a:xfrm>
          <a:prstGeom prst="straightConnector1">
            <a:avLst/>
          </a:prstGeom>
          <a:ln w="38100">
            <a:solidFill>
              <a:srgbClr val="2563EB"/>
            </a:solidFill>
          </a:ln>
        </p:spPr>
      </p:cxnSp>
      <p:sp>
        <p:nvSpPr>
          <p:cNvPr id="18" name="Text 6"/>
          <p:cNvSpPr txBox="1"/>
          <p:nvPr/>
        </p:nvSpPr>
        <p:spPr>
          <a:xfrm>
            <a:off x="6943725" y="7764247"/>
            <a:ext cx="2828925" cy="1047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 marL="0" indent="0">
              <a:lnSpc>
                <a:spcPts val="780"/>
              </a:lnSpc>
              <a:buNone/>
            </a:pPr>
            <a:r>
              <a:rPr sz="600">
                <a:solidFill>
                  <a:srgbClr val="55627A"/>
                </a:solidFill>
                <a:latin typeface="Noto Sans JP"/>
                <a:ea typeface="Noto Sans JP"/>
                <a:cs typeface="Noto Sans JP"/>
              </a:rPr>
              <a:t>XTSY as the growth engine, connecting to leading Quick Commerce platforms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/>
        </p:nvSpPr>
        <p:spPr>
          <a:xfrm>
            <a:off x="342900" y="344786"/>
            <a:ext cx="1150620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073"/>
              </a:lnSpc>
              <a:buNone/>
            </a:pPr>
            <a:r>
              <a:rPr b="1" sz="825" spc="150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WHY ENERGY DRINKS FIT QUICK COMMERCE</a:t>
            </a:r>
            <a:endParaRPr/>
          </a:p>
        </p:txBody>
      </p:sp>
      <p:sp>
        <p:nvSpPr>
          <p:cNvPr id="3" name="Text 8"/>
          <p:cNvSpPr txBox="1"/>
          <p:nvPr/>
        </p:nvSpPr>
        <p:spPr>
          <a:xfrm>
            <a:off x="342900" y="529019"/>
            <a:ext cx="11506200" cy="3714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2925"/>
              </a:lnSpc>
              <a:buNone/>
            </a:pPr>
            <a:r>
              <a:rPr b="1" sz="22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Energy Drink Category: Built for Quick Commerce</a:t>
            </a:r>
            <a:endParaRPr/>
          </a:p>
        </p:txBody>
      </p:sp>
      <p:sp>
        <p:nvSpPr>
          <p:cNvPr id="4" name="Text 9"/>
          <p:cNvSpPr txBox="1"/>
          <p:nvPr/>
        </p:nvSpPr>
        <p:spPr>
          <a:xfrm>
            <a:off x="342900" y="945032"/>
            <a:ext cx="115062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170"/>
              </a:lnSpc>
              <a:buNone/>
            </a:pPr>
            <a:r>
              <a:rPr sz="900">
                <a:solidFill>
                  <a:srgbClr val="55627A"/>
                </a:solidFill>
                <a:latin typeface="Noto Sans JP"/>
                <a:ea typeface="Noto Sans JP"/>
                <a:cs typeface="Noto Sans JP"/>
              </a:rPr>
              <a:t>Impulse occasions and rapid fulfillment drive category outperformance on Q-Commerce platforms</a:t>
            </a:r>
            <a:endParaRPr/>
          </a:p>
        </p:txBody>
      </p:sp>
      <p:sp>
        <p:nvSpPr>
          <p:cNvPr id="5" name="Shape 13"/>
          <p:cNvSpPr/>
          <p:nvPr/>
        </p:nvSpPr>
        <p:spPr>
          <a:xfrm>
            <a:off x="342900" y="1495425"/>
            <a:ext cx="11506200" cy="3476625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" name="Text 10"/>
          <p:cNvSpPr txBox="1"/>
          <p:nvPr/>
        </p:nvSpPr>
        <p:spPr>
          <a:xfrm>
            <a:off x="533400" y="1688154"/>
            <a:ext cx="111252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268"/>
              </a:lnSpc>
              <a:buNone/>
            </a:pPr>
            <a:r>
              <a:rPr b="1"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Energy Drink Consumption Occasions</a:t>
            </a:r>
            <a:endParaRPr/>
          </a:p>
        </p:txBody>
      </p:sp>
      <p:graphicFrame>
        <p:nvGraphicFramePr>
          <p:cNvPr id="7" name="Chart 1"/>
          <p:cNvGraphicFramePr/>
          <p:nvPr/>
        </p:nvGraphicFramePr>
        <p:xfrm>
          <a:off x="533400" y="1943100"/>
          <a:ext cx="11125200" cy="2600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 11"/>
          <p:cNvSpPr txBox="1"/>
          <p:nvPr/>
        </p:nvSpPr>
        <p:spPr>
          <a:xfrm>
            <a:off x="533400" y="4640561"/>
            <a:ext cx="1112520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indent="0">
              <a:lnSpc>
                <a:spcPts val="1073"/>
              </a:lnSpc>
              <a:buNone/>
            </a:pPr>
            <a:r>
              <a:rPr sz="825">
                <a:solidFill>
                  <a:srgbClr val="55627A"/>
                </a:solidFill>
                <a:latin typeface="Noto Sans JP"/>
                <a:ea typeface="Noto Sans JP"/>
                <a:cs typeface="Noto Sans JP"/>
              </a:rPr>
              <a:t>Pre-workout is the leading occasion, but impulse-driven needs span diverse moments—ideal for Q-Commerce capture.</a:t>
            </a:r>
            <a:endParaRPr/>
          </a:p>
        </p:txBody>
      </p:sp>
      <p:sp>
        <p:nvSpPr>
          <p:cNvPr id="9" name="Shape 14"/>
          <p:cNvSpPr/>
          <p:nvPr/>
        </p:nvSpPr>
        <p:spPr>
          <a:xfrm>
            <a:off x="342900" y="5143500"/>
            <a:ext cx="6019800" cy="1371600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0" name="Text 12"/>
          <p:cNvSpPr txBox="1"/>
          <p:nvPr/>
        </p:nvSpPr>
        <p:spPr>
          <a:xfrm>
            <a:off x="514350" y="5440661"/>
            <a:ext cx="5686425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073"/>
              </a:lnSpc>
              <a:buNone/>
            </a:pPr>
            <a:r>
              <a:rPr sz="825">
                <a:solidFill>
                  <a:srgbClr val="55627A"/>
                </a:solidFill>
                <a:latin typeface="Noto Sans JP"/>
                <a:ea typeface="Noto Sans JP"/>
                <a:cs typeface="Noto Sans JP"/>
              </a:rPr>
              <a:t>Impulse Purchase Rate (Q-Commerce vs. Retail)</a:t>
            </a:r>
            <a:endParaRPr/>
          </a:p>
        </p:txBody>
      </p:sp>
      <p:sp>
        <p:nvSpPr>
          <p:cNvPr id="11" name="Text 13"/>
          <p:cNvSpPr txBox="1"/>
          <p:nvPr/>
        </p:nvSpPr>
        <p:spPr>
          <a:xfrm>
            <a:off x="514350" y="5643944"/>
            <a:ext cx="5686425" cy="3714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2925"/>
              </a:lnSpc>
              <a:buNone/>
            </a:pPr>
            <a:r>
              <a:rPr b="1" sz="2250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2.4</a:t>
            </a:r>
            <a:r>
              <a:rPr b="1" sz="1350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x</a:t>
            </a:r>
            <a:r>
              <a:rPr b="1" sz="2250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 xml:space="preserve"> higher</a:t>
            </a:r>
            <a:endParaRPr/>
          </a:p>
        </p:txBody>
      </p:sp>
      <p:sp>
        <p:nvSpPr>
          <p:cNvPr id="12" name="Text 14"/>
          <p:cNvSpPr txBox="1"/>
          <p:nvPr/>
        </p:nvSpPr>
        <p:spPr>
          <a:xfrm>
            <a:off x="514350" y="6078836"/>
            <a:ext cx="5686425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073"/>
              </a:lnSpc>
              <a:buNone/>
            </a:pPr>
            <a:r>
              <a:rPr b="1" sz="825">
                <a:solidFill>
                  <a:srgbClr val="15803D"/>
                </a:solidFill>
                <a:latin typeface="Noto Sans JP"/>
                <a:ea typeface="Noto Sans JP"/>
                <a:cs typeface="Noto Sans JP"/>
              </a:rPr>
              <a:t>vs. traditional retail</a:t>
            </a:r>
            <a:endParaRPr/>
          </a:p>
        </p:txBody>
      </p:sp>
      <p:sp>
        <p:nvSpPr>
          <p:cNvPr id="13" name="Shape 15"/>
          <p:cNvSpPr/>
          <p:nvPr/>
        </p:nvSpPr>
        <p:spPr>
          <a:xfrm>
            <a:off x="6515100" y="5143500"/>
            <a:ext cx="5334000" cy="1371600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4" name="Text 15"/>
          <p:cNvSpPr txBox="1"/>
          <p:nvPr/>
        </p:nvSpPr>
        <p:spPr>
          <a:xfrm>
            <a:off x="6686550" y="5440661"/>
            <a:ext cx="499110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073"/>
              </a:lnSpc>
              <a:buNone/>
            </a:pPr>
            <a:r>
              <a:rPr sz="825">
                <a:solidFill>
                  <a:srgbClr val="55627A"/>
                </a:solidFill>
                <a:latin typeface="Noto Sans JP"/>
                <a:ea typeface="Noto Sans JP"/>
                <a:cs typeface="Noto Sans JP"/>
              </a:rPr>
              <a:t>YoY GMV Growth (Q-Commerce)</a:t>
            </a:r>
            <a:endParaRPr/>
          </a:p>
        </p:txBody>
      </p:sp>
      <p:sp>
        <p:nvSpPr>
          <p:cNvPr id="15" name="Text 16"/>
          <p:cNvSpPr txBox="1"/>
          <p:nvPr/>
        </p:nvSpPr>
        <p:spPr>
          <a:xfrm>
            <a:off x="6686550" y="5643944"/>
            <a:ext cx="4991100" cy="3714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2925"/>
              </a:lnSpc>
              <a:buNone/>
            </a:pPr>
            <a:r>
              <a:rPr b="1" sz="2250">
                <a:solidFill>
                  <a:srgbClr val="15803D"/>
                </a:solidFill>
                <a:latin typeface="Noto Sans JP"/>
                <a:ea typeface="Noto Sans JP"/>
                <a:cs typeface="Noto Sans JP"/>
              </a:rPr>
              <a:t>28</a:t>
            </a:r>
            <a:r>
              <a:rPr b="1" sz="1350">
                <a:solidFill>
                  <a:srgbClr val="55627A"/>
                </a:solidFill>
                <a:latin typeface="Noto Sans JP"/>
                <a:ea typeface="Noto Sans JP"/>
                <a:cs typeface="Noto Sans JP"/>
              </a:rPr>
              <a:t>%</a:t>
            </a:r>
            <a:endParaRPr/>
          </a:p>
        </p:txBody>
      </p:sp>
      <p:sp>
        <p:nvSpPr>
          <p:cNvPr id="16" name="Text 17"/>
          <p:cNvSpPr txBox="1"/>
          <p:nvPr/>
        </p:nvSpPr>
        <p:spPr>
          <a:xfrm>
            <a:off x="6686550" y="6078836"/>
            <a:ext cx="499110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073"/>
              </a:lnSpc>
              <a:buNone/>
            </a:pPr>
            <a:r>
              <a:rPr b="1" sz="825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across Zepto, Blinkit, Instamart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8"/>
          <p:cNvSpPr txBox="1"/>
          <p:nvPr/>
        </p:nvSpPr>
        <p:spPr>
          <a:xfrm>
            <a:off x="361950" y="363836"/>
            <a:ext cx="1146810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073"/>
              </a:lnSpc>
              <a:buNone/>
            </a:pPr>
            <a:r>
              <a:rPr b="1" sz="825" spc="150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GROWTH OPPORTUNITIES</a:t>
            </a:r>
            <a:endParaRPr/>
          </a:p>
        </p:txBody>
      </p:sp>
      <p:sp>
        <p:nvSpPr>
          <p:cNvPr id="3" name="Text 19"/>
          <p:cNvSpPr txBox="1"/>
          <p:nvPr/>
        </p:nvSpPr>
        <p:spPr>
          <a:xfrm>
            <a:off x="361950" y="548069"/>
            <a:ext cx="11468100" cy="3714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2925"/>
              </a:lnSpc>
              <a:buNone/>
            </a:pPr>
            <a:r>
              <a:rPr b="1" sz="22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Growth Opportunities for XTSY Across Quick Commerce Platforms</a:t>
            </a:r>
            <a:endParaRPr/>
          </a:p>
        </p:txBody>
      </p:sp>
      <p:sp>
        <p:nvSpPr>
          <p:cNvPr id="4" name="Text 20"/>
          <p:cNvSpPr txBox="1"/>
          <p:nvPr/>
        </p:nvSpPr>
        <p:spPr>
          <a:xfrm>
            <a:off x="361950" y="964082"/>
            <a:ext cx="114681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170"/>
              </a:lnSpc>
              <a:buNone/>
            </a:pPr>
            <a:r>
              <a:rPr sz="900">
                <a:solidFill>
                  <a:srgbClr val="55627A"/>
                </a:solidFill>
                <a:latin typeface="Noto Sans JP"/>
                <a:ea typeface="Noto Sans JP"/>
                <a:cs typeface="Noto Sans JP"/>
              </a:rPr>
              <a:t>Quick Commerce is the new battleground for impulse beverage brands—platform-specific execution unlocks outsized growth.</a:t>
            </a:r>
            <a:endParaRPr/>
          </a:p>
        </p:txBody>
      </p:sp>
      <p:sp>
        <p:nvSpPr>
          <p:cNvPr id="5" name="Shape 16"/>
          <p:cNvSpPr/>
          <p:nvPr/>
        </p:nvSpPr>
        <p:spPr>
          <a:xfrm>
            <a:off x="361950" y="1247775"/>
            <a:ext cx="11468100" cy="3086100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" name="Text 21"/>
          <p:cNvSpPr txBox="1"/>
          <p:nvPr/>
        </p:nvSpPr>
        <p:spPr>
          <a:xfrm>
            <a:off x="552450" y="1421625"/>
            <a:ext cx="5543550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365"/>
              </a:lnSpc>
              <a:buNone/>
            </a:pPr>
            <a:r>
              <a:rPr b="1" sz="10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Opportunity Matrix: XTSY Growth Levers by Platform</a:t>
            </a:r>
            <a:endParaRPr/>
          </a:p>
        </p:txBody>
      </p:sp>
      <p:sp>
        <p:nvSpPr>
          <p:cNvPr id="7" name="Text 22"/>
          <p:cNvSpPr txBox="1"/>
          <p:nvPr/>
        </p:nvSpPr>
        <p:spPr>
          <a:xfrm>
            <a:off x="6096000" y="1440161"/>
            <a:ext cx="554355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073"/>
              </a:lnSpc>
              <a:buNone/>
            </a:pPr>
            <a:r>
              <a:rPr sz="825">
                <a:solidFill>
                  <a:srgbClr val="55627A"/>
                </a:solidFill>
                <a:latin typeface="Noto Sans JP"/>
                <a:ea typeface="Noto Sans JP"/>
                <a:cs typeface="Noto Sans JP"/>
              </a:rPr>
              <a:t>Mapped by Platform × Lever</a:t>
            </a:r>
            <a:endParaRPr/>
          </a:p>
        </p:txBody>
      </p:sp>
      <p:sp>
        <p:nvSpPr>
          <p:cNvPr id="8" name="Shape 17"/>
          <p:cNvSpPr/>
          <p:nvPr/>
        </p:nvSpPr>
        <p:spPr>
          <a:xfrm>
            <a:off x="1116157" y="2709863"/>
            <a:ext cx="9959686" cy="0"/>
          </a:xfrm>
          <a:prstGeom prst="line">
            <a:avLst/>
          </a:prstGeom>
          <a:noFill/>
          <a:ln w="18790">
            <a:solidFill>
              <a:srgbClr val="E2E8F0"/>
            </a:solidFill>
          </a:ln>
        </p:spPr>
      </p:sp>
      <p:sp>
        <p:nvSpPr>
          <p:cNvPr id="9" name="Shape 18"/>
          <p:cNvSpPr/>
          <p:nvPr/>
        </p:nvSpPr>
        <p:spPr>
          <a:xfrm>
            <a:off x="6096000" y="2240107"/>
            <a:ext cx="0" cy="939511"/>
          </a:xfrm>
          <a:prstGeom prst="line">
            <a:avLst/>
          </a:prstGeom>
          <a:noFill/>
          <a:ln w="18790">
            <a:solidFill>
              <a:srgbClr val="E2E8F0"/>
            </a:solidFill>
          </a:ln>
        </p:spPr>
      </p:sp>
      <p:sp>
        <p:nvSpPr>
          <p:cNvPr id="10" name="Text 23"/>
          <p:cNvSpPr txBox="1"/>
          <p:nvPr/>
        </p:nvSpPr>
        <p:spPr>
          <a:xfrm>
            <a:off x="5532293" y="3254779"/>
            <a:ext cx="1127414" cy="225483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sz="888">
                <a:solidFill>
                  <a:srgbClr val="55627A"/>
                </a:solidFill>
                <a:latin typeface="Noto Sans JP"/>
                <a:ea typeface="Noto Sans JP"/>
                <a:cs typeface="Noto Sans JP"/>
              </a:rPr>
              <a:t>Levers</a:t>
            </a:r>
            <a:endParaRPr/>
          </a:p>
        </p:txBody>
      </p:sp>
      <p:sp>
        <p:nvSpPr>
          <p:cNvPr id="11" name="Text 24"/>
          <p:cNvSpPr txBox="1"/>
          <p:nvPr/>
        </p:nvSpPr>
        <p:spPr>
          <a:xfrm rot="16200000">
            <a:off x="364548" y="2615911"/>
            <a:ext cx="939511" cy="187902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sz="888">
                <a:solidFill>
                  <a:srgbClr val="55627A"/>
                </a:solidFill>
                <a:latin typeface="Noto Sans JP"/>
                <a:ea typeface="Noto Sans JP"/>
                <a:cs typeface="Noto Sans JP"/>
              </a:rPr>
              <a:t>Platforms</a:t>
            </a:r>
            <a:endParaRPr/>
          </a:p>
        </p:txBody>
      </p:sp>
      <p:sp>
        <p:nvSpPr>
          <p:cNvPr id="12" name="Text 25"/>
          <p:cNvSpPr txBox="1"/>
          <p:nvPr/>
        </p:nvSpPr>
        <p:spPr>
          <a:xfrm>
            <a:off x="1210108" y="2334058"/>
            <a:ext cx="4791941" cy="45096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sz="814">
                <a:solidFill>
                  <a:srgbClr val="55627A"/>
                </a:solidFill>
                <a:latin typeface="Noto Sans JP"/>
                <a:ea typeface="Noto Sans JP"/>
                <a:cs typeface="Noto Sans JP"/>
              </a:rPr>
              <a:t/>
            </a:r>
            <a:endParaRPr/>
          </a:p>
        </p:txBody>
      </p:sp>
      <p:sp>
        <p:nvSpPr>
          <p:cNvPr id="13" name="Text 26"/>
          <p:cNvSpPr txBox="1"/>
          <p:nvPr/>
        </p:nvSpPr>
        <p:spPr>
          <a:xfrm>
            <a:off x="6189951" y="2334058"/>
            <a:ext cx="4791941" cy="45096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sz="814">
                <a:solidFill>
                  <a:srgbClr val="55627A"/>
                </a:solidFill>
                <a:latin typeface="Noto Sans JP"/>
                <a:ea typeface="Noto Sans JP"/>
                <a:cs typeface="Noto Sans JP"/>
              </a:rPr>
              <a:t/>
            </a:r>
            <a:endParaRPr/>
          </a:p>
        </p:txBody>
      </p:sp>
      <p:sp>
        <p:nvSpPr>
          <p:cNvPr id="14" name="Text 27"/>
          <p:cNvSpPr txBox="1"/>
          <p:nvPr/>
        </p:nvSpPr>
        <p:spPr>
          <a:xfrm>
            <a:off x="1210108" y="2634702"/>
            <a:ext cx="4791941" cy="450965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/>
            <a:r>
              <a:rPr sz="814">
                <a:solidFill>
                  <a:srgbClr val="55627A"/>
                </a:solidFill>
                <a:latin typeface="Noto Sans JP"/>
                <a:ea typeface="Noto Sans JP"/>
                <a:cs typeface="Noto Sans JP"/>
              </a:rPr>
              <a:t/>
            </a:r>
            <a:endParaRPr/>
          </a:p>
        </p:txBody>
      </p:sp>
      <p:sp>
        <p:nvSpPr>
          <p:cNvPr id="15" name="Text 28"/>
          <p:cNvSpPr txBox="1"/>
          <p:nvPr/>
        </p:nvSpPr>
        <p:spPr>
          <a:xfrm>
            <a:off x="6189951" y="2634702"/>
            <a:ext cx="4791941" cy="450965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r"/>
            <a:r>
              <a:rPr sz="814">
                <a:solidFill>
                  <a:srgbClr val="55627A"/>
                </a:solidFill>
                <a:latin typeface="Noto Sans JP"/>
                <a:ea typeface="Noto Sans JP"/>
                <a:cs typeface="Noto Sans JP"/>
              </a:rPr>
              <a:t/>
            </a:r>
            <a:endParaRPr/>
          </a:p>
        </p:txBody>
      </p:sp>
      <p:sp>
        <p:nvSpPr>
          <p:cNvPr id="16" name="Shape 19"/>
          <p:cNvSpPr/>
          <p:nvPr/>
        </p:nvSpPr>
        <p:spPr>
          <a:xfrm>
            <a:off x="2198578" y="2268292"/>
            <a:ext cx="225483" cy="225483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7" name="Text 29"/>
          <p:cNvSpPr txBox="1"/>
          <p:nvPr/>
        </p:nvSpPr>
        <p:spPr>
          <a:xfrm>
            <a:off x="1841564" y="2080390"/>
            <a:ext cx="939511" cy="169112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b="1" sz="814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search visibility expansion</a:t>
            </a:r>
            <a:endParaRPr/>
          </a:p>
        </p:txBody>
      </p:sp>
      <p:sp>
        <p:nvSpPr>
          <p:cNvPr id="18" name="Shape 20"/>
          <p:cNvSpPr/>
          <p:nvPr/>
        </p:nvSpPr>
        <p:spPr>
          <a:xfrm>
            <a:off x="4688499" y="2268292"/>
            <a:ext cx="225483" cy="225483"/>
          </a:xfrm>
          <a:prstGeom prst="ellipse">
            <a:avLst/>
          </a:prstGeom>
          <a:solidFill>
            <a:srgbClr val="0EA5E9"/>
          </a:solidFill>
          <a:ln>
            <a:noFill/>
          </a:ln>
        </p:spPr>
      </p:sp>
      <p:sp>
        <p:nvSpPr>
          <p:cNvPr id="19" name="Text 30"/>
          <p:cNvSpPr txBox="1"/>
          <p:nvPr/>
        </p:nvSpPr>
        <p:spPr>
          <a:xfrm>
            <a:off x="4331485" y="2080390"/>
            <a:ext cx="939511" cy="169112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b="1" sz="814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sponsored placements</a:t>
            </a:r>
            <a:endParaRPr/>
          </a:p>
        </p:txBody>
      </p:sp>
      <p:sp>
        <p:nvSpPr>
          <p:cNvPr id="20" name="Shape 21"/>
          <p:cNvSpPr/>
          <p:nvPr/>
        </p:nvSpPr>
        <p:spPr>
          <a:xfrm>
            <a:off x="7178421" y="2268292"/>
            <a:ext cx="225483" cy="225483"/>
          </a:xfrm>
          <a:prstGeom prst="ellipse">
            <a:avLst/>
          </a:prstGeom>
          <a:solidFill>
            <a:srgbClr val="15803D"/>
          </a:solidFill>
          <a:ln>
            <a:noFill/>
          </a:ln>
        </p:spPr>
      </p:sp>
      <p:sp>
        <p:nvSpPr>
          <p:cNvPr id="21" name="Text 31"/>
          <p:cNvSpPr txBox="1"/>
          <p:nvPr/>
        </p:nvSpPr>
        <p:spPr>
          <a:xfrm>
            <a:off x="6821407" y="2080390"/>
            <a:ext cx="939511" cy="169112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b="1" sz="814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subscription/repeat purchase growth</a:t>
            </a:r>
            <a:endParaRPr/>
          </a:p>
        </p:txBody>
      </p:sp>
      <p:sp>
        <p:nvSpPr>
          <p:cNvPr id="22" name="Shape 22"/>
          <p:cNvSpPr/>
          <p:nvPr/>
        </p:nvSpPr>
        <p:spPr>
          <a:xfrm>
            <a:off x="9668343" y="2268292"/>
            <a:ext cx="225483" cy="225483"/>
          </a:xfrm>
          <a:prstGeom prst="ellipse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23" name="Text 32"/>
          <p:cNvSpPr txBox="1"/>
          <p:nvPr/>
        </p:nvSpPr>
        <p:spPr>
          <a:xfrm>
            <a:off x="9311328" y="2080390"/>
            <a:ext cx="939511" cy="169112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b="1" sz="814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new city penetration</a:t>
            </a:r>
            <a:endParaRPr/>
          </a:p>
        </p:txBody>
      </p:sp>
      <p:sp>
        <p:nvSpPr>
          <p:cNvPr id="24" name="Shape 23"/>
          <p:cNvSpPr/>
          <p:nvPr/>
        </p:nvSpPr>
        <p:spPr>
          <a:xfrm>
            <a:off x="2198578" y="2597121"/>
            <a:ext cx="225483" cy="225483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5" name="Text 33"/>
          <p:cNvSpPr txBox="1"/>
          <p:nvPr/>
        </p:nvSpPr>
        <p:spPr>
          <a:xfrm>
            <a:off x="1841564" y="2409219"/>
            <a:ext cx="939511" cy="169112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b="1" sz="814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category page dominance</a:t>
            </a:r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688499" y="2597121"/>
            <a:ext cx="225483" cy="225483"/>
          </a:xfrm>
          <a:prstGeom prst="ellipse">
            <a:avLst/>
          </a:prstGeom>
          <a:solidFill>
            <a:srgbClr val="0EA5E9"/>
          </a:solidFill>
          <a:ln>
            <a:noFill/>
          </a:ln>
        </p:spPr>
      </p:sp>
      <p:sp>
        <p:nvSpPr>
          <p:cNvPr id="27" name="Text 34"/>
          <p:cNvSpPr txBox="1"/>
          <p:nvPr/>
        </p:nvSpPr>
        <p:spPr>
          <a:xfrm>
            <a:off x="4331485" y="2409219"/>
            <a:ext cx="939511" cy="169112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b="1" sz="814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sponsored placements</a:t>
            </a:r>
            <a:endParaRPr/>
          </a:p>
        </p:txBody>
      </p:sp>
      <p:sp>
        <p:nvSpPr>
          <p:cNvPr id="28" name="Shape 25"/>
          <p:cNvSpPr/>
          <p:nvPr/>
        </p:nvSpPr>
        <p:spPr>
          <a:xfrm>
            <a:off x="7178421" y="2597121"/>
            <a:ext cx="225483" cy="225483"/>
          </a:xfrm>
          <a:prstGeom prst="ellipse">
            <a:avLst/>
          </a:prstGeom>
          <a:solidFill>
            <a:srgbClr val="15803D"/>
          </a:solidFill>
          <a:ln>
            <a:noFill/>
          </a:ln>
        </p:spPr>
      </p:sp>
      <p:sp>
        <p:nvSpPr>
          <p:cNvPr id="29" name="Text 35"/>
          <p:cNvSpPr txBox="1"/>
          <p:nvPr/>
        </p:nvSpPr>
        <p:spPr>
          <a:xfrm>
            <a:off x="6821407" y="2409219"/>
            <a:ext cx="939511" cy="169112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b="1" sz="814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basket attachment</a:t>
            </a:r>
            <a:endParaRPr/>
          </a:p>
        </p:txBody>
      </p:sp>
      <p:sp>
        <p:nvSpPr>
          <p:cNvPr id="30" name="Shape 26"/>
          <p:cNvSpPr/>
          <p:nvPr/>
        </p:nvSpPr>
        <p:spPr>
          <a:xfrm>
            <a:off x="9668343" y="2597121"/>
            <a:ext cx="225483" cy="225483"/>
          </a:xfrm>
          <a:prstGeom prst="ellipse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1" name="Text 36"/>
          <p:cNvSpPr txBox="1"/>
          <p:nvPr/>
        </p:nvSpPr>
        <p:spPr>
          <a:xfrm>
            <a:off x="9311328" y="2409219"/>
            <a:ext cx="939511" cy="169112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b="1" sz="814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portfolio expansion</a:t>
            </a:r>
            <a:endParaRPr/>
          </a:p>
        </p:txBody>
      </p:sp>
      <p:sp>
        <p:nvSpPr>
          <p:cNvPr id="32" name="Shape 27"/>
          <p:cNvSpPr/>
          <p:nvPr/>
        </p:nvSpPr>
        <p:spPr>
          <a:xfrm>
            <a:off x="2198578" y="2925950"/>
            <a:ext cx="225483" cy="225483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3" name="Text 37"/>
          <p:cNvSpPr txBox="1"/>
          <p:nvPr/>
        </p:nvSpPr>
        <p:spPr>
          <a:xfrm>
            <a:off x="1841564" y="2738048"/>
            <a:ext cx="939511" cy="169112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b="1" sz="814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search visibility expansion</a:t>
            </a:r>
            <a:endParaRPr/>
          </a:p>
        </p:txBody>
      </p:sp>
      <p:sp>
        <p:nvSpPr>
          <p:cNvPr id="34" name="Shape 28"/>
          <p:cNvSpPr/>
          <p:nvPr/>
        </p:nvSpPr>
        <p:spPr>
          <a:xfrm>
            <a:off x="4688499" y="2925950"/>
            <a:ext cx="225483" cy="225483"/>
          </a:xfrm>
          <a:prstGeom prst="ellipse">
            <a:avLst/>
          </a:prstGeom>
          <a:solidFill>
            <a:srgbClr val="0EA5E9"/>
          </a:solidFill>
          <a:ln>
            <a:noFill/>
          </a:ln>
        </p:spPr>
      </p:sp>
      <p:sp>
        <p:nvSpPr>
          <p:cNvPr id="35" name="Text 38"/>
          <p:cNvSpPr txBox="1"/>
          <p:nvPr/>
        </p:nvSpPr>
        <p:spPr>
          <a:xfrm>
            <a:off x="4331485" y="2738048"/>
            <a:ext cx="939511" cy="169112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b="1" sz="814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category page dominance</a:t>
            </a:r>
            <a:endParaRPr/>
          </a:p>
        </p:txBody>
      </p:sp>
      <p:sp>
        <p:nvSpPr>
          <p:cNvPr id="36" name="Shape 29"/>
          <p:cNvSpPr/>
          <p:nvPr/>
        </p:nvSpPr>
        <p:spPr>
          <a:xfrm>
            <a:off x="7178421" y="2925950"/>
            <a:ext cx="225483" cy="225483"/>
          </a:xfrm>
          <a:prstGeom prst="ellipse">
            <a:avLst/>
          </a:prstGeom>
          <a:solidFill>
            <a:srgbClr val="15803D"/>
          </a:solidFill>
          <a:ln>
            <a:noFill/>
          </a:ln>
        </p:spPr>
      </p:sp>
      <p:sp>
        <p:nvSpPr>
          <p:cNvPr id="37" name="Text 39"/>
          <p:cNvSpPr txBox="1"/>
          <p:nvPr/>
        </p:nvSpPr>
        <p:spPr>
          <a:xfrm>
            <a:off x="6821407" y="2738048"/>
            <a:ext cx="939511" cy="169112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b="1" sz="814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subscription/repeat purchase growth</a:t>
            </a:r>
            <a:endParaRPr/>
          </a:p>
        </p:txBody>
      </p:sp>
      <p:sp>
        <p:nvSpPr>
          <p:cNvPr id="38" name="Shape 30"/>
          <p:cNvSpPr/>
          <p:nvPr/>
        </p:nvSpPr>
        <p:spPr>
          <a:xfrm>
            <a:off x="9668343" y="2925950"/>
            <a:ext cx="225483" cy="225483"/>
          </a:xfrm>
          <a:prstGeom prst="ellipse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9" name="Text 40"/>
          <p:cNvSpPr txBox="1"/>
          <p:nvPr/>
        </p:nvSpPr>
        <p:spPr>
          <a:xfrm>
            <a:off x="9311328" y="2738048"/>
            <a:ext cx="939511" cy="169112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b="1" sz="814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new city penetration</a:t>
            </a:r>
            <a:endParaRPr/>
          </a:p>
        </p:txBody>
      </p:sp>
      <p:sp>
        <p:nvSpPr>
          <p:cNvPr id="40" name="Text 41"/>
          <p:cNvSpPr txBox="1"/>
          <p:nvPr/>
        </p:nvSpPr>
        <p:spPr>
          <a:xfrm>
            <a:off x="2981325" y="3869036"/>
            <a:ext cx="57150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073"/>
              </a:lnSpc>
              <a:buNone/>
            </a:pPr>
            <a:r>
              <a:rPr sz="825">
                <a:solidFill>
                  <a:srgbClr val="55627A"/>
                </a:solidFill>
                <a:latin typeface="Noto Sans JP"/>
                <a:ea typeface="Noto Sans JP"/>
                <a:cs typeface="Noto Sans JP"/>
              </a:rPr>
              <a:t>Platforms</a:t>
            </a:r>
            <a:endParaRPr/>
          </a:p>
        </p:txBody>
      </p:sp>
      <p:sp>
        <p:nvSpPr>
          <p:cNvPr id="41" name="Text 42"/>
          <p:cNvSpPr txBox="1"/>
          <p:nvPr/>
        </p:nvSpPr>
        <p:spPr>
          <a:xfrm>
            <a:off x="2362200" y="4021607"/>
            <a:ext cx="428625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170"/>
              </a:lnSpc>
              <a:buNone/>
            </a:pPr>
            <a:r>
              <a:rPr b="1"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Zepto</a:t>
            </a:r>
            <a:endParaRPr/>
          </a:p>
        </p:txBody>
      </p:sp>
      <p:sp>
        <p:nvSpPr>
          <p:cNvPr id="42" name="Text 43"/>
          <p:cNvSpPr txBox="1"/>
          <p:nvPr/>
        </p:nvSpPr>
        <p:spPr>
          <a:xfrm>
            <a:off x="2905125" y="4021607"/>
            <a:ext cx="476250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170"/>
              </a:lnSpc>
              <a:buNone/>
            </a:pPr>
            <a:r>
              <a:rPr b="1"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Blinkit</a:t>
            </a:r>
            <a:endParaRPr/>
          </a:p>
        </p:txBody>
      </p:sp>
      <p:sp>
        <p:nvSpPr>
          <p:cNvPr id="43" name="Text 44"/>
          <p:cNvSpPr txBox="1"/>
          <p:nvPr/>
        </p:nvSpPr>
        <p:spPr>
          <a:xfrm>
            <a:off x="3514725" y="4021607"/>
            <a:ext cx="657225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170"/>
              </a:lnSpc>
              <a:buNone/>
            </a:pPr>
            <a:r>
              <a:rPr b="1"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Instamart</a:t>
            </a:r>
            <a:endParaRPr/>
          </a:p>
        </p:txBody>
      </p:sp>
      <p:sp>
        <p:nvSpPr>
          <p:cNvPr id="44" name="Text 45"/>
          <p:cNvSpPr txBox="1"/>
          <p:nvPr/>
        </p:nvSpPr>
        <p:spPr>
          <a:xfrm>
            <a:off x="8715375" y="3869036"/>
            <a:ext cx="41910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073"/>
              </a:lnSpc>
              <a:buNone/>
            </a:pPr>
            <a:r>
              <a:rPr sz="825">
                <a:solidFill>
                  <a:srgbClr val="55627A"/>
                </a:solidFill>
                <a:latin typeface="Noto Sans JP"/>
                <a:ea typeface="Noto Sans JP"/>
                <a:cs typeface="Noto Sans JP"/>
              </a:rPr>
              <a:t>Levers</a:t>
            </a:r>
            <a:endParaRPr/>
          </a:p>
        </p:txBody>
      </p:sp>
      <p:sp>
        <p:nvSpPr>
          <p:cNvPr id="45" name="Text 46"/>
          <p:cNvSpPr txBox="1"/>
          <p:nvPr/>
        </p:nvSpPr>
        <p:spPr>
          <a:xfrm>
            <a:off x="7096125" y="4021607"/>
            <a:ext cx="552450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170"/>
              </a:lnSpc>
              <a:buNone/>
            </a:pPr>
            <a:r>
              <a:rPr sz="900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Visibility</a:t>
            </a:r>
            <a:endParaRPr/>
          </a:p>
        </p:txBody>
      </p:sp>
      <p:sp>
        <p:nvSpPr>
          <p:cNvPr id="46" name="Text 47"/>
          <p:cNvSpPr txBox="1"/>
          <p:nvPr/>
        </p:nvSpPr>
        <p:spPr>
          <a:xfrm>
            <a:off x="7772400" y="4021607"/>
            <a:ext cx="714375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170"/>
              </a:lnSpc>
              <a:buNone/>
            </a:pPr>
            <a:r>
              <a:rPr sz="900">
                <a:solidFill>
                  <a:srgbClr val="0EA5E9"/>
                </a:solidFill>
                <a:latin typeface="Noto Sans JP"/>
                <a:ea typeface="Noto Sans JP"/>
                <a:cs typeface="Noto Sans JP"/>
              </a:rPr>
              <a:t>Conversion</a:t>
            </a:r>
            <a:endParaRPr/>
          </a:p>
        </p:txBody>
      </p:sp>
      <p:sp>
        <p:nvSpPr>
          <p:cNvPr id="47" name="Text 48"/>
          <p:cNvSpPr txBox="1"/>
          <p:nvPr/>
        </p:nvSpPr>
        <p:spPr>
          <a:xfrm>
            <a:off x="8601075" y="4021607"/>
            <a:ext cx="990600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170"/>
              </a:lnSpc>
              <a:buNone/>
            </a:pPr>
            <a:r>
              <a:rPr sz="900">
                <a:solidFill>
                  <a:srgbClr val="15803D"/>
                </a:solidFill>
                <a:latin typeface="Noto Sans JP"/>
                <a:ea typeface="Noto Sans JP"/>
                <a:cs typeface="Noto Sans JP"/>
              </a:rPr>
              <a:t>Repeat Purchase</a:t>
            </a:r>
            <a:endParaRPr/>
          </a:p>
        </p:txBody>
      </p:sp>
      <p:sp>
        <p:nvSpPr>
          <p:cNvPr id="48" name="Text 49"/>
          <p:cNvSpPr txBox="1"/>
          <p:nvPr/>
        </p:nvSpPr>
        <p:spPr>
          <a:xfrm>
            <a:off x="9725025" y="4021607"/>
            <a:ext cx="1047750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170"/>
              </a:lnSpc>
              <a:buNone/>
            </a:pPr>
            <a:r>
              <a:rPr sz="900">
                <a:solidFill>
                  <a:srgbClr val="B45309"/>
                </a:solidFill>
                <a:latin typeface="Noto Sans JP"/>
                <a:ea typeface="Noto Sans JP"/>
                <a:cs typeface="Noto Sans JP"/>
              </a:rPr>
              <a:t>Market Expansion</a:t>
            </a:r>
            <a:endParaRPr/>
          </a:p>
        </p:txBody>
      </p:sp>
      <p:sp>
        <p:nvSpPr>
          <p:cNvPr id="49" name="Shape 31"/>
          <p:cNvSpPr/>
          <p:nvPr/>
        </p:nvSpPr>
        <p:spPr>
          <a:xfrm>
            <a:off x="361950" y="4505325"/>
            <a:ext cx="11468100" cy="1257300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50" name="Text 50"/>
          <p:cNvSpPr txBox="1"/>
          <p:nvPr/>
        </p:nvSpPr>
        <p:spPr>
          <a:xfrm>
            <a:off x="533400" y="4679004"/>
            <a:ext cx="11125200" cy="76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268"/>
              </a:lnSpc>
              <a:buNone/>
            </a:pPr>
            <a:r>
              <a:rPr b="1"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Key Opportunity Areas</a:t>
            </a:r>
            <a:endParaRPr/>
          </a:p>
        </p:txBody>
      </p:sp>
      <p:sp>
        <p:nvSpPr>
          <p:cNvPr id="51" name="Text 51"/>
          <p:cNvSpPr txBox="1"/>
          <p:nvPr/>
        </p:nvSpPr>
        <p:spPr>
          <a:xfrm>
            <a:off x="533400" y="4838700"/>
            <a:ext cx="11125200" cy="7524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search visibility expansion</a:t>
            </a:r>
            <a:endParaRPr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sponsored placements</a:t>
            </a:r>
            <a:endParaRPr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category page dominance</a:t>
            </a:r>
            <a:endParaRPr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new city penetration</a:t>
            </a:r>
            <a:endParaRPr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portfolio expansion</a:t>
            </a:r>
            <a:endParaRPr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basket attachment</a:t>
            </a:r>
            <a:endParaRPr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subscription/repeat purchase growth</a:t>
            </a:r>
            <a:endParaRPr/>
          </a:p>
        </p:txBody>
      </p:sp>
      <p:sp>
        <p:nvSpPr>
          <p:cNvPr id="52" name="Shape 32"/>
          <p:cNvSpPr/>
          <p:nvPr/>
        </p:nvSpPr>
        <p:spPr>
          <a:xfrm>
            <a:off x="361950" y="5934075"/>
            <a:ext cx="11468100" cy="561975"/>
          </a:xfrm>
          <a:prstGeom prst="rect">
            <a:avLst/>
          </a:prstGeom>
          <a:solidFill>
            <a:srgbClr val="EEF2FD"/>
          </a:solidFill>
          <a:ln>
            <a:noFill/>
          </a:ln>
        </p:spPr>
      </p:sp>
      <p:sp>
        <p:nvSpPr>
          <p:cNvPr id="53" name="Shape 33"/>
          <p:cNvSpPr/>
          <p:nvPr/>
        </p:nvSpPr>
        <p:spPr>
          <a:xfrm>
            <a:off x="361950" y="5934075"/>
            <a:ext cx="0" cy="561975"/>
          </a:xfrm>
          <a:prstGeom prst="line">
            <a:avLst/>
          </a:prstGeom>
          <a:noFill/>
          <a:ln w="47625">
            <a:solidFill>
              <a:srgbClr val="2563EB"/>
            </a:solidFill>
          </a:ln>
        </p:spPr>
      </p:sp>
      <p:sp>
        <p:nvSpPr>
          <p:cNvPr id="54" name="Text 52"/>
          <p:cNvSpPr txBox="1"/>
          <p:nvPr/>
        </p:nvSpPr>
        <p:spPr>
          <a:xfrm>
            <a:off x="495300" y="6069140"/>
            <a:ext cx="11201400" cy="1238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975"/>
              </a:lnSpc>
              <a:buNone/>
            </a:pPr>
            <a:r>
              <a:rPr b="1" sz="750" spc="75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STRATEGIC INSIGHT</a:t>
            </a:r>
            <a:endParaRPr/>
          </a:p>
        </p:txBody>
      </p:sp>
      <p:sp>
        <p:nvSpPr>
          <p:cNvPr id="55" name="Text 53"/>
          <p:cNvSpPr txBox="1"/>
          <p:nvPr/>
        </p:nvSpPr>
        <p:spPr>
          <a:xfrm>
            <a:off x="495300" y="6203785"/>
            <a:ext cx="11201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305"/>
              </a:lnSpc>
              <a:buNone/>
            </a:pPr>
            <a:r>
              <a:rPr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Growth is unlocked by orchestrating availability, discoverability, and repeat purchase strategies tailored to each platform's strengths.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4"/>
          <p:cNvSpPr txBox="1"/>
          <p:nvPr/>
        </p:nvSpPr>
        <p:spPr>
          <a:xfrm>
            <a:off x="361950" y="366922"/>
            <a:ext cx="114681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2828"/>
              </a:lnSpc>
              <a:buNone/>
            </a:pPr>
            <a:r>
              <a:rPr b="1" sz="21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Our 4-Phase Framework to Build Category Share</a:t>
            </a:r>
            <a:endParaRPr/>
          </a:p>
        </p:txBody>
      </p:sp>
      <p:sp>
        <p:nvSpPr>
          <p:cNvPr id="3" name="Text 55"/>
          <p:cNvSpPr txBox="1"/>
          <p:nvPr/>
        </p:nvSpPr>
        <p:spPr>
          <a:xfrm>
            <a:off x="361950" y="772135"/>
            <a:ext cx="114681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443"/>
              </a:lnSpc>
              <a:buNone/>
            </a:pPr>
            <a:r>
              <a:rPr sz="975">
                <a:solidFill>
                  <a:srgbClr val="55627A"/>
                </a:solidFill>
                <a:latin typeface="Noto Sans JP"/>
                <a:ea typeface="Noto Sans JP"/>
                <a:cs typeface="Noto Sans JP"/>
              </a:rPr>
              <a:t>The framework moves from building visibility to driving offtakes, capturing market share, and ultimately maximizing profitability.</a:t>
            </a:r>
            <a:endParaRPr/>
          </a:p>
        </p:txBody>
      </p:sp>
      <p:sp>
        <p:nvSpPr>
          <p:cNvPr id="4" name="Shape 34"/>
          <p:cNvSpPr/>
          <p:nvPr/>
        </p:nvSpPr>
        <p:spPr>
          <a:xfrm>
            <a:off x="361950" y="2295525"/>
            <a:ext cx="11468100" cy="4200525"/>
          </a:xfrm>
          <a:prstGeom prst="roundRect">
            <a:avLst>
              <a:gd name="adj" fmla="val 362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5" name="Text 56"/>
          <p:cNvSpPr txBox="1"/>
          <p:nvPr/>
        </p:nvSpPr>
        <p:spPr>
          <a:xfrm>
            <a:off x="571500" y="2507475"/>
            <a:ext cx="110490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365"/>
              </a:lnSpc>
              <a:buNone/>
            </a:pPr>
            <a:r>
              <a:rPr b="1" sz="10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Sequential progression from visibility to profitability</a:t>
            </a:r>
            <a:endParaRPr/>
          </a:p>
        </p:txBody>
      </p:sp>
      <p:sp>
        <p:nvSpPr>
          <p:cNvPr id="6" name="Shape 35"/>
          <p:cNvSpPr/>
          <p:nvPr/>
        </p:nvSpPr>
        <p:spPr>
          <a:xfrm>
            <a:off x="3638550" y="3271838"/>
            <a:ext cx="1428750" cy="762000"/>
          </a:xfrm>
          <a:custGeom>
            <a:avLst/>
            <a:gdLst/>
            <a:ahLst/>
            <a:cxnLst/>
            <a:rect l="l" t="t" r="r" b="b"/>
            <a:pathLst>
              <a:path w="1428750" h="762000">
                <a:moveTo>
                  <a:pt x="0" y="0"/>
                </a:moveTo>
                <a:lnTo>
                  <a:pt x="1162050" y="0"/>
                </a:lnTo>
                <a:lnTo>
                  <a:pt x="1428750" y="381000"/>
                </a:lnTo>
                <a:lnTo>
                  <a:pt x="1162050" y="762000"/>
                </a:lnTo>
                <a:lnTo>
                  <a:pt x="0" y="762000"/>
                </a:lnTo>
                <a:close/>
              </a:path>
            </a:pathLst>
          </a:custGeom>
          <a:solidFill>
            <a:srgbClr val="BFD3F7"/>
          </a:solidFill>
          <a:ln>
            <a:noFill/>
          </a:ln>
        </p:spPr>
      </p:sp>
      <p:sp>
        <p:nvSpPr>
          <p:cNvPr id="7" name="Text 57"/>
          <p:cNvSpPr txBox="1"/>
          <p:nvPr/>
        </p:nvSpPr>
        <p:spPr>
          <a:xfrm>
            <a:off x="3638550" y="3271838"/>
            <a:ext cx="116205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b="1"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Foundation &amp; Hygiene</a:t>
            </a:r>
            <a:endParaRPr/>
          </a:p>
        </p:txBody>
      </p:sp>
      <p:sp>
        <p:nvSpPr>
          <p:cNvPr id="8" name="Shape 36"/>
          <p:cNvSpPr/>
          <p:nvPr/>
        </p:nvSpPr>
        <p:spPr>
          <a:xfrm>
            <a:off x="4800600" y="3271838"/>
            <a:ext cx="1428750" cy="762000"/>
          </a:xfrm>
          <a:custGeom>
            <a:avLst/>
            <a:gdLst/>
            <a:ahLst/>
            <a:cxnLst/>
            <a:rect l="l" t="t" r="r" b="b"/>
            <a:pathLst>
              <a:path w="1428750" h="762000">
                <a:moveTo>
                  <a:pt x="0" y="0"/>
                </a:moveTo>
                <a:lnTo>
                  <a:pt x="1162050" y="0"/>
                </a:lnTo>
                <a:lnTo>
                  <a:pt x="1428750" y="381000"/>
                </a:lnTo>
                <a:lnTo>
                  <a:pt x="1162050" y="762000"/>
                </a:lnTo>
                <a:lnTo>
                  <a:pt x="0" y="762000"/>
                </a:lnTo>
                <a:lnTo>
                  <a:pt x="266700" y="381000"/>
                </a:lnTo>
                <a:close/>
              </a:path>
            </a:pathLst>
          </a:custGeom>
          <a:solidFill>
            <a:srgbClr val="60A5FA"/>
          </a:solidFill>
          <a:ln>
            <a:noFill/>
          </a:ln>
        </p:spPr>
      </p:sp>
      <p:sp>
        <p:nvSpPr>
          <p:cNvPr id="9" name="Text 58"/>
          <p:cNvSpPr txBox="1"/>
          <p:nvPr/>
        </p:nvSpPr>
        <p:spPr>
          <a:xfrm>
            <a:off x="5067300" y="3271838"/>
            <a:ext cx="89535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b="1" sz="90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Market Share Capture</a:t>
            </a:r>
            <a:endParaRPr/>
          </a:p>
        </p:txBody>
      </p:sp>
      <p:sp>
        <p:nvSpPr>
          <p:cNvPr id="10" name="Shape 37"/>
          <p:cNvSpPr/>
          <p:nvPr/>
        </p:nvSpPr>
        <p:spPr>
          <a:xfrm>
            <a:off x="5962650" y="3271838"/>
            <a:ext cx="1428750" cy="762000"/>
          </a:xfrm>
          <a:custGeom>
            <a:avLst/>
            <a:gdLst/>
            <a:ahLst/>
            <a:cxnLst/>
            <a:rect l="l" t="t" r="r" b="b"/>
            <a:pathLst>
              <a:path w="1428750" h="762000">
                <a:moveTo>
                  <a:pt x="0" y="0"/>
                </a:moveTo>
                <a:lnTo>
                  <a:pt x="1162050" y="0"/>
                </a:lnTo>
                <a:lnTo>
                  <a:pt x="1428750" y="381000"/>
                </a:lnTo>
                <a:lnTo>
                  <a:pt x="1162050" y="762000"/>
                </a:lnTo>
                <a:lnTo>
                  <a:pt x="0" y="762000"/>
                </a:lnTo>
                <a:lnTo>
                  <a:pt x="266700" y="3810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  <p:sp>
        <p:nvSpPr>
          <p:cNvPr id="11" name="Text 59"/>
          <p:cNvSpPr txBox="1"/>
          <p:nvPr/>
        </p:nvSpPr>
        <p:spPr>
          <a:xfrm>
            <a:off x="6229350" y="3271838"/>
            <a:ext cx="89535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b="1" sz="90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Consumer Expansion</a:t>
            </a:r>
            <a:endParaRPr/>
          </a:p>
        </p:txBody>
      </p:sp>
      <p:sp>
        <p:nvSpPr>
          <p:cNvPr id="12" name="Shape 38"/>
          <p:cNvSpPr/>
          <p:nvPr/>
        </p:nvSpPr>
        <p:spPr>
          <a:xfrm>
            <a:off x="7124700" y="3271838"/>
            <a:ext cx="1428750" cy="762000"/>
          </a:xfrm>
          <a:custGeom>
            <a:avLst/>
            <a:gdLst/>
            <a:ahLst/>
            <a:cxnLst/>
            <a:rect l="l" t="t" r="r" b="b"/>
            <a:pathLst>
              <a:path w="1428750" h="762000">
                <a:moveTo>
                  <a:pt x="0" y="0"/>
                </a:moveTo>
                <a:lnTo>
                  <a:pt x="1162050" y="0"/>
                </a:lnTo>
                <a:lnTo>
                  <a:pt x="1428750" y="381000"/>
                </a:lnTo>
                <a:lnTo>
                  <a:pt x="1162050" y="762000"/>
                </a:lnTo>
                <a:lnTo>
                  <a:pt x="0" y="762000"/>
                </a:lnTo>
                <a:lnTo>
                  <a:pt x="266700" y="381000"/>
                </a:lnTo>
                <a:close/>
              </a:path>
            </a:pathLst>
          </a:custGeom>
          <a:solidFill>
            <a:srgbClr val="1E3A8A"/>
          </a:solidFill>
          <a:ln>
            <a:noFill/>
          </a:ln>
        </p:spPr>
      </p:sp>
      <p:sp>
        <p:nvSpPr>
          <p:cNvPr id="13" name="Text 60"/>
          <p:cNvSpPr txBox="1"/>
          <p:nvPr/>
        </p:nvSpPr>
        <p:spPr>
          <a:xfrm>
            <a:off x="7391400" y="3271838"/>
            <a:ext cx="89535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b="1" sz="90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Scale &amp; Profitability</a:t>
            </a:r>
            <a:endParaRPr/>
          </a:p>
        </p:txBody>
      </p:sp>
      <p:sp>
        <p:nvSpPr>
          <p:cNvPr id="14" name="Text 61"/>
          <p:cNvSpPr txBox="1"/>
          <p:nvPr/>
        </p:nvSpPr>
        <p:spPr>
          <a:xfrm>
            <a:off x="571500" y="4622635"/>
            <a:ext cx="11049000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305"/>
              </a:lnSpc>
              <a:buNone/>
            </a:pPr>
            <a:r>
              <a:rPr b="1"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Phase 1:</a:t>
            </a:r>
            <a:r>
              <a:rPr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 Availability tracking, out-of-stock reduction, search audit, visibility benchmarking, portfolio prioritization.</a:t>
            </a:r>
            <a:endParaRPr/>
          </a:p>
        </p:txBody>
      </p:sp>
      <p:sp>
        <p:nvSpPr>
          <p:cNvPr id="15" name="Text 62"/>
          <p:cNvSpPr txBox="1"/>
          <p:nvPr/>
        </p:nvSpPr>
        <p:spPr>
          <a:xfrm>
            <a:off x="571500" y="4860760"/>
            <a:ext cx="110490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305"/>
              </a:lnSpc>
              <a:buNone/>
            </a:pPr>
            <a:r>
              <a:rPr b="1"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Phase 2:</a:t>
            </a:r>
            <a:r>
              <a:rPr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 Search dominance, sponsored placements, keyword expansion, competitor conquesting, category page visibility.</a:t>
            </a:r>
            <a:endParaRPr/>
          </a:p>
        </p:txBody>
      </p:sp>
      <p:sp>
        <p:nvSpPr>
          <p:cNvPr id="16" name="Text 63"/>
          <p:cNvSpPr txBox="1"/>
          <p:nvPr/>
        </p:nvSpPr>
        <p:spPr>
          <a:xfrm>
            <a:off x="571500" y="5098885"/>
            <a:ext cx="110490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305"/>
              </a:lnSpc>
              <a:buNone/>
            </a:pPr>
            <a:r>
              <a:rPr b="1"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Phase 3:</a:t>
            </a:r>
            <a:r>
              <a:rPr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 Target new-to-brand/category consumers, expand cross-platform and geographically.</a:t>
            </a:r>
            <a:endParaRPr/>
          </a:p>
        </p:txBody>
      </p:sp>
      <p:sp>
        <p:nvSpPr>
          <p:cNvPr id="17" name="Text 64"/>
          <p:cNvSpPr txBox="1"/>
          <p:nvPr/>
        </p:nvSpPr>
        <p:spPr>
          <a:xfrm>
            <a:off x="571500" y="5346535"/>
            <a:ext cx="11049000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305"/>
              </a:lnSpc>
              <a:buNone/>
            </a:pPr>
            <a:r>
              <a:rPr b="1"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Phase 4:</a:t>
            </a:r>
            <a:r>
              <a:rPr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 Automation-led optimization, focus on incrementality, accelerate repeat purchase, scale portfolio for sustainable growth.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5"/>
          <p:cNvSpPr txBox="1"/>
          <p:nvPr/>
        </p:nvSpPr>
        <p:spPr>
          <a:xfrm>
            <a:off x="361950" y="363836"/>
            <a:ext cx="1146810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073"/>
              </a:lnSpc>
              <a:buNone/>
            </a:pPr>
            <a:r>
              <a:rPr b="1" sz="825" spc="150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COMMERCE INTELLIGENCE</a:t>
            </a:r>
            <a:endParaRPr/>
          </a:p>
        </p:txBody>
      </p:sp>
      <p:sp>
        <p:nvSpPr>
          <p:cNvPr id="3" name="Text 66"/>
          <p:cNvSpPr txBox="1"/>
          <p:nvPr/>
        </p:nvSpPr>
        <p:spPr>
          <a:xfrm>
            <a:off x="361950" y="548069"/>
            <a:ext cx="11468100" cy="3714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2925"/>
              </a:lnSpc>
              <a:buNone/>
            </a:pPr>
            <a:r>
              <a:rPr b="1" sz="22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How Our Commerce Intelligence Platform Drives Faster Growth</a:t>
            </a:r>
            <a:endParaRPr/>
          </a:p>
        </p:txBody>
      </p:sp>
      <p:sp>
        <p:nvSpPr>
          <p:cNvPr id="4" name="Text 67"/>
          <p:cNvSpPr txBox="1"/>
          <p:nvPr/>
        </p:nvSpPr>
        <p:spPr>
          <a:xfrm>
            <a:off x="361950" y="964082"/>
            <a:ext cx="114681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170"/>
              </a:lnSpc>
              <a:buNone/>
            </a:pPr>
            <a:r>
              <a:rPr sz="900">
                <a:solidFill>
                  <a:srgbClr val="55627A"/>
                </a:solidFill>
                <a:latin typeface="Noto Sans JP"/>
                <a:ea typeface="Noto Sans JP"/>
                <a:cs typeface="Noto Sans JP"/>
              </a:rPr>
              <a:t>Data-driven execution, automation, and platform scale levers unlock outsized growth in Quick Commerce.</a:t>
            </a:r>
            <a:endParaRPr/>
          </a:p>
        </p:txBody>
      </p:sp>
      <p:sp>
        <p:nvSpPr>
          <p:cNvPr id="5" name="Shape 39"/>
          <p:cNvSpPr/>
          <p:nvPr/>
        </p:nvSpPr>
        <p:spPr>
          <a:xfrm>
            <a:off x="361950" y="1304925"/>
            <a:ext cx="11468100" cy="2981325"/>
          </a:xfrm>
          <a:prstGeom prst="roundRect">
            <a:avLst>
              <a:gd name="adj" fmla="val 447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" name="Text 68"/>
          <p:cNvSpPr txBox="1"/>
          <p:nvPr/>
        </p:nvSpPr>
        <p:spPr>
          <a:xfrm>
            <a:off x="571500" y="1516875"/>
            <a:ext cx="110490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365"/>
              </a:lnSpc>
              <a:buNone/>
            </a:pPr>
            <a:r>
              <a:rPr b="1" sz="10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Control Tower: Key Metrics Tracked</a:t>
            </a:r>
            <a:endParaRPr/>
          </a:p>
        </p:txBody>
      </p:sp>
      <p:sp>
        <p:nvSpPr>
          <p:cNvPr id="7" name="Text 69"/>
          <p:cNvSpPr txBox="1"/>
          <p:nvPr/>
        </p:nvSpPr>
        <p:spPr>
          <a:xfrm>
            <a:off x="571500" y="1866900"/>
            <a:ext cx="11049000" cy="11715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Share of Search</a:t>
            </a:r>
            <a:endParaRPr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Share of Shelf</a:t>
            </a:r>
            <a:endParaRPr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Availability Monitoring</a:t>
            </a:r>
            <a:endParaRPr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Pricing Intelligence</a:t>
            </a:r>
            <a:endParaRPr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Competitor Monitoring across platforms</a:t>
            </a:r>
            <a:endParaRPr/>
          </a:p>
        </p:txBody>
      </p:sp>
      <p:sp>
        <p:nvSpPr>
          <p:cNvPr id="8" name="Text 70"/>
          <p:cNvSpPr txBox="1"/>
          <p:nvPr/>
        </p:nvSpPr>
        <p:spPr>
          <a:xfrm>
            <a:off x="571500" y="3269475"/>
            <a:ext cx="11049000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365"/>
              </a:lnSpc>
              <a:buNone/>
            </a:pPr>
            <a:r>
              <a:rPr b="1" sz="10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Advanced Analytics Features</a:t>
            </a:r>
            <a:endParaRPr/>
          </a:p>
        </p:txBody>
      </p:sp>
      <p:sp>
        <p:nvSpPr>
          <p:cNvPr id="9" name="Text 71"/>
          <p:cNvSpPr txBox="1"/>
          <p:nvPr/>
        </p:nvSpPr>
        <p:spPr>
          <a:xfrm>
            <a:off x="571500" y="3619500"/>
            <a:ext cx="11049000" cy="4762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SKU-level performance analytics</a:t>
            </a:r>
            <a:endParaRPr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City-level opportunity mapping identify high-potential growth pockets and category trends</a:t>
            </a:r>
            <a:endParaRPr/>
          </a:p>
        </p:txBody>
      </p:sp>
      <p:sp>
        <p:nvSpPr>
          <p:cNvPr id="10" name="Shape 40"/>
          <p:cNvSpPr/>
          <p:nvPr/>
        </p:nvSpPr>
        <p:spPr>
          <a:xfrm>
            <a:off x="361950" y="4457700"/>
            <a:ext cx="11468100" cy="11620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" name="Shape 41"/>
          <p:cNvSpPr/>
          <p:nvPr/>
        </p:nvSpPr>
        <p:spPr>
          <a:xfrm>
            <a:off x="361950" y="4457700"/>
            <a:ext cx="0" cy="1162050"/>
          </a:xfrm>
          <a:prstGeom prst="line">
            <a:avLst/>
          </a:prstGeom>
          <a:noFill/>
          <a:ln w="47625">
            <a:solidFill>
              <a:srgbClr val="2563EB"/>
            </a:solidFill>
          </a:ln>
        </p:spPr>
      </p:sp>
      <p:sp>
        <p:nvSpPr>
          <p:cNvPr id="12" name="Text 72"/>
          <p:cNvSpPr txBox="1"/>
          <p:nvPr/>
        </p:nvSpPr>
        <p:spPr>
          <a:xfrm>
            <a:off x="533400" y="4631207"/>
            <a:ext cx="11125200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170"/>
              </a:lnSpc>
              <a:buNone/>
            </a:pPr>
            <a:r>
              <a:rPr b="1" sz="900" spc="75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AGILE EXECUTION</a:t>
            </a:r>
            <a:endParaRPr/>
          </a:p>
        </p:txBody>
      </p:sp>
      <p:sp>
        <p:nvSpPr>
          <p:cNvPr id="13" name="Text 73"/>
          <p:cNvSpPr txBox="1"/>
          <p:nvPr/>
        </p:nvSpPr>
        <p:spPr>
          <a:xfrm>
            <a:off x="533400" y="4841167"/>
            <a:ext cx="11125200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414"/>
              </a:lnSpc>
              <a:buNone/>
            </a:pPr>
            <a:r>
              <a:rPr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Platform-wise growth pockets are surfaced for targeted execution, enabling agile response to market dynamics.</a:t>
            </a:r>
            <a:endParaRPr/>
          </a:p>
        </p:txBody>
      </p:sp>
      <p:sp>
        <p:nvSpPr>
          <p:cNvPr id="14" name="Shape 42"/>
          <p:cNvSpPr/>
          <p:nvPr/>
        </p:nvSpPr>
        <p:spPr>
          <a:xfrm>
            <a:off x="361950" y="5791200"/>
            <a:ext cx="11468100" cy="704850"/>
          </a:xfrm>
          <a:prstGeom prst="roundRect">
            <a:avLst>
              <a:gd name="adj" fmla="val 21622"/>
            </a:avLst>
          </a:prstGeom>
          <a:solidFill>
            <a:srgbClr val="16202E"/>
          </a:solidFill>
          <a:ln>
            <a:noFill/>
          </a:ln>
        </p:spPr>
      </p:sp>
      <p:sp>
        <p:nvSpPr>
          <p:cNvPr id="15" name="Text 74"/>
          <p:cNvSpPr txBox="1"/>
          <p:nvPr/>
        </p:nvSpPr>
        <p:spPr>
          <a:xfrm>
            <a:off x="533400" y="5964707"/>
            <a:ext cx="1112520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170"/>
              </a:lnSpc>
              <a:buNone/>
            </a:pPr>
            <a:r>
              <a:rPr b="1" sz="900" spc="75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SCALABLE IMPACT</a:t>
            </a:r>
            <a:endParaRPr/>
          </a:p>
        </p:txBody>
      </p:sp>
      <p:sp>
        <p:nvSpPr>
          <p:cNvPr id="16" name="Text 75"/>
          <p:cNvSpPr txBox="1"/>
          <p:nvPr/>
        </p:nvSpPr>
        <p:spPr>
          <a:xfrm>
            <a:off x="533400" y="6146092"/>
            <a:ext cx="111252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414"/>
              </a:lnSpc>
              <a:buNone/>
            </a:pPr>
            <a:r>
              <a:rPr sz="975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Data-driven insights ensure that every action is measurable and scalable, directly impacting business outcomes.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6"/>
          <p:cNvSpPr txBox="1"/>
          <p:nvPr/>
        </p:nvSpPr>
        <p:spPr>
          <a:xfrm>
            <a:off x="361950" y="366922"/>
            <a:ext cx="114681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2828"/>
              </a:lnSpc>
              <a:buNone/>
            </a:pPr>
            <a:r>
              <a:rPr b="1" sz="21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Ads Automation Engine Designed for Quick Commerce</a:t>
            </a:r>
            <a:endParaRPr/>
          </a:p>
        </p:txBody>
      </p:sp>
      <p:sp>
        <p:nvSpPr>
          <p:cNvPr id="3" name="Shape 43"/>
          <p:cNvSpPr/>
          <p:nvPr/>
        </p:nvSpPr>
        <p:spPr>
          <a:xfrm>
            <a:off x="361950" y="1047750"/>
            <a:ext cx="11468100" cy="3209925"/>
          </a:xfrm>
          <a:prstGeom prst="roundRect">
            <a:avLst>
              <a:gd name="adj" fmla="val 415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" name="Text 77"/>
          <p:cNvSpPr txBox="1"/>
          <p:nvPr/>
        </p:nvSpPr>
        <p:spPr>
          <a:xfrm>
            <a:off x="552450" y="1240479"/>
            <a:ext cx="110871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268"/>
              </a:lnSpc>
              <a:buNone/>
            </a:pPr>
            <a:r>
              <a:rPr b="1"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Automation Workflow</a:t>
            </a:r>
            <a:endParaRPr/>
          </a:p>
        </p:txBody>
      </p:sp>
      <p:sp>
        <p:nvSpPr>
          <p:cNvPr id="5" name="Shape 44"/>
          <p:cNvSpPr/>
          <p:nvPr/>
        </p:nvSpPr>
        <p:spPr>
          <a:xfrm>
            <a:off x="2924175" y="2795588"/>
            <a:ext cx="457200" cy="0"/>
          </a:xfrm>
          <a:prstGeom prst="line">
            <a:avLst/>
          </a:prstGeom>
          <a:noFill/>
          <a:ln w="19050">
            <a:solidFill>
              <a:srgbClr val="333333"/>
            </a:solidFill>
            <a:tailEnd type="triangle" w="med" len="med"/>
          </a:ln>
        </p:spPr>
      </p:sp>
      <p:sp>
        <p:nvSpPr>
          <p:cNvPr id="6" name="Shape 45"/>
          <p:cNvSpPr/>
          <p:nvPr/>
        </p:nvSpPr>
        <p:spPr>
          <a:xfrm>
            <a:off x="4886325" y="2795588"/>
            <a:ext cx="457200" cy="0"/>
          </a:xfrm>
          <a:prstGeom prst="line">
            <a:avLst/>
          </a:prstGeom>
          <a:noFill/>
          <a:ln w="19050">
            <a:solidFill>
              <a:srgbClr val="333333"/>
            </a:solidFill>
            <a:tailEnd type="triangle" w="med" len="med"/>
          </a:ln>
        </p:spPr>
      </p:sp>
      <p:sp>
        <p:nvSpPr>
          <p:cNvPr id="7" name="Shape 46"/>
          <p:cNvSpPr/>
          <p:nvPr/>
        </p:nvSpPr>
        <p:spPr>
          <a:xfrm>
            <a:off x="4886325" y="2795588"/>
            <a:ext cx="2419350" cy="0"/>
          </a:xfrm>
          <a:prstGeom prst="line">
            <a:avLst/>
          </a:prstGeom>
          <a:noFill/>
          <a:ln w="19050">
            <a:solidFill>
              <a:srgbClr val="333333"/>
            </a:solidFill>
            <a:tailEnd type="triangle" w="med" len="med"/>
          </a:ln>
        </p:spPr>
      </p:sp>
      <p:sp>
        <p:nvSpPr>
          <p:cNvPr id="8" name="Shape 47"/>
          <p:cNvSpPr/>
          <p:nvPr/>
        </p:nvSpPr>
        <p:spPr>
          <a:xfrm>
            <a:off x="4886325" y="2795588"/>
            <a:ext cx="4381500" cy="0"/>
          </a:xfrm>
          <a:prstGeom prst="line">
            <a:avLst/>
          </a:prstGeom>
          <a:noFill/>
          <a:ln w="19050">
            <a:solidFill>
              <a:srgbClr val="333333"/>
            </a:solidFill>
            <a:tailEnd type="triangle" w="med" len="med"/>
          </a:ln>
        </p:spPr>
      </p:sp>
      <p:sp>
        <p:nvSpPr>
          <p:cNvPr id="9" name="Shape 48"/>
          <p:cNvSpPr/>
          <p:nvPr/>
        </p:nvSpPr>
        <p:spPr>
          <a:xfrm>
            <a:off x="1419225" y="2538413"/>
            <a:ext cx="1504950" cy="514350"/>
          </a:xfrm>
          <a:prstGeom prst="flowChartProcess">
            <a:avLst/>
          </a:prstGeom>
          <a:solidFill>
            <a:srgbClr val="2563EB"/>
          </a:solidFill>
          <a:ln w="9525">
            <a:solidFill>
              <a:srgbClr val="333333"/>
            </a:solidFill>
          </a:ln>
        </p:spPr>
        <p:txBody>
          <a:bodyPr wrap="square" anchor="ctr"/>
          <a:lstStyle/>
          <a:p>
            <a:pPr algn="ctr"/>
            <a:r>
              <a:rPr sz="105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Platform Data</a:t>
            </a:r>
            <a:endParaRPr/>
          </a:p>
        </p:txBody>
      </p:sp>
      <p:sp>
        <p:nvSpPr>
          <p:cNvPr id="10" name="Shape 49"/>
          <p:cNvSpPr/>
          <p:nvPr/>
        </p:nvSpPr>
        <p:spPr>
          <a:xfrm>
            <a:off x="3381375" y="2538413"/>
            <a:ext cx="1504950" cy="514350"/>
          </a:xfrm>
          <a:prstGeom prst="flowChartDecision">
            <a:avLst/>
          </a:prstGeom>
          <a:solidFill>
            <a:srgbClr val="0EA5E9"/>
          </a:solidFill>
          <a:ln w="9525">
            <a:solidFill>
              <a:srgbClr val="333333"/>
            </a:solidFill>
          </a:ln>
        </p:spPr>
        <p:txBody>
          <a:bodyPr wrap="square" anchor="ctr"/>
          <a:lstStyle/>
          <a:p>
            <a:pPr algn="ctr"/>
            <a:r>
              <a:rPr sz="105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Decision Engine</a:t>
            </a:r>
            <a:endParaRPr/>
          </a:p>
        </p:txBody>
      </p:sp>
      <p:sp>
        <p:nvSpPr>
          <p:cNvPr id="11" name="Shape 50"/>
          <p:cNvSpPr/>
          <p:nvPr/>
        </p:nvSpPr>
        <p:spPr>
          <a:xfrm>
            <a:off x="5343525" y="2538413"/>
            <a:ext cx="1504950" cy="514350"/>
          </a:xfrm>
          <a:prstGeom prst="flowChartProcess">
            <a:avLst/>
          </a:prstGeom>
          <a:solidFill>
            <a:srgbClr val="2563EB"/>
          </a:solidFill>
          <a:ln w="9525">
            <a:solidFill>
              <a:srgbClr val="333333"/>
            </a:solidFill>
          </a:ln>
        </p:spPr>
        <p:txBody>
          <a:bodyPr wrap="square" anchor="ctr"/>
          <a:lstStyle/>
          <a:p>
            <a:pPr algn="ctr"/>
            <a:r>
              <a:rPr sz="105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Bid Optimization</a:t>
            </a:r>
            <a:endParaRPr/>
          </a:p>
        </p:txBody>
      </p:sp>
      <p:sp>
        <p:nvSpPr>
          <p:cNvPr id="12" name="Shape 51"/>
          <p:cNvSpPr/>
          <p:nvPr/>
        </p:nvSpPr>
        <p:spPr>
          <a:xfrm>
            <a:off x="7305675" y="2538413"/>
            <a:ext cx="1504950" cy="514350"/>
          </a:xfrm>
          <a:prstGeom prst="flowChartProcess">
            <a:avLst/>
          </a:prstGeom>
          <a:solidFill>
            <a:srgbClr val="2563EB"/>
          </a:solidFill>
          <a:ln w="9525">
            <a:solidFill>
              <a:srgbClr val="333333"/>
            </a:solidFill>
          </a:ln>
        </p:spPr>
        <p:txBody>
          <a:bodyPr wrap="square" anchor="ctr"/>
          <a:lstStyle/>
          <a:p>
            <a:pPr algn="ctr"/>
            <a:r>
              <a:rPr sz="105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Budget Reallocation</a:t>
            </a:r>
            <a:endParaRPr/>
          </a:p>
        </p:txBody>
      </p:sp>
      <p:sp>
        <p:nvSpPr>
          <p:cNvPr id="13" name="Shape 52"/>
          <p:cNvSpPr/>
          <p:nvPr/>
        </p:nvSpPr>
        <p:spPr>
          <a:xfrm>
            <a:off x="9267825" y="2538413"/>
            <a:ext cx="1504950" cy="514350"/>
          </a:xfrm>
          <a:prstGeom prst="flowChartProcess">
            <a:avLst/>
          </a:prstGeom>
          <a:solidFill>
            <a:srgbClr val="2563EB"/>
          </a:solidFill>
          <a:ln w="9525">
            <a:solidFill>
              <a:srgbClr val="333333"/>
            </a:solidFill>
          </a:ln>
        </p:spPr>
        <p:txBody>
          <a:bodyPr wrap="square" anchor="ctr"/>
          <a:lstStyle/>
          <a:p>
            <a:pPr algn="ctr"/>
            <a:r>
              <a:rPr sz="105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Keyword Expansion &amp; Placement Optimization</a:t>
            </a:r>
            <a:endParaRPr/>
          </a:p>
        </p:txBody>
      </p:sp>
      <p:sp>
        <p:nvSpPr>
          <p:cNvPr id="14" name="Shape 53"/>
          <p:cNvSpPr/>
          <p:nvPr/>
        </p:nvSpPr>
        <p:spPr>
          <a:xfrm>
            <a:off x="361950" y="4429125"/>
            <a:ext cx="7000875" cy="2066925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5" name="Text 78"/>
          <p:cNvSpPr txBox="1"/>
          <p:nvPr/>
        </p:nvSpPr>
        <p:spPr>
          <a:xfrm>
            <a:off x="552450" y="4810125"/>
            <a:ext cx="6629400" cy="1304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sz="975">
                <a:solidFill>
                  <a:srgbClr val="16202E"/>
                </a:solidFill>
                <a:highlight>
                  <a:srgbClr val="EEF2FD"/>
                </a:highlight>
                <a:latin typeface="Noto Sans JP"/>
                <a:ea typeface="Noto Sans JP"/>
                <a:cs typeface="Noto Sans JP"/>
              </a:rPr>
              <a:t>Faster optimization cycles (reducing reaction time from weeks to hours)</a:t>
            </a:r>
            <a:endParaRPr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Reduced manual intervention</a:t>
            </a:r>
            <a:endParaRPr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sz="975">
                <a:solidFill>
                  <a:srgbClr val="16202E"/>
                </a:solidFill>
                <a:highlight>
                  <a:srgbClr val="EEF2FD"/>
                </a:highlight>
                <a:latin typeface="Noto Sans JP"/>
                <a:ea typeface="Noto Sans JP"/>
                <a:cs typeface="Noto Sans JP"/>
              </a:rPr>
              <a:t>Improved ROAS</a:t>
            </a:r>
            <a:endParaRPr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Increased share of visibility</a:t>
            </a:r>
            <a:endParaRPr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Higher conversion efficiency</a:t>
            </a:r>
            <a:endParaRPr/>
          </a:p>
        </p:txBody>
      </p:sp>
      <p:sp>
        <p:nvSpPr>
          <p:cNvPr id="16" name="Shape 54"/>
          <p:cNvSpPr/>
          <p:nvPr/>
        </p:nvSpPr>
        <p:spPr>
          <a:xfrm>
            <a:off x="7534275" y="4429125"/>
            <a:ext cx="4295775" cy="2066925"/>
          </a:xfrm>
          <a:prstGeom prst="roundRect">
            <a:avLst>
              <a:gd name="adj" fmla="val 6452"/>
            </a:avLst>
          </a:prstGeom>
          <a:solidFill>
            <a:srgbClr val="16202E"/>
          </a:solidFill>
          <a:ln>
            <a:noFill/>
          </a:ln>
        </p:spPr>
      </p:sp>
      <p:sp>
        <p:nvSpPr>
          <p:cNvPr id="17" name="Text 79"/>
          <p:cNvSpPr txBox="1"/>
          <p:nvPr/>
        </p:nvSpPr>
        <p:spPr>
          <a:xfrm>
            <a:off x="7705725" y="5277002"/>
            <a:ext cx="3952875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350"/>
              </a:lnSpc>
              <a:buNone/>
            </a:pPr>
            <a:r>
              <a:rPr sz="90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Automation enables real-time response to market changes, ensuring XTSY stays ahead of competitors in capturing demand.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80"/>
          <p:cNvSpPr txBox="1"/>
          <p:nvPr/>
        </p:nvSpPr>
        <p:spPr>
          <a:xfrm>
            <a:off x="361950" y="363836"/>
            <a:ext cx="1146810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073"/>
              </a:lnSpc>
              <a:buNone/>
            </a:pPr>
            <a:r>
              <a:rPr b="1" sz="825" spc="150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EXPECTED BUSINESS IMPACT</a:t>
            </a:r>
            <a:endParaRPr/>
          </a:p>
        </p:txBody>
      </p:sp>
      <p:sp>
        <p:nvSpPr>
          <p:cNvPr id="3" name="Text 81"/>
          <p:cNvSpPr txBox="1"/>
          <p:nvPr/>
        </p:nvSpPr>
        <p:spPr>
          <a:xfrm>
            <a:off x="361950" y="559499"/>
            <a:ext cx="11468100" cy="3524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2745"/>
              </a:lnSpc>
              <a:buNone/>
            </a:pPr>
            <a:r>
              <a:rPr b="1" sz="22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Growth Levers for XTSY in Quick Commerce</a:t>
            </a:r>
            <a:endParaRPr/>
          </a:p>
        </p:txBody>
      </p:sp>
      <p:sp>
        <p:nvSpPr>
          <p:cNvPr id="4" name="Text 82"/>
          <p:cNvSpPr txBox="1"/>
          <p:nvPr/>
        </p:nvSpPr>
        <p:spPr>
          <a:xfrm>
            <a:off x="361950" y="929792"/>
            <a:ext cx="114681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260"/>
              </a:lnSpc>
              <a:buNone/>
            </a:pPr>
            <a:r>
              <a:rPr sz="900">
                <a:solidFill>
                  <a:srgbClr val="55627A"/>
                </a:solidFill>
                <a:latin typeface="Noto Sans JP"/>
                <a:ea typeface="Noto Sans JP"/>
                <a:cs typeface="Noto Sans JP"/>
              </a:rPr>
              <a:t>Quick Commerce is rapidly becoming the primary battleground for impulse beverage brands. XTSY can capture outsized growth by leveraging data-driven execution, automation, and platform-specific scale levers.</a:t>
            </a:r>
            <a:endParaRPr/>
          </a:p>
        </p:txBody>
      </p:sp>
      <p:sp>
        <p:nvSpPr>
          <p:cNvPr id="5" name="Shape 55"/>
          <p:cNvSpPr/>
          <p:nvPr/>
        </p:nvSpPr>
        <p:spPr>
          <a:xfrm>
            <a:off x="361950" y="1524000"/>
            <a:ext cx="11468100" cy="3219450"/>
          </a:xfrm>
          <a:prstGeom prst="roundRect">
            <a:avLst>
              <a:gd name="adj" fmla="val 414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" name="Text 83"/>
          <p:cNvSpPr txBox="1"/>
          <p:nvPr/>
        </p:nvSpPr>
        <p:spPr>
          <a:xfrm>
            <a:off x="571500" y="1735950"/>
            <a:ext cx="11049000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365"/>
              </a:lnSpc>
              <a:buNone/>
            </a:pPr>
            <a:r>
              <a:rPr b="1" sz="10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Growth Impact Framework</a:t>
            </a:r>
            <a:endParaRPr/>
          </a:p>
        </p:txBody>
      </p:sp>
      <p:sp>
        <p:nvSpPr>
          <p:cNvPr id="7" name="Shape 56"/>
          <p:cNvSpPr/>
          <p:nvPr/>
        </p:nvSpPr>
        <p:spPr>
          <a:xfrm>
            <a:off x="1895475" y="2762250"/>
            <a:ext cx="1428750" cy="762000"/>
          </a:xfrm>
          <a:custGeom>
            <a:avLst/>
            <a:gdLst/>
            <a:ahLst/>
            <a:cxnLst/>
            <a:rect l="l" t="t" r="r" b="b"/>
            <a:pathLst>
              <a:path w="1428750" h="762000">
                <a:moveTo>
                  <a:pt x="0" y="0"/>
                </a:moveTo>
                <a:lnTo>
                  <a:pt x="1162050" y="0"/>
                </a:lnTo>
                <a:lnTo>
                  <a:pt x="1428750" y="381000"/>
                </a:lnTo>
                <a:lnTo>
                  <a:pt x="1162050" y="762000"/>
                </a:lnTo>
                <a:lnTo>
                  <a:pt x="0" y="762000"/>
                </a:lnTo>
                <a:close/>
              </a:path>
            </a:pathLst>
          </a:custGeom>
          <a:solidFill>
            <a:srgbClr val="BFD3F7"/>
          </a:solidFill>
          <a:ln>
            <a:noFill/>
          </a:ln>
        </p:spPr>
      </p:sp>
      <p:sp>
        <p:nvSpPr>
          <p:cNvPr id="8" name="Text 84"/>
          <p:cNvSpPr txBox="1"/>
          <p:nvPr/>
        </p:nvSpPr>
        <p:spPr>
          <a:xfrm>
            <a:off x="1895475" y="2762250"/>
            <a:ext cx="116205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b="1"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Category Visibility ↑</a:t>
            </a:r>
            <a:endParaRPr/>
          </a:p>
        </p:txBody>
      </p:sp>
      <p:sp>
        <p:nvSpPr>
          <p:cNvPr id="9" name="Shape 57"/>
          <p:cNvSpPr/>
          <p:nvPr/>
        </p:nvSpPr>
        <p:spPr>
          <a:xfrm>
            <a:off x="3057525" y="2762250"/>
            <a:ext cx="1428750" cy="762000"/>
          </a:xfrm>
          <a:custGeom>
            <a:avLst/>
            <a:gdLst/>
            <a:ahLst/>
            <a:cxnLst/>
            <a:rect l="l" t="t" r="r" b="b"/>
            <a:pathLst>
              <a:path w="1428750" h="762000">
                <a:moveTo>
                  <a:pt x="0" y="0"/>
                </a:moveTo>
                <a:lnTo>
                  <a:pt x="1162050" y="0"/>
                </a:lnTo>
                <a:lnTo>
                  <a:pt x="1428750" y="381000"/>
                </a:lnTo>
                <a:lnTo>
                  <a:pt x="1162050" y="762000"/>
                </a:lnTo>
                <a:lnTo>
                  <a:pt x="0" y="762000"/>
                </a:lnTo>
                <a:lnTo>
                  <a:pt x="266700" y="381000"/>
                </a:lnTo>
                <a:close/>
              </a:path>
            </a:pathLst>
          </a:custGeom>
          <a:solidFill>
            <a:srgbClr val="A7C7F7"/>
          </a:solidFill>
          <a:ln>
            <a:noFill/>
          </a:ln>
        </p:spPr>
      </p:sp>
      <p:sp>
        <p:nvSpPr>
          <p:cNvPr id="10" name="Text 85"/>
          <p:cNvSpPr txBox="1"/>
          <p:nvPr/>
        </p:nvSpPr>
        <p:spPr>
          <a:xfrm>
            <a:off x="3324225" y="2762250"/>
            <a:ext cx="89535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b="1"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Search Share ↑</a:t>
            </a:r>
            <a:endParaRPr/>
          </a:p>
        </p:txBody>
      </p:sp>
      <p:sp>
        <p:nvSpPr>
          <p:cNvPr id="11" name="Shape 58"/>
          <p:cNvSpPr/>
          <p:nvPr/>
        </p:nvSpPr>
        <p:spPr>
          <a:xfrm>
            <a:off x="4219575" y="2762250"/>
            <a:ext cx="1428750" cy="762000"/>
          </a:xfrm>
          <a:custGeom>
            <a:avLst/>
            <a:gdLst/>
            <a:ahLst/>
            <a:cxnLst/>
            <a:rect l="l" t="t" r="r" b="b"/>
            <a:pathLst>
              <a:path w="1428750" h="762000">
                <a:moveTo>
                  <a:pt x="0" y="0"/>
                </a:moveTo>
                <a:lnTo>
                  <a:pt x="1162050" y="0"/>
                </a:lnTo>
                <a:lnTo>
                  <a:pt x="1428750" y="381000"/>
                </a:lnTo>
                <a:lnTo>
                  <a:pt x="1162050" y="762000"/>
                </a:lnTo>
                <a:lnTo>
                  <a:pt x="0" y="762000"/>
                </a:lnTo>
                <a:lnTo>
                  <a:pt x="266700" y="381000"/>
                </a:lnTo>
                <a:close/>
              </a:path>
            </a:pathLst>
          </a:custGeom>
          <a:solidFill>
            <a:srgbClr val="7FB2F6"/>
          </a:solidFill>
          <a:ln>
            <a:noFill/>
          </a:ln>
        </p:spPr>
      </p:sp>
      <p:sp>
        <p:nvSpPr>
          <p:cNvPr id="12" name="Text 86"/>
          <p:cNvSpPr txBox="1"/>
          <p:nvPr/>
        </p:nvSpPr>
        <p:spPr>
          <a:xfrm>
            <a:off x="4486275" y="2762250"/>
            <a:ext cx="89535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b="1"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Sponsored Placement Share ↑</a:t>
            </a:r>
            <a:endParaRPr/>
          </a:p>
        </p:txBody>
      </p:sp>
      <p:sp>
        <p:nvSpPr>
          <p:cNvPr id="13" name="Shape 59"/>
          <p:cNvSpPr/>
          <p:nvPr/>
        </p:nvSpPr>
        <p:spPr>
          <a:xfrm>
            <a:off x="5381625" y="2762250"/>
            <a:ext cx="1428750" cy="762000"/>
          </a:xfrm>
          <a:custGeom>
            <a:avLst/>
            <a:gdLst/>
            <a:ahLst/>
            <a:cxnLst/>
            <a:rect l="l" t="t" r="r" b="b"/>
            <a:pathLst>
              <a:path w="1428750" h="762000">
                <a:moveTo>
                  <a:pt x="0" y="0"/>
                </a:moveTo>
                <a:lnTo>
                  <a:pt x="1162050" y="0"/>
                </a:lnTo>
                <a:lnTo>
                  <a:pt x="1428750" y="381000"/>
                </a:lnTo>
                <a:lnTo>
                  <a:pt x="1162050" y="762000"/>
                </a:lnTo>
                <a:lnTo>
                  <a:pt x="0" y="762000"/>
                </a:lnTo>
                <a:lnTo>
                  <a:pt x="266700" y="381000"/>
                </a:lnTo>
                <a:close/>
              </a:path>
            </a:pathLst>
          </a:custGeom>
          <a:solidFill>
            <a:srgbClr val="60A5FA"/>
          </a:solidFill>
          <a:ln>
            <a:noFill/>
          </a:ln>
        </p:spPr>
      </p:sp>
      <p:sp>
        <p:nvSpPr>
          <p:cNvPr id="14" name="Text 87"/>
          <p:cNvSpPr txBox="1"/>
          <p:nvPr/>
        </p:nvSpPr>
        <p:spPr>
          <a:xfrm>
            <a:off x="5648325" y="2762250"/>
            <a:ext cx="89535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b="1" sz="975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New Consumer Acquisition ↑</a:t>
            </a:r>
            <a:endParaRPr/>
          </a:p>
        </p:txBody>
      </p:sp>
      <p:sp>
        <p:nvSpPr>
          <p:cNvPr id="15" name="Shape 60"/>
          <p:cNvSpPr/>
          <p:nvPr/>
        </p:nvSpPr>
        <p:spPr>
          <a:xfrm>
            <a:off x="6543675" y="2762250"/>
            <a:ext cx="1428750" cy="762000"/>
          </a:xfrm>
          <a:custGeom>
            <a:avLst/>
            <a:gdLst/>
            <a:ahLst/>
            <a:cxnLst/>
            <a:rect l="l" t="t" r="r" b="b"/>
            <a:pathLst>
              <a:path w="1428750" h="762000">
                <a:moveTo>
                  <a:pt x="0" y="0"/>
                </a:moveTo>
                <a:lnTo>
                  <a:pt x="1162050" y="0"/>
                </a:lnTo>
                <a:lnTo>
                  <a:pt x="1428750" y="381000"/>
                </a:lnTo>
                <a:lnTo>
                  <a:pt x="1162050" y="762000"/>
                </a:lnTo>
                <a:lnTo>
                  <a:pt x="0" y="762000"/>
                </a:lnTo>
                <a:lnTo>
                  <a:pt x="266700" y="3810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  <p:sp>
        <p:nvSpPr>
          <p:cNvPr id="16" name="Text 88"/>
          <p:cNvSpPr txBox="1"/>
          <p:nvPr/>
        </p:nvSpPr>
        <p:spPr>
          <a:xfrm>
            <a:off x="6810375" y="2762250"/>
            <a:ext cx="89535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b="1" sz="975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Repeat Purchase Rate ↑</a:t>
            </a:r>
            <a:endParaRPr/>
          </a:p>
        </p:txBody>
      </p:sp>
      <p:sp>
        <p:nvSpPr>
          <p:cNvPr id="17" name="Shape 61"/>
          <p:cNvSpPr/>
          <p:nvPr/>
        </p:nvSpPr>
        <p:spPr>
          <a:xfrm>
            <a:off x="7705725" y="2762250"/>
            <a:ext cx="1428750" cy="762000"/>
          </a:xfrm>
          <a:custGeom>
            <a:avLst/>
            <a:gdLst/>
            <a:ahLst/>
            <a:cxnLst/>
            <a:rect l="l" t="t" r="r" b="b"/>
            <a:pathLst>
              <a:path w="1428750" h="762000">
                <a:moveTo>
                  <a:pt x="0" y="0"/>
                </a:moveTo>
                <a:lnTo>
                  <a:pt x="1162050" y="0"/>
                </a:lnTo>
                <a:lnTo>
                  <a:pt x="1428750" y="381000"/>
                </a:lnTo>
                <a:lnTo>
                  <a:pt x="1162050" y="762000"/>
                </a:lnTo>
                <a:lnTo>
                  <a:pt x="0" y="762000"/>
                </a:lnTo>
                <a:lnTo>
                  <a:pt x="266700" y="381000"/>
                </a:lnTo>
                <a:close/>
              </a:path>
            </a:pathLst>
          </a:custGeom>
          <a:solidFill>
            <a:srgbClr val="1E40AF"/>
          </a:solidFill>
          <a:ln>
            <a:noFill/>
          </a:ln>
        </p:spPr>
      </p:sp>
      <p:sp>
        <p:nvSpPr>
          <p:cNvPr id="18" name="Text 89"/>
          <p:cNvSpPr txBox="1"/>
          <p:nvPr/>
        </p:nvSpPr>
        <p:spPr>
          <a:xfrm>
            <a:off x="7972425" y="2762250"/>
            <a:ext cx="89535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b="1" sz="975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Market Share ↑</a:t>
            </a:r>
            <a:endParaRPr/>
          </a:p>
        </p:txBody>
      </p:sp>
      <p:sp>
        <p:nvSpPr>
          <p:cNvPr id="19" name="Shape 62"/>
          <p:cNvSpPr/>
          <p:nvPr/>
        </p:nvSpPr>
        <p:spPr>
          <a:xfrm>
            <a:off x="8867775" y="2762250"/>
            <a:ext cx="1428750" cy="762000"/>
          </a:xfrm>
          <a:custGeom>
            <a:avLst/>
            <a:gdLst/>
            <a:ahLst/>
            <a:cxnLst/>
            <a:rect l="l" t="t" r="r" b="b"/>
            <a:pathLst>
              <a:path w="1428750" h="762000">
                <a:moveTo>
                  <a:pt x="0" y="0"/>
                </a:moveTo>
                <a:lnTo>
                  <a:pt x="1162050" y="0"/>
                </a:lnTo>
                <a:lnTo>
                  <a:pt x="1428750" y="381000"/>
                </a:lnTo>
                <a:lnTo>
                  <a:pt x="1162050" y="762000"/>
                </a:lnTo>
                <a:lnTo>
                  <a:pt x="0" y="762000"/>
                </a:lnTo>
                <a:lnTo>
                  <a:pt x="266700" y="381000"/>
                </a:lnTo>
                <a:close/>
              </a:path>
            </a:pathLst>
          </a:custGeom>
          <a:solidFill>
            <a:srgbClr val="16202E"/>
          </a:solidFill>
          <a:ln>
            <a:noFill/>
          </a:ln>
        </p:spPr>
      </p:sp>
      <p:sp>
        <p:nvSpPr>
          <p:cNvPr id="20" name="Text 90"/>
          <p:cNvSpPr txBox="1"/>
          <p:nvPr/>
        </p:nvSpPr>
        <p:spPr>
          <a:xfrm>
            <a:off x="9134475" y="2762250"/>
            <a:ext cx="89535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b="1" sz="975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Sales Velocity ↑</a:t>
            </a:r>
            <a:endParaRPr/>
          </a:p>
        </p:txBody>
      </p:sp>
      <p:sp>
        <p:nvSpPr>
          <p:cNvPr id="21" name="Text 91"/>
          <p:cNvSpPr txBox="1"/>
          <p:nvPr/>
        </p:nvSpPr>
        <p:spPr>
          <a:xfrm>
            <a:off x="571500" y="4368317"/>
            <a:ext cx="11049000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 marL="0" indent="0">
              <a:lnSpc>
                <a:spcPts val="1260"/>
              </a:lnSpc>
              <a:buNone/>
            </a:pPr>
            <a:r>
              <a:rPr sz="900">
                <a:solidFill>
                  <a:srgbClr val="55627A"/>
                </a:solidFill>
                <a:latin typeface="Noto Sans JP"/>
                <a:ea typeface="Noto Sans JP"/>
                <a:cs typeface="Noto Sans JP"/>
              </a:rPr>
              <a:t>Each lever represents a sequential step to accelerate XTSY’s growth trajectory in the Quick Commerce channel.</a:t>
            </a:r>
            <a:endParaRPr/>
          </a:p>
        </p:txBody>
      </p:sp>
      <p:sp>
        <p:nvSpPr>
          <p:cNvPr id="22" name="Shape 63"/>
          <p:cNvSpPr/>
          <p:nvPr/>
        </p:nvSpPr>
        <p:spPr>
          <a:xfrm>
            <a:off x="361950" y="4914900"/>
            <a:ext cx="11468100" cy="733425"/>
          </a:xfrm>
          <a:prstGeom prst="rect">
            <a:avLst/>
          </a:prstGeom>
          <a:solidFill>
            <a:srgbClr val="EEF2FD"/>
          </a:solidFill>
          <a:ln>
            <a:noFill/>
          </a:ln>
        </p:spPr>
      </p:sp>
      <p:sp>
        <p:nvSpPr>
          <p:cNvPr id="23" name="Shape 64"/>
          <p:cNvSpPr/>
          <p:nvPr/>
        </p:nvSpPr>
        <p:spPr>
          <a:xfrm>
            <a:off x="361950" y="4914900"/>
            <a:ext cx="0" cy="733425"/>
          </a:xfrm>
          <a:prstGeom prst="line">
            <a:avLst/>
          </a:prstGeom>
          <a:noFill/>
          <a:ln w="47625">
            <a:solidFill>
              <a:srgbClr val="2563EB"/>
            </a:solidFill>
          </a:ln>
        </p:spPr>
      </p:sp>
      <p:sp>
        <p:nvSpPr>
          <p:cNvPr id="24" name="Text 92"/>
          <p:cNvSpPr txBox="1"/>
          <p:nvPr/>
        </p:nvSpPr>
        <p:spPr>
          <a:xfrm>
            <a:off x="495300" y="5049965"/>
            <a:ext cx="11201400" cy="76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975"/>
              </a:lnSpc>
              <a:buNone/>
            </a:pPr>
            <a:r>
              <a:rPr b="1" sz="750" spc="75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GROWTH ENGINE</a:t>
            </a:r>
            <a:endParaRPr/>
          </a:p>
        </p:txBody>
      </p:sp>
      <p:sp>
        <p:nvSpPr>
          <p:cNvPr id="25" name="Text 93"/>
          <p:cNvSpPr txBox="1"/>
          <p:nvPr/>
        </p:nvSpPr>
        <p:spPr>
          <a:xfrm>
            <a:off x="495300" y="5136442"/>
            <a:ext cx="11201400" cy="3714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414"/>
              </a:lnSpc>
              <a:buNone/>
            </a:pPr>
            <a:r>
              <a:rPr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/>
            </a:r>
            <a:endParaRPr/>
          </a:p>
          <a:p>
            <a:pPr marL="0" indent="0">
              <a:lnSpc>
                <a:spcPts val="1414"/>
              </a:lnSpc>
              <a:buNone/>
            </a:pPr>
            <a:r>
              <a:rPr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          Combining category intelligence, automation, and performance execution creates a </a:t>
            </a:r>
            <a:endParaRPr/>
          </a:p>
          <a:p>
            <a:pPr marL="0" indent="0">
              <a:lnSpc>
                <a:spcPts val="1414"/>
              </a:lnSpc>
              <a:buNone/>
            </a:pPr>
            <a:r>
              <a:rPr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          </a:t>
            </a:r>
            <a:r>
              <a:rPr sz="975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scalable growth engine</a:t>
            </a:r>
            <a:r>
              <a:rPr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 for XTSY.</a:t>
            </a:r>
            <a:endParaRPr/>
          </a:p>
          <a:p>
            <a:pPr marL="0" indent="0">
              <a:lnSpc>
                <a:spcPts val="1414"/>
              </a:lnSpc>
              <a:buNone/>
            </a:pPr>
            <a:r>
              <a:rPr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        </a:t>
            </a:r>
            <a:endParaRPr/>
          </a:p>
        </p:txBody>
      </p:sp>
      <p:sp>
        <p:nvSpPr>
          <p:cNvPr id="26" name="Shape 65"/>
          <p:cNvSpPr/>
          <p:nvPr/>
        </p:nvSpPr>
        <p:spPr>
          <a:xfrm>
            <a:off x="361950" y="5762625"/>
            <a:ext cx="11468100" cy="733425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27" name="Shape 66"/>
          <p:cNvSpPr/>
          <p:nvPr/>
        </p:nvSpPr>
        <p:spPr>
          <a:xfrm>
            <a:off x="361950" y="5762625"/>
            <a:ext cx="0" cy="733425"/>
          </a:xfrm>
          <a:prstGeom prst="line">
            <a:avLst/>
          </a:prstGeom>
          <a:noFill/>
          <a:ln w="47625">
            <a:solidFill>
              <a:srgbClr val="0EA5E9"/>
            </a:solidFill>
          </a:ln>
        </p:spPr>
      </p:sp>
      <p:sp>
        <p:nvSpPr>
          <p:cNvPr id="28" name="Text 94"/>
          <p:cNvSpPr txBox="1"/>
          <p:nvPr/>
        </p:nvSpPr>
        <p:spPr>
          <a:xfrm>
            <a:off x="495300" y="5897690"/>
            <a:ext cx="11201400" cy="76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975"/>
              </a:lnSpc>
              <a:buNone/>
            </a:pPr>
            <a:r>
              <a:rPr b="1" sz="750" spc="75">
                <a:solidFill>
                  <a:srgbClr val="0EA5E9"/>
                </a:solidFill>
                <a:latin typeface="Noto Sans JP"/>
                <a:ea typeface="Noto Sans JP"/>
                <a:cs typeface="Noto Sans JP"/>
              </a:rPr>
              <a:t>IMPACT</a:t>
            </a:r>
            <a:endParaRPr/>
          </a:p>
        </p:txBody>
      </p:sp>
      <p:sp>
        <p:nvSpPr>
          <p:cNvPr id="29" name="Text 95"/>
          <p:cNvSpPr txBox="1"/>
          <p:nvPr/>
        </p:nvSpPr>
        <p:spPr>
          <a:xfrm>
            <a:off x="495300" y="5984167"/>
            <a:ext cx="11201400" cy="3714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414"/>
              </a:lnSpc>
              <a:buNone/>
            </a:pPr>
            <a:r>
              <a:rPr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/>
            </a:r>
            <a:endParaRPr/>
          </a:p>
          <a:p>
            <a:pPr marL="0" indent="0">
              <a:lnSpc>
                <a:spcPts val="1414"/>
              </a:lnSpc>
              <a:buNone/>
            </a:pPr>
            <a:r>
              <a:rPr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          Each lever is designed to drive </a:t>
            </a:r>
            <a:endParaRPr/>
          </a:p>
          <a:p>
            <a:pPr marL="0" indent="0">
              <a:lnSpc>
                <a:spcPts val="1414"/>
              </a:lnSpc>
              <a:buNone/>
            </a:pPr>
            <a:r>
              <a:rPr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          </a:t>
            </a:r>
            <a:r>
              <a:rPr sz="975">
                <a:solidFill>
                  <a:srgbClr val="0EA5E9"/>
                </a:solidFill>
                <a:latin typeface="Noto Sans JP"/>
                <a:ea typeface="Noto Sans JP"/>
                <a:cs typeface="Noto Sans JP"/>
              </a:rPr>
              <a:t>measurable improvement in key business metrics</a:t>
            </a:r>
            <a:r>
              <a:rPr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 rather than just media KPIs.</a:t>
            </a:r>
            <a:endParaRPr/>
          </a:p>
          <a:p>
            <a:pPr marL="0" indent="0">
              <a:lnSpc>
                <a:spcPts val="1414"/>
              </a:lnSpc>
              <a:buNone/>
            </a:pPr>
            <a:r>
              <a:rPr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       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6"/>
          <p:cNvSpPr txBox="1"/>
          <p:nvPr/>
        </p:nvSpPr>
        <p:spPr>
          <a:xfrm>
            <a:off x="361950" y="363836"/>
            <a:ext cx="1146810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073"/>
              </a:lnSpc>
              <a:buNone/>
            </a:pPr>
            <a:r>
              <a:rPr b="1" sz="825" spc="150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90-DAY ROADMAP</a:t>
            </a:r>
            <a:endParaRPr/>
          </a:p>
        </p:txBody>
      </p:sp>
      <p:sp>
        <p:nvSpPr>
          <p:cNvPr id="3" name="Text 97"/>
          <p:cNvSpPr txBox="1"/>
          <p:nvPr/>
        </p:nvSpPr>
        <p:spPr>
          <a:xfrm>
            <a:off x="361950" y="548069"/>
            <a:ext cx="11468100" cy="3714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2925"/>
              </a:lnSpc>
              <a:buNone/>
            </a:pPr>
            <a:r>
              <a:rPr b="1" sz="22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Roadmap for the Next 90 Days</a:t>
            </a:r>
            <a:endParaRPr/>
          </a:p>
        </p:txBody>
      </p:sp>
      <p:sp>
        <p:nvSpPr>
          <p:cNvPr id="4" name="Text 98"/>
          <p:cNvSpPr txBox="1"/>
          <p:nvPr/>
        </p:nvSpPr>
        <p:spPr>
          <a:xfrm>
            <a:off x="361950" y="964082"/>
            <a:ext cx="114681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170"/>
              </a:lnSpc>
              <a:buNone/>
            </a:pPr>
            <a:r>
              <a:rPr sz="900">
                <a:solidFill>
                  <a:srgbClr val="55627A"/>
                </a:solidFill>
                <a:latin typeface="Noto Sans JP"/>
                <a:ea typeface="Noto Sans JP"/>
                <a:cs typeface="Noto Sans JP"/>
              </a:rPr>
              <a:t>Data-driven execution and automation will drive XTSY’s Quick Commerce growth.</a:t>
            </a:r>
            <a:endParaRPr/>
          </a:p>
        </p:txBody>
      </p:sp>
      <p:sp>
        <p:nvSpPr>
          <p:cNvPr id="5" name="Shape 67"/>
          <p:cNvSpPr/>
          <p:nvPr/>
        </p:nvSpPr>
        <p:spPr>
          <a:xfrm>
            <a:off x="361950" y="1447800"/>
            <a:ext cx="11468100" cy="3667125"/>
          </a:xfrm>
          <a:prstGeom prst="roundRect">
            <a:avLst>
              <a:gd name="adj" fmla="val 41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" name="Text 99"/>
          <p:cNvSpPr txBox="1"/>
          <p:nvPr/>
        </p:nvSpPr>
        <p:spPr>
          <a:xfrm>
            <a:off x="571500" y="1659750"/>
            <a:ext cx="110490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365"/>
              </a:lnSpc>
              <a:buNone/>
            </a:pPr>
            <a:r>
              <a:rPr b="1" sz="10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90-Day Execution Timeline</a:t>
            </a:r>
            <a:endParaRPr/>
          </a:p>
        </p:txBody>
      </p:sp>
      <p:sp>
        <p:nvSpPr>
          <p:cNvPr id="7" name="Shape 68"/>
          <p:cNvSpPr/>
          <p:nvPr/>
        </p:nvSpPr>
        <p:spPr>
          <a:xfrm>
            <a:off x="1143000" y="3433763"/>
            <a:ext cx="9906000" cy="0"/>
          </a:xfrm>
          <a:prstGeom prst="line">
            <a:avLst/>
          </a:prstGeom>
          <a:noFill/>
          <a:ln w="38100">
            <a:solidFill>
              <a:srgbClr val="2563EB"/>
            </a:solidFill>
          </a:ln>
        </p:spPr>
      </p:sp>
      <p:sp>
        <p:nvSpPr>
          <p:cNvPr id="8" name="Shape 69"/>
          <p:cNvSpPr/>
          <p:nvPr/>
        </p:nvSpPr>
        <p:spPr>
          <a:xfrm>
            <a:off x="1028700" y="3319463"/>
            <a:ext cx="228600" cy="228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 100"/>
          <p:cNvSpPr txBox="1"/>
          <p:nvPr/>
        </p:nvSpPr>
        <p:spPr>
          <a:xfrm>
            <a:off x="571500" y="2938463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sz="900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Month 1</a:t>
            </a:r>
            <a:endParaRPr/>
          </a:p>
        </p:txBody>
      </p:sp>
      <p:sp>
        <p:nvSpPr>
          <p:cNvPr id="10" name="Text 101"/>
          <p:cNvSpPr txBox="1"/>
          <p:nvPr/>
        </p:nvSpPr>
        <p:spPr>
          <a:xfrm>
            <a:off x="571500" y="3624263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b="1" sz="10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Audit &amp; Benchmarking</a:t>
            </a:r>
            <a:endParaRPr/>
          </a:p>
        </p:txBody>
      </p:sp>
      <p:sp>
        <p:nvSpPr>
          <p:cNvPr id="11" name="Text 102"/>
          <p:cNvSpPr txBox="1"/>
          <p:nvPr/>
        </p:nvSpPr>
        <p:spPr>
          <a:xfrm>
            <a:off x="571500" y="3852863"/>
            <a:ext cx="114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sz="825">
                <a:solidFill>
                  <a:srgbClr val="55627A"/>
                </a:solidFill>
                <a:latin typeface="Noto Sans JP"/>
                <a:ea typeface="Noto Sans JP"/>
                <a:cs typeface="Noto Sans JP"/>
              </a:rPr>
              <a:t>Category assessment, search visibility audit, availability review, platform diagnostics.</a:t>
            </a:r>
            <a:endParaRPr/>
          </a:p>
        </p:txBody>
      </p:sp>
      <p:sp>
        <p:nvSpPr>
          <p:cNvPr id="12" name="Shape 70"/>
          <p:cNvSpPr/>
          <p:nvPr/>
        </p:nvSpPr>
        <p:spPr>
          <a:xfrm>
            <a:off x="5981700" y="3319463"/>
            <a:ext cx="228600" cy="2286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</p:sp>
      <p:sp>
        <p:nvSpPr>
          <p:cNvPr id="13" name="Text 103"/>
          <p:cNvSpPr txBox="1"/>
          <p:nvPr/>
        </p:nvSpPr>
        <p:spPr>
          <a:xfrm>
            <a:off x="5524500" y="2938463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sz="900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Month 2</a:t>
            </a:r>
            <a:endParaRPr/>
          </a:p>
        </p:txBody>
      </p:sp>
      <p:sp>
        <p:nvSpPr>
          <p:cNvPr id="14" name="Text 104"/>
          <p:cNvSpPr txBox="1"/>
          <p:nvPr/>
        </p:nvSpPr>
        <p:spPr>
          <a:xfrm>
            <a:off x="5524500" y="3624263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b="1" sz="10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Growth Activation</a:t>
            </a:r>
            <a:endParaRPr/>
          </a:p>
        </p:txBody>
      </p:sp>
      <p:sp>
        <p:nvSpPr>
          <p:cNvPr id="15" name="Text 105"/>
          <p:cNvSpPr txBox="1"/>
          <p:nvPr/>
        </p:nvSpPr>
        <p:spPr>
          <a:xfrm>
            <a:off x="5524500" y="3852863"/>
            <a:ext cx="114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sz="825">
                <a:solidFill>
                  <a:srgbClr val="55627A"/>
                </a:solidFill>
                <a:latin typeface="Noto Sans JP"/>
                <a:ea typeface="Noto Sans JP"/>
                <a:cs typeface="Noto Sans JP"/>
              </a:rPr>
              <a:t>Search scaling, placement expansion, competitor conquesting, portfolio prioritization.</a:t>
            </a:r>
            <a:endParaRPr/>
          </a:p>
        </p:txBody>
      </p:sp>
      <p:sp>
        <p:nvSpPr>
          <p:cNvPr id="16" name="Shape 71"/>
          <p:cNvSpPr/>
          <p:nvPr/>
        </p:nvSpPr>
        <p:spPr>
          <a:xfrm>
            <a:off x="10934700" y="3319463"/>
            <a:ext cx="228600" cy="22860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</p:sp>
      <p:sp>
        <p:nvSpPr>
          <p:cNvPr id="17" name="Text 106"/>
          <p:cNvSpPr txBox="1"/>
          <p:nvPr/>
        </p:nvSpPr>
        <p:spPr>
          <a:xfrm>
            <a:off x="10477500" y="2938463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sz="900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Month 3</a:t>
            </a:r>
            <a:endParaRPr/>
          </a:p>
        </p:txBody>
      </p:sp>
      <p:sp>
        <p:nvSpPr>
          <p:cNvPr id="18" name="Text 107"/>
          <p:cNvSpPr txBox="1"/>
          <p:nvPr/>
        </p:nvSpPr>
        <p:spPr>
          <a:xfrm>
            <a:off x="10477500" y="3624263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b="1" sz="10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Optimization &amp; Scale</a:t>
            </a:r>
            <a:endParaRPr/>
          </a:p>
        </p:txBody>
      </p:sp>
      <p:sp>
        <p:nvSpPr>
          <p:cNvPr id="19" name="Text 108"/>
          <p:cNvSpPr txBox="1"/>
          <p:nvPr/>
        </p:nvSpPr>
        <p:spPr>
          <a:xfrm>
            <a:off x="10477500" y="3852863"/>
            <a:ext cx="114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sz="825">
                <a:solidFill>
                  <a:srgbClr val="55627A"/>
                </a:solidFill>
                <a:latin typeface="Noto Sans JP"/>
                <a:ea typeface="Noto Sans JP"/>
                <a:cs typeface="Noto Sans JP"/>
              </a:rPr>
              <a:t>Automation deployment, budget optimization, expansion planning, growth measurement.</a:t>
            </a:r>
            <a:endParaRPr/>
          </a:p>
        </p:txBody>
      </p:sp>
      <p:sp>
        <p:nvSpPr>
          <p:cNvPr id="20" name="Shape 72"/>
          <p:cNvSpPr/>
          <p:nvPr/>
        </p:nvSpPr>
        <p:spPr>
          <a:xfrm>
            <a:off x="361950" y="5305425"/>
            <a:ext cx="11468100" cy="1190625"/>
          </a:xfrm>
          <a:prstGeom prst="roundRect">
            <a:avLst>
              <a:gd name="adj" fmla="val 12800"/>
            </a:avLst>
          </a:prstGeom>
          <a:solidFill>
            <a:srgbClr val="16202E"/>
          </a:solidFill>
          <a:ln>
            <a:noFill/>
          </a:ln>
        </p:spPr>
      </p:sp>
      <p:sp>
        <p:nvSpPr>
          <p:cNvPr id="21" name="Text 109"/>
          <p:cNvSpPr txBox="1"/>
          <p:nvPr/>
        </p:nvSpPr>
        <p:spPr>
          <a:xfrm>
            <a:off x="552450" y="5609596"/>
            <a:ext cx="11087100" cy="561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 marL="0" indent="0">
              <a:lnSpc>
                <a:spcPts val="1463"/>
              </a:lnSpc>
              <a:buNone/>
            </a:pPr>
            <a:r>
              <a:rPr sz="975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/>
            </a:r>
            <a:endParaRPr/>
          </a:p>
          <a:p>
            <a:pPr algn="ctr" marL="0" indent="0">
              <a:lnSpc>
                <a:spcPts val="1463"/>
              </a:lnSpc>
              <a:buNone/>
            </a:pPr>
            <a:r>
              <a:rPr sz="975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 xml:space="preserve">        Winning Quick Commerce is about capturing visibility faster, converting demand better, and scaling through intelligence and automation—not just increasing spend.</a:t>
            </a:r>
            <a:endParaRPr/>
          </a:p>
          <a:p>
            <a:pPr algn="ctr" marL="0" indent="0">
              <a:lnSpc>
                <a:spcPts val="1463"/>
              </a:lnSpc>
              <a:buNone/>
            </a:pPr>
            <a:r>
              <a:rPr sz="975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 xml:space="preserve">     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pptx-glimpse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pptx-glimpse</dc:creator>
  <cp:lastModifiedBy>pptx-glimpse</cp:lastModifiedBy>
</cp:coreProperties>
</file>