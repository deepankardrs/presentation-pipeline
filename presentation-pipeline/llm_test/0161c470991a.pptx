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embeddings/Microsoft_Excel_Worksheet1.xlsx" ContentType="application/vnd.openxmlformats-officedocument.spreadsheetml.sheet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Immediate Need Purchases</c:v>
                </c:pt>
              </c:strCache>
            </c:strRef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</c:spPr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EA5E9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EF4444"/>
              </a:solidFill>
            </c:spPr>
          </c:dPt>
          <c:dPt>
            <c:idx val="5"/>
            <c:spPr>
              <a:solidFill>
                <a:srgbClr val="8B5CF6"/>
              </a:solidFill>
            </c:spPr>
          </c:dPt>
          <c:cat>
            <c:strRef>
              <c:f>Sheet1!$A$2:$A$7</c:f>
              <c:strCache>
                <c:ptCount val="6"/>
                <c:pt idx="0">
                  <c:v>Pre-workout</c:v>
                </c:pt>
                <c:pt idx="1">
                  <c:v>Gaming</c:v>
                </c:pt>
                <c:pt idx="2">
                  <c:v>Late-night work/study</c:v>
                </c:pt>
                <c:pt idx="3">
                  <c:v>Commuting</c:v>
                </c:pt>
                <c:pt idx="4">
                  <c:v>Parties</c:v>
                </c:pt>
                <c:pt idx="5">
                  <c:v>Other instant-energy occasions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54</c:v>
                </c:pt>
                <c:pt idx="2">
                  <c:v>61</c:v>
                </c:pt>
                <c:pt idx="3">
                  <c:v>47</c:v>
                </c:pt>
                <c:pt idx="4">
                  <c:v>39</c:v>
                </c:pt>
                <c:pt idx="5">
                  <c:v>33</c:v>
                </c:pt>
              </c:numCache>
            </c:numRef>
          </c:val>
        </c:ser>
        <c:axId val="100002"/>
        <c:axId val="100003"/>
      </c:barChart>
      <c:catAx>
        <c:axId val="10000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0003"/>
        <c:crosses val="autoZero"/>
        <c:auto val="1"/>
        <c:lblAlgn val="ctr"/>
        <c:lblOffset val="100"/>
        <c:noMultiLvlLbl val="1"/>
      </c:catAx>
      <c:valAx>
        <c:axId val="100003"/>
        <c:scaling>
          <c:orientation val="minMax"/>
        </c:scaling>
        <c:delete val="0"/>
        <c:axPos val="l"/>
        <c:majorGridlines>
          <c:spPr>
            <a:ln w="12700">
              <a:solidFill>
                <a:srgbClr val="888888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00002"/>
        <c:crosses val="autoZero"/>
        <c:crossBetween val="between"/>
      </c:valAx>
      <c:spPr>
        <a:noFill/>
        <a:ln>
          <a:noFill/>
        </a:ln>
      </c:spPr>
    </c:plotArea>
    <c:plotVisOnly val="1"/>
    <c:dispBlanksAs val="span"/>
    <c:showDLblsOverMax val="0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M_LAYOUT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OM_MASTER"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 1"/>
          <p:cNvSpPr txBox="1"/>
          <p:nvPr/>
        </p:nvSpPr>
        <p:spPr>
          <a:xfrm>
            <a:off x="0" y="846087"/>
            <a:ext cx="12192000" cy="1181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4485"/>
              </a:lnSpc>
              <a:buNone/>
            </a:pPr>
            <a:r>
              <a:rPr b="1" sz="34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ctr" marL="0" indent="0">
              <a:lnSpc>
                <a:spcPts val="4485"/>
              </a:lnSpc>
              <a:buNone/>
            </a:pPr>
            <a:r>
              <a:rPr b="1" sz="34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Unlocking the Next Phase of Growth for XTSY on Quick Commerce</a:t>
            </a:r>
            <a:endParaRPr/>
          </a:p>
          <a:p>
            <a:pPr algn="ctr" marL="0" indent="0">
              <a:lnSpc>
                <a:spcPts val="4485"/>
              </a:lnSpc>
              <a:buNone/>
            </a:pPr>
            <a:r>
              <a:rPr b="1" sz="34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  <p:sp>
        <p:nvSpPr>
          <p:cNvPr id="2" name="Shape 1"/>
          <p:cNvSpPr/>
          <p:nvPr/>
        </p:nvSpPr>
        <p:spPr>
          <a:xfrm>
            <a:off x="0" y="2095500"/>
            <a:ext cx="5886450" cy="4762500"/>
          </a:xfrm>
          <a:prstGeom prst="roundRect">
            <a:avLst>
              <a:gd name="adj" fmla="val 3200"/>
            </a:avLst>
          </a:prstGeom>
          <a:solidFill>
            <a:srgbClr val="1A2233"/>
          </a:solidFill>
          <a:ln>
            <a:noFill/>
          </a:ln>
        </p:spPr>
      </p:sp>
      <p:sp>
        <p:nvSpPr>
          <p:cNvPr id="3" name="Text 2"/>
          <p:cNvSpPr txBox="1"/>
          <p:nvPr/>
        </p:nvSpPr>
        <p:spPr>
          <a:xfrm>
            <a:off x="0" y="3871189"/>
            <a:ext cx="5886450" cy="1200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890"/>
              </a:lnSpc>
              <a:buNone/>
            </a:pPr>
            <a:r>
              <a:rPr sz="13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ctr" marL="0" indent="0">
              <a:lnSpc>
                <a:spcPts val="1890"/>
              </a:lnSpc>
              <a:buNone/>
            </a:pPr>
            <a:r>
              <a:rPr sz="13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  Quick Commerce platforms like Zepto, Blinkit, and Instamart are now primary drivers of impulse beverage consumption, representing a $500M+ annualized opportunity for energy drinks in India.</a:t>
            </a:r>
            <a:endParaRPr/>
          </a:p>
          <a:p>
            <a:pPr algn="ctr" marL="0" indent="0">
              <a:lnSpc>
                <a:spcPts val="1890"/>
              </a:lnSpc>
              <a:buNone/>
            </a:pPr>
            <a:r>
              <a:rPr sz="13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  <p:sp>
        <p:nvSpPr>
          <p:cNvPr id="4" name="Shape 2"/>
          <p:cNvSpPr/>
          <p:nvPr/>
        </p:nvSpPr>
        <p:spPr>
          <a:xfrm>
            <a:off x="6191250" y="2095500"/>
            <a:ext cx="6000750" cy="4762500"/>
          </a:xfrm>
          <a:prstGeom prst="roundRect">
            <a:avLst>
              <a:gd name="adj" fmla="val 32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5" name="Text 3"/>
          <p:cNvSpPr txBox="1"/>
          <p:nvPr/>
        </p:nvSpPr>
        <p:spPr>
          <a:xfrm>
            <a:off x="6191250" y="3803904"/>
            <a:ext cx="6010275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2100"/>
              </a:lnSpc>
              <a:buNone/>
            </a:pPr>
            <a:r>
              <a:rPr b="1" sz="15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ctr" marL="0" indent="0">
              <a:lnSpc>
                <a:spcPts val="2100"/>
              </a:lnSpc>
              <a:buNone/>
            </a:pPr>
            <a:r>
              <a:rPr b="1" sz="15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  XTSY is positioned to accelerate growth by building share, visibility, and consumer penetration through advanced commerce execution across these platforms.</a:t>
            </a:r>
            <a:endParaRPr/>
          </a:p>
          <a:p>
            <a:pPr algn="ctr" marL="0" indent="0">
              <a:lnSpc>
                <a:spcPts val="2100"/>
              </a:lnSpc>
              <a:buNone/>
            </a:pPr>
            <a:r>
              <a:rPr b="1" sz="15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 txBox="1"/>
          <p:nvPr/>
        </p:nvSpPr>
        <p:spPr>
          <a:xfrm>
            <a:off x="342900" y="344786"/>
            <a:ext cx="115062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CATEGORY DYNAMICS</a:t>
            </a:r>
            <a:endParaRPr/>
          </a:p>
        </p:txBody>
      </p:sp>
      <p:sp>
        <p:nvSpPr>
          <p:cNvPr id="3" name="Text 5"/>
          <p:cNvSpPr txBox="1"/>
          <p:nvPr/>
        </p:nvSpPr>
        <p:spPr>
          <a:xfrm>
            <a:off x="342900" y="529019"/>
            <a:ext cx="115062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Why the Energy Drink Category is Built for Quick Commerce</a:t>
            </a:r>
            <a:endParaRPr/>
          </a:p>
        </p:txBody>
      </p:sp>
      <p:sp>
        <p:nvSpPr>
          <p:cNvPr id="4" name="Text 6"/>
          <p:cNvSpPr txBox="1"/>
          <p:nvPr/>
        </p:nvSpPr>
        <p:spPr>
          <a:xfrm>
            <a:off x="342900" y="945032"/>
            <a:ext cx="115062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Impulse-driven moments and instant need make energy drinks a natural fit for rapid delivery platforms.</a:t>
            </a:r>
            <a:endParaRPr/>
          </a:p>
        </p:txBody>
      </p:sp>
      <p:sp>
        <p:nvSpPr>
          <p:cNvPr id="5" name="Shape 3"/>
          <p:cNvSpPr/>
          <p:nvPr/>
        </p:nvSpPr>
        <p:spPr>
          <a:xfrm>
            <a:off x="342900" y="1495425"/>
            <a:ext cx="11506200" cy="3286125"/>
          </a:xfrm>
          <a:prstGeom prst="roundRect">
            <a:avLst>
              <a:gd name="adj" fmla="val 40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7"/>
          <p:cNvSpPr txBox="1"/>
          <p:nvPr/>
        </p:nvSpPr>
        <p:spPr>
          <a:xfrm>
            <a:off x="533400" y="1688154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Energy Drink Consumption Moments</a:t>
            </a:r>
            <a:endParaRPr/>
          </a:p>
        </p:txBody>
      </p:sp>
      <p:graphicFrame>
        <p:nvGraphicFramePr>
          <p:cNvPr id="7" name="Chart 1"/>
          <p:cNvGraphicFramePr/>
          <p:nvPr/>
        </p:nvGraphicFramePr>
        <p:xfrm>
          <a:off x="533400" y="1943100"/>
          <a:ext cx="11125200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33400" y="4476750"/>
            <a:ext cx="17145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Shape 5"/>
          <p:cNvSpPr/>
          <p:nvPr/>
        </p:nvSpPr>
        <p:spPr>
          <a:xfrm>
            <a:off x="533400" y="4476750"/>
            <a:ext cx="171450" cy="76200"/>
          </a:xfrm>
          <a:prstGeom prst="rect">
            <a:avLst/>
          </a:prstGeom>
          <a:noFill/>
        </p:spPr>
      </p:sp>
      <p:sp>
        <p:nvSpPr>
          <p:cNvPr id="10" name="Text 8"/>
          <p:cNvSpPr txBox="1"/>
          <p:nvPr/>
        </p:nvSpPr>
        <p:spPr>
          <a:xfrm>
            <a:off x="800100" y="4440536"/>
            <a:ext cx="108585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Bars show % of purchases driven by immediate need (impulse triggers highlighted)</a:t>
            </a:r>
            <a:endParaRPr/>
          </a:p>
        </p:txBody>
      </p:sp>
      <p:sp>
        <p:nvSpPr>
          <p:cNvPr id="11" name="Shape 6"/>
          <p:cNvSpPr/>
          <p:nvPr/>
        </p:nvSpPr>
        <p:spPr>
          <a:xfrm>
            <a:off x="342900" y="4953000"/>
            <a:ext cx="4371975" cy="15621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Text 9"/>
          <p:cNvSpPr txBox="1"/>
          <p:nvPr/>
        </p:nvSpPr>
        <p:spPr>
          <a:xfrm>
            <a:off x="514350" y="5269382"/>
            <a:ext cx="40386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Impulse Purchase Rate (Quick Commerce vs. Retail)</a:t>
            </a:r>
            <a:endParaRPr/>
          </a:p>
        </p:txBody>
      </p:sp>
      <p:sp>
        <p:nvSpPr>
          <p:cNvPr id="13" name="Text 10"/>
          <p:cNvSpPr txBox="1"/>
          <p:nvPr/>
        </p:nvSpPr>
        <p:spPr>
          <a:xfrm>
            <a:off x="514350" y="5521147"/>
            <a:ext cx="4038600" cy="4476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3510"/>
              </a:lnSpc>
              <a:buNone/>
            </a:pPr>
            <a:r>
              <a:rPr b="1" sz="27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2.5x</a:t>
            </a:r>
            <a:r>
              <a:rPr b="1" sz="135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 xml:space="preserve"> higher</a:t>
            </a:r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514350" y="6059786"/>
            <a:ext cx="4038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>
                <a:solidFill>
                  <a:srgbClr val="15803D"/>
                </a:solidFill>
                <a:latin typeface="Noto Sans JP"/>
                <a:ea typeface="Noto Sans JP"/>
                <a:cs typeface="Noto Sans JP"/>
              </a:rPr>
              <a:t>vs. traditional retail</a:t>
            </a:r>
            <a:endParaRPr/>
          </a:p>
        </p:txBody>
      </p:sp>
      <p:sp>
        <p:nvSpPr>
          <p:cNvPr id="15" name="Shape 7"/>
          <p:cNvSpPr/>
          <p:nvPr/>
        </p:nvSpPr>
        <p:spPr>
          <a:xfrm>
            <a:off x="4886325" y="4953000"/>
            <a:ext cx="6962775" cy="156210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Text 12"/>
          <p:cNvSpPr txBox="1"/>
          <p:nvPr/>
        </p:nvSpPr>
        <p:spPr>
          <a:xfrm>
            <a:off x="5057775" y="5126507"/>
            <a:ext cx="6619875" cy="666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Top Growth Drivers on Quick Commerce</a:t>
            </a:r>
            <a:endParaRPr/>
          </a:p>
        </p:txBody>
      </p:sp>
      <p:sp>
        <p:nvSpPr>
          <p:cNvPr id="17" name="Text 13"/>
          <p:cNvSpPr txBox="1"/>
          <p:nvPr/>
        </p:nvSpPr>
        <p:spPr>
          <a:xfrm>
            <a:off x="5057775" y="5267325"/>
            <a:ext cx="6619875" cy="10763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endParaRPr/>
          </a:p>
          <a:p>
            <a:pPr algn="l" marL="342900" indent="-342900">
              <a:lnSpc>
                <a:spcPct val="140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GROWTH OPPORTUNITIES</a:t>
            </a:r>
            <a:endParaRPr/>
          </a:p>
        </p:txBody>
      </p:sp>
      <p:sp>
        <p:nvSpPr>
          <p:cNvPr id="3" name="Text 15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Opportunities for XTSY Across Quick Commerce Platforms</a:t>
            </a:r>
            <a:endParaRPr/>
          </a:p>
        </p:txBody>
      </p:sp>
      <p:sp>
        <p:nvSpPr>
          <p:cNvPr id="4" name="Text 16"/>
          <p:cNvSpPr txBox="1"/>
          <p:nvPr/>
        </p:nvSpPr>
        <p:spPr>
          <a:xfrm>
            <a:off x="361950" y="964082"/>
            <a:ext cx="114681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Quick Commerce is rapidly becoming the primary channel for impulse beverage consumption. XTSY can unlock outsized growth by leveraging data-driven visibility, automation, and category execution to accelerate share and offtakes.</a:t>
            </a:r>
            <a:endParaRPr/>
          </a:p>
        </p:txBody>
      </p:sp>
      <p:sp>
        <p:nvSpPr>
          <p:cNvPr id="5" name="Shape 8"/>
          <p:cNvSpPr/>
          <p:nvPr/>
        </p:nvSpPr>
        <p:spPr>
          <a:xfrm>
            <a:off x="361950" y="1390650"/>
            <a:ext cx="11468100" cy="3076575"/>
          </a:xfrm>
          <a:prstGeom prst="roundRect">
            <a:avLst>
              <a:gd name="adj" fmla="val 433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17"/>
          <p:cNvSpPr txBox="1"/>
          <p:nvPr/>
        </p:nvSpPr>
        <p:spPr>
          <a:xfrm>
            <a:off x="552450" y="1574025"/>
            <a:ext cx="55435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Levers by Platform</a:t>
            </a:r>
            <a:endParaRPr/>
          </a:p>
        </p:txBody>
      </p:sp>
      <p:sp>
        <p:nvSpPr>
          <p:cNvPr id="7" name="Text 18"/>
          <p:cNvSpPr txBox="1"/>
          <p:nvPr/>
        </p:nvSpPr>
        <p:spPr>
          <a:xfrm>
            <a:off x="6096000" y="1592561"/>
            <a:ext cx="55435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Hotspots highlighted</a:t>
            </a:r>
            <a:endParaRPr/>
          </a:p>
        </p:txBody>
      </p:sp>
      <p:sp>
        <p:nvSpPr>
          <p:cNvPr id="8" name="Shape 9"/>
          <p:cNvSpPr/>
          <p:nvPr/>
        </p:nvSpPr>
        <p:spPr>
          <a:xfrm>
            <a:off x="1123950" y="2947988"/>
            <a:ext cx="9944100" cy="0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9" name="Shape 10"/>
          <p:cNvSpPr/>
          <p:nvPr/>
        </p:nvSpPr>
        <p:spPr>
          <a:xfrm>
            <a:off x="6096000" y="2400300"/>
            <a:ext cx="0" cy="109537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</p:sp>
      <p:sp>
        <p:nvSpPr>
          <p:cNvPr id="10" name="Text 19"/>
          <p:cNvSpPr txBox="1"/>
          <p:nvPr/>
        </p:nvSpPr>
        <p:spPr>
          <a:xfrm>
            <a:off x="5524500" y="3571875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Growth Levers</a:t>
            </a:r>
            <a:endParaRPr/>
          </a:p>
        </p:txBody>
      </p:sp>
      <p:sp>
        <p:nvSpPr>
          <p:cNvPr id="11" name="Text 20"/>
          <p:cNvSpPr txBox="1"/>
          <p:nvPr/>
        </p:nvSpPr>
        <p:spPr>
          <a:xfrm rot="16200000">
            <a:off x="361950" y="2852738"/>
            <a:ext cx="952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Platforms</a:t>
            </a:r>
            <a:endParaRPr/>
          </a:p>
        </p:txBody>
      </p:sp>
      <p:sp>
        <p:nvSpPr>
          <p:cNvPr id="12" name="Text 21"/>
          <p:cNvSpPr txBox="1"/>
          <p:nvPr/>
        </p:nvSpPr>
        <p:spPr>
          <a:xfrm>
            <a:off x="1219200" y="249555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Emerging</a:t>
            </a:r>
            <a:endParaRPr/>
          </a:p>
        </p:txBody>
      </p:sp>
      <p:sp>
        <p:nvSpPr>
          <p:cNvPr id="13" name="Text 22"/>
          <p:cNvSpPr txBox="1"/>
          <p:nvPr/>
        </p:nvSpPr>
        <p:spPr>
          <a:xfrm>
            <a:off x="6191250" y="2495550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High Impact</a:t>
            </a:r>
            <a:endParaRPr/>
          </a:p>
        </p:txBody>
      </p:sp>
      <p:sp>
        <p:nvSpPr>
          <p:cNvPr id="14" name="Text 23"/>
          <p:cNvSpPr txBox="1"/>
          <p:nvPr/>
        </p:nvSpPr>
        <p:spPr>
          <a:xfrm>
            <a:off x="1219200" y="29432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Low Priority</a:t>
            </a:r>
            <a:endParaRPr/>
          </a:p>
        </p:txBody>
      </p:sp>
      <p:sp>
        <p:nvSpPr>
          <p:cNvPr id="15" name="Text 24"/>
          <p:cNvSpPr txBox="1"/>
          <p:nvPr/>
        </p:nvSpPr>
        <p:spPr>
          <a:xfrm>
            <a:off x="6191250" y="2943225"/>
            <a:ext cx="4781550" cy="457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Quick Wins</a:t>
            </a:r>
            <a:endParaRPr/>
          </a:p>
        </p:txBody>
      </p:sp>
      <p:sp>
        <p:nvSpPr>
          <p:cNvPr id="16" name="Shape 11"/>
          <p:cNvSpPr/>
          <p:nvPr/>
        </p:nvSpPr>
        <p:spPr>
          <a:xfrm>
            <a:off x="1705737" y="2450306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 25"/>
          <p:cNvSpPr txBox="1"/>
          <p:nvPr/>
        </p:nvSpPr>
        <p:spPr>
          <a:xfrm>
            <a:off x="1343787" y="2259806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Key lever</a:t>
            </a:r>
            <a:endParaRPr/>
          </a:p>
        </p:txBody>
      </p:sp>
      <p:sp>
        <p:nvSpPr>
          <p:cNvPr id="18" name="Shape 12"/>
          <p:cNvSpPr/>
          <p:nvPr/>
        </p:nvSpPr>
        <p:spPr>
          <a:xfrm>
            <a:off x="5285613" y="2450306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 26"/>
          <p:cNvSpPr txBox="1"/>
          <p:nvPr/>
        </p:nvSpPr>
        <p:spPr>
          <a:xfrm>
            <a:off x="4923663" y="2259806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Key lever</a:t>
            </a:r>
            <a:endParaRPr/>
          </a:p>
        </p:txBody>
      </p:sp>
      <p:sp>
        <p:nvSpPr>
          <p:cNvPr id="20" name="Shape 13"/>
          <p:cNvSpPr/>
          <p:nvPr/>
        </p:nvSpPr>
        <p:spPr>
          <a:xfrm>
            <a:off x="3893439" y="2833688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1" name="Text 27"/>
          <p:cNvSpPr txBox="1"/>
          <p:nvPr/>
        </p:nvSpPr>
        <p:spPr>
          <a:xfrm>
            <a:off x="3531489" y="2643188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Highest upside</a:t>
            </a:r>
            <a:endParaRPr/>
          </a:p>
        </p:txBody>
      </p:sp>
      <p:sp>
        <p:nvSpPr>
          <p:cNvPr id="22" name="Shape 14"/>
          <p:cNvSpPr/>
          <p:nvPr/>
        </p:nvSpPr>
        <p:spPr>
          <a:xfrm>
            <a:off x="8069961" y="2833688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23" name="Text 28"/>
          <p:cNvSpPr txBox="1"/>
          <p:nvPr/>
        </p:nvSpPr>
        <p:spPr>
          <a:xfrm>
            <a:off x="7708011" y="2643188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Highest upside</a:t>
            </a:r>
            <a:endParaRPr/>
          </a:p>
        </p:txBody>
      </p:sp>
      <p:sp>
        <p:nvSpPr>
          <p:cNvPr id="24" name="Shape 15"/>
          <p:cNvSpPr/>
          <p:nvPr/>
        </p:nvSpPr>
        <p:spPr>
          <a:xfrm>
            <a:off x="6677787" y="3217069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5" name="Text 29"/>
          <p:cNvSpPr txBox="1"/>
          <p:nvPr/>
        </p:nvSpPr>
        <p:spPr>
          <a:xfrm>
            <a:off x="6315837" y="3026569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driver</a:t>
            </a:r>
            <a:endParaRPr/>
          </a:p>
        </p:txBody>
      </p:sp>
      <p:sp>
        <p:nvSpPr>
          <p:cNvPr id="26" name="Shape 16"/>
          <p:cNvSpPr/>
          <p:nvPr/>
        </p:nvSpPr>
        <p:spPr>
          <a:xfrm>
            <a:off x="10257663" y="3217069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27" name="Text 30"/>
          <p:cNvSpPr txBox="1"/>
          <p:nvPr/>
        </p:nvSpPr>
        <p:spPr>
          <a:xfrm>
            <a:off x="9895713" y="3026569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b="1" sz="82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driver</a:t>
            </a:r>
            <a:endParaRPr/>
          </a:p>
        </p:txBody>
      </p:sp>
      <p:sp>
        <p:nvSpPr>
          <p:cNvPr id="28" name="Shape 17"/>
          <p:cNvSpPr/>
          <p:nvPr/>
        </p:nvSpPr>
        <p:spPr>
          <a:xfrm>
            <a:off x="552450" y="4162425"/>
            <a:ext cx="171450" cy="952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9" name="Shape 18"/>
          <p:cNvSpPr/>
          <p:nvPr/>
        </p:nvSpPr>
        <p:spPr>
          <a:xfrm>
            <a:off x="552450" y="4162425"/>
            <a:ext cx="171450" cy="95250"/>
          </a:xfrm>
          <a:prstGeom prst="rect">
            <a:avLst/>
          </a:prstGeom>
          <a:noFill/>
        </p:spPr>
      </p:sp>
      <p:sp>
        <p:nvSpPr>
          <p:cNvPr id="30" name="Text 31"/>
          <p:cNvSpPr txBox="1"/>
          <p:nvPr/>
        </p:nvSpPr>
        <p:spPr>
          <a:xfrm>
            <a:off x="819150" y="4145261"/>
            <a:ext cx="3371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Key lever</a:t>
            </a:r>
            <a:endParaRPr/>
          </a:p>
        </p:txBody>
      </p:sp>
      <p:sp>
        <p:nvSpPr>
          <p:cNvPr id="31" name="Shape 19"/>
          <p:cNvSpPr/>
          <p:nvPr/>
        </p:nvSpPr>
        <p:spPr>
          <a:xfrm>
            <a:off x="4276725" y="4162425"/>
            <a:ext cx="171450" cy="95250"/>
          </a:xfrm>
          <a:prstGeom prst="rect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32" name="Shape 20"/>
          <p:cNvSpPr/>
          <p:nvPr/>
        </p:nvSpPr>
        <p:spPr>
          <a:xfrm>
            <a:off x="4276725" y="4162425"/>
            <a:ext cx="171450" cy="95250"/>
          </a:xfrm>
          <a:prstGeom prst="rect">
            <a:avLst/>
          </a:prstGeom>
          <a:noFill/>
        </p:spPr>
      </p:sp>
      <p:sp>
        <p:nvSpPr>
          <p:cNvPr id="33" name="Text 32"/>
          <p:cNvSpPr txBox="1"/>
          <p:nvPr/>
        </p:nvSpPr>
        <p:spPr>
          <a:xfrm>
            <a:off x="4543425" y="4145261"/>
            <a:ext cx="3371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Highest incremental upside</a:t>
            </a:r>
            <a:endParaRPr/>
          </a:p>
        </p:txBody>
      </p:sp>
      <p:sp>
        <p:nvSpPr>
          <p:cNvPr id="34" name="Shape 21"/>
          <p:cNvSpPr/>
          <p:nvPr/>
        </p:nvSpPr>
        <p:spPr>
          <a:xfrm>
            <a:off x="8010525" y="4162425"/>
            <a:ext cx="171450" cy="95250"/>
          </a:xfrm>
          <a:prstGeom prst="rect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35" name="Shape 22"/>
          <p:cNvSpPr/>
          <p:nvPr/>
        </p:nvSpPr>
        <p:spPr>
          <a:xfrm>
            <a:off x="8010525" y="4162425"/>
            <a:ext cx="171450" cy="95250"/>
          </a:xfrm>
          <a:prstGeom prst="rect">
            <a:avLst/>
          </a:prstGeom>
          <a:noFill/>
        </p:spPr>
      </p:sp>
      <p:sp>
        <p:nvSpPr>
          <p:cNvPr id="36" name="Text 33"/>
          <p:cNvSpPr txBox="1"/>
          <p:nvPr/>
        </p:nvSpPr>
        <p:spPr>
          <a:xfrm>
            <a:off x="8267700" y="4145261"/>
            <a:ext cx="33718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Key growth driver</a:t>
            </a:r>
            <a:endParaRPr/>
          </a:p>
        </p:txBody>
      </p:sp>
      <p:sp>
        <p:nvSpPr>
          <p:cNvPr id="37" name="Shape 23"/>
          <p:cNvSpPr/>
          <p:nvPr/>
        </p:nvSpPr>
        <p:spPr>
          <a:xfrm>
            <a:off x="361950" y="4638675"/>
            <a:ext cx="11468100" cy="1085850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8" name="Text 34"/>
          <p:cNvSpPr txBox="1"/>
          <p:nvPr/>
        </p:nvSpPr>
        <p:spPr>
          <a:xfrm>
            <a:off x="533400" y="4810125"/>
            <a:ext cx="11125200" cy="752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For Zepto: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search visibility and new city penetration are under-leveraged.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For Blinkit: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category page dominance and basket attachment show highest incremental upside.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For Instamart: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portfolio expansion and repeat purchase programs are key growth drivers.</a:t>
            </a:r>
            <a:endParaRPr/>
          </a:p>
        </p:txBody>
      </p:sp>
      <p:sp>
        <p:nvSpPr>
          <p:cNvPr id="39" name="Shape 24"/>
          <p:cNvSpPr/>
          <p:nvPr/>
        </p:nvSpPr>
        <p:spPr>
          <a:xfrm>
            <a:off x="361950" y="5895975"/>
            <a:ext cx="11468100" cy="600075"/>
          </a:xfrm>
          <a:prstGeom prst="rect">
            <a:avLst/>
          </a:prstGeom>
          <a:solidFill>
            <a:srgbClr val="EEF2FD"/>
          </a:solidFill>
          <a:ln>
            <a:noFill/>
          </a:ln>
        </p:spPr>
      </p:sp>
      <p:sp>
        <p:nvSpPr>
          <p:cNvPr id="40" name="Shape 25"/>
          <p:cNvSpPr/>
          <p:nvPr/>
        </p:nvSpPr>
        <p:spPr>
          <a:xfrm>
            <a:off x="361950" y="5895975"/>
            <a:ext cx="0" cy="600075"/>
          </a:xfrm>
          <a:prstGeom prst="line">
            <a:avLst/>
          </a:prstGeom>
          <a:noFill/>
          <a:ln w="47625">
            <a:solidFill>
              <a:srgbClr val="2563EB"/>
            </a:solidFill>
          </a:ln>
        </p:spPr>
      </p:sp>
      <p:sp>
        <p:nvSpPr>
          <p:cNvPr id="41" name="Text 35"/>
          <p:cNvSpPr txBox="1"/>
          <p:nvPr/>
        </p:nvSpPr>
        <p:spPr>
          <a:xfrm>
            <a:off x="495300" y="6031040"/>
            <a:ext cx="11201400" cy="476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975"/>
              </a:lnSpc>
              <a:buNone/>
            </a:pPr>
            <a:r>
              <a:rPr b="1" sz="750" spc="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STRATEGIC INSIGHT</a:t>
            </a:r>
            <a:endParaRPr/>
          </a:p>
        </p:txBody>
      </p:sp>
      <p:sp>
        <p:nvSpPr>
          <p:cNvPr id="42" name="Text 36"/>
          <p:cNvSpPr txBox="1"/>
          <p:nvPr/>
        </p:nvSpPr>
        <p:spPr>
          <a:xfrm>
            <a:off x="495300" y="6089485"/>
            <a:ext cx="11201400" cy="2571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Unlocking growth requires orchestrating 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visibility, availability, discoverability, and repeat purchase strategies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, not just increasing ad spend.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7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GROWTH FRAMEWORK</a:t>
            </a:r>
            <a:endParaRPr/>
          </a:p>
        </p:txBody>
      </p:sp>
      <p:sp>
        <p:nvSpPr>
          <p:cNvPr id="3" name="Text 38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Our 4-Phase Framework to Build Category Share</a:t>
            </a:r>
            <a:endParaRPr/>
          </a:p>
        </p:txBody>
      </p:sp>
      <p:sp>
        <p:nvSpPr>
          <p:cNvPr id="4" name="Text 39"/>
          <p:cNvSpPr txBox="1"/>
          <p:nvPr/>
        </p:nvSpPr>
        <p:spPr>
          <a:xfrm>
            <a:off x="361950" y="952652"/>
            <a:ext cx="114681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5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5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 xml:space="preserve">          Quick Commerce is rapidly becoming the primary channel for impulse beverage consumption. XTSY can unlock outsized growth by leveraging data-driven visibility, automation, and category execution to accelerate share and offtakes.</a:t>
            </a:r>
            <a:endParaRPr/>
          </a:p>
          <a:p>
            <a:pPr marL="0" indent="0">
              <a:lnSpc>
                <a:spcPts val="135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  <p:sp>
        <p:nvSpPr>
          <p:cNvPr id="5" name="Shape 26"/>
          <p:cNvSpPr/>
          <p:nvPr/>
        </p:nvSpPr>
        <p:spPr>
          <a:xfrm>
            <a:off x="361950" y="2019300"/>
            <a:ext cx="11468100" cy="2962275"/>
          </a:xfrm>
          <a:prstGeom prst="roundRect">
            <a:avLst>
              <a:gd name="adj" fmla="val 51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40"/>
          <p:cNvSpPr txBox="1"/>
          <p:nvPr/>
        </p:nvSpPr>
        <p:spPr>
          <a:xfrm>
            <a:off x="571500" y="223125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4-Phase Category Share Acceleration Framework</a:t>
            </a:r>
            <a:endParaRPr/>
          </a:p>
        </p:txBody>
      </p:sp>
      <p:sp>
        <p:nvSpPr>
          <p:cNvPr id="7" name="Shape 27"/>
          <p:cNvSpPr/>
          <p:nvPr/>
        </p:nvSpPr>
        <p:spPr>
          <a:xfrm>
            <a:off x="3638550" y="272891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BFD3F7"/>
          </a:solidFill>
          <a:ln>
            <a:noFill/>
          </a:ln>
        </p:spPr>
      </p:sp>
      <p:sp>
        <p:nvSpPr>
          <p:cNvPr id="8" name="Text 41"/>
          <p:cNvSpPr txBox="1"/>
          <p:nvPr/>
        </p:nvSpPr>
        <p:spPr>
          <a:xfrm>
            <a:off x="3638550" y="2728913"/>
            <a:ext cx="11620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Foundation &amp; Hygiene</a:t>
            </a:r>
            <a:endParaRPr/>
          </a:p>
        </p:txBody>
      </p:sp>
      <p:sp>
        <p:nvSpPr>
          <p:cNvPr id="9" name="Shape 28"/>
          <p:cNvSpPr/>
          <p:nvPr/>
        </p:nvSpPr>
        <p:spPr>
          <a:xfrm>
            <a:off x="4800600" y="272891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60A5FA"/>
          </a:solidFill>
          <a:ln>
            <a:noFill/>
          </a:ln>
        </p:spPr>
      </p:sp>
      <p:sp>
        <p:nvSpPr>
          <p:cNvPr id="10" name="Text 42"/>
          <p:cNvSpPr txBox="1"/>
          <p:nvPr/>
        </p:nvSpPr>
        <p:spPr>
          <a:xfrm>
            <a:off x="5067300" y="272891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 Capture</a:t>
            </a:r>
            <a:endParaRPr/>
          </a:p>
        </p:txBody>
      </p:sp>
      <p:sp>
        <p:nvSpPr>
          <p:cNvPr id="11" name="Shape 29"/>
          <p:cNvSpPr/>
          <p:nvPr/>
        </p:nvSpPr>
        <p:spPr>
          <a:xfrm>
            <a:off x="5962650" y="272891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2" name="Text 43"/>
          <p:cNvSpPr txBox="1"/>
          <p:nvPr/>
        </p:nvSpPr>
        <p:spPr>
          <a:xfrm>
            <a:off x="6229350" y="272891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Consumer Expansion</a:t>
            </a:r>
            <a:endParaRPr/>
          </a:p>
        </p:txBody>
      </p:sp>
      <p:sp>
        <p:nvSpPr>
          <p:cNvPr id="13" name="Shape 30"/>
          <p:cNvSpPr/>
          <p:nvPr/>
        </p:nvSpPr>
        <p:spPr>
          <a:xfrm>
            <a:off x="7124700" y="2728913"/>
            <a:ext cx="1428750" cy="762000"/>
          </a:xfrm>
          <a:custGeom>
            <a:avLst/>
            <a:gdLst/>
            <a:ahLst/>
            <a:cxnLst/>
            <a:rect l="l" t="t" r="r" b="b"/>
            <a:pathLst>
              <a:path w="1428750" h="762000">
                <a:moveTo>
                  <a:pt x="0" y="0"/>
                </a:moveTo>
                <a:lnTo>
                  <a:pt x="1162050" y="0"/>
                </a:lnTo>
                <a:lnTo>
                  <a:pt x="1428750" y="381000"/>
                </a:lnTo>
                <a:lnTo>
                  <a:pt x="1162050" y="762000"/>
                </a:lnTo>
                <a:lnTo>
                  <a:pt x="0" y="762000"/>
                </a:lnTo>
                <a:lnTo>
                  <a:pt x="266700" y="381000"/>
                </a:lnTo>
                <a:close/>
              </a:path>
            </a:pathLst>
          </a:custGeom>
          <a:solidFill>
            <a:srgbClr val="1E3A8A"/>
          </a:solidFill>
          <a:ln>
            <a:noFill/>
          </a:ln>
        </p:spPr>
      </p:sp>
      <p:sp>
        <p:nvSpPr>
          <p:cNvPr id="14" name="Text 44"/>
          <p:cNvSpPr txBox="1"/>
          <p:nvPr/>
        </p:nvSpPr>
        <p:spPr>
          <a:xfrm>
            <a:off x="7391400" y="2728913"/>
            <a:ext cx="8953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b="1" sz="90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Scale &amp; Profitability</a:t>
            </a:r>
            <a:endParaRPr/>
          </a:p>
        </p:txBody>
      </p:sp>
      <p:sp>
        <p:nvSpPr>
          <p:cNvPr id="15" name="Text 45"/>
          <p:cNvSpPr txBox="1"/>
          <p:nvPr/>
        </p:nvSpPr>
        <p:spPr>
          <a:xfrm>
            <a:off x="571500" y="3821582"/>
            <a:ext cx="274320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  </a:t>
            </a: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1: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Focus on availability tracking, OOS reduction, search audit, visibility benchmarking, and portfolio prioritization to establish a strong base.</a:t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endParaRPr/>
          </a:p>
        </p:txBody>
      </p:sp>
      <p:sp>
        <p:nvSpPr>
          <p:cNvPr id="16" name="Text 46"/>
          <p:cNvSpPr txBox="1"/>
          <p:nvPr/>
        </p:nvSpPr>
        <p:spPr>
          <a:xfrm>
            <a:off x="3429000" y="3821582"/>
            <a:ext cx="2724150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  </a:t>
            </a: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2: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Drive search dominance, sponsored placements, keyword expansion, competitor conquesting, and category page visibility to win share.</a:t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endParaRPr/>
          </a:p>
        </p:txBody>
      </p:sp>
      <p:sp>
        <p:nvSpPr>
          <p:cNvPr id="17" name="Text 47"/>
          <p:cNvSpPr txBox="1"/>
          <p:nvPr/>
        </p:nvSpPr>
        <p:spPr>
          <a:xfrm>
            <a:off x="6257925" y="3821582"/>
            <a:ext cx="2486025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  </a:t>
            </a: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3: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Target new-to-brand and new-to-category users, expand across platforms and geographies to broaden the consumer base.</a:t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endParaRPr/>
          </a:p>
        </p:txBody>
      </p:sp>
      <p:sp>
        <p:nvSpPr>
          <p:cNvPr id="18" name="Text 48"/>
          <p:cNvSpPr txBox="1"/>
          <p:nvPr/>
        </p:nvSpPr>
        <p:spPr>
          <a:xfrm>
            <a:off x="8839200" y="3821582"/>
            <a:ext cx="2790825" cy="904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  </a:t>
            </a:r>
            <a:r>
              <a:rPr b="1"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Phase 4: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Deploy automation-led optimization, focus on incrementality, accelerate repeat purchase, and scale the portfolio for sustained profitability.</a:t>
            </a:r>
            <a:endParaRPr/>
          </a:p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</a:t>
            </a:r>
            <a:endParaRPr/>
          </a:p>
        </p:txBody>
      </p:sp>
      <p:sp>
        <p:nvSpPr>
          <p:cNvPr id="19" name="Shape 31"/>
          <p:cNvSpPr/>
          <p:nvPr/>
        </p:nvSpPr>
        <p:spPr>
          <a:xfrm>
            <a:off x="361950" y="5153025"/>
            <a:ext cx="11468100" cy="1343025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Text 49"/>
          <p:cNvSpPr txBox="1"/>
          <p:nvPr/>
        </p:nvSpPr>
        <p:spPr>
          <a:xfrm>
            <a:off x="533400" y="5326704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Compounding Impact: From Visibility to Profitability</a:t>
            </a:r>
            <a:endParaRPr/>
          </a:p>
        </p:txBody>
      </p:sp>
      <p:sp>
        <p:nvSpPr>
          <p:cNvPr id="21" name="Shape 32"/>
          <p:cNvSpPr/>
          <p:nvPr/>
        </p:nvSpPr>
        <p:spPr>
          <a:xfrm>
            <a:off x="3848100" y="5943600"/>
            <a:ext cx="4191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22" name="Shape 33"/>
          <p:cNvSpPr/>
          <p:nvPr/>
        </p:nvSpPr>
        <p:spPr>
          <a:xfrm>
            <a:off x="5886450" y="5943600"/>
            <a:ext cx="4191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23" name="Shape 34"/>
          <p:cNvSpPr/>
          <p:nvPr/>
        </p:nvSpPr>
        <p:spPr>
          <a:xfrm>
            <a:off x="7924800" y="5943600"/>
            <a:ext cx="419100" cy="0"/>
          </a:xfrm>
          <a:prstGeom prst="line">
            <a:avLst/>
          </a:prstGeom>
          <a:noFill/>
          <a:ln w="19050">
            <a:solidFill>
              <a:srgbClr val="333333"/>
            </a:solidFill>
            <a:tailEnd type="triangle" w="med" len="med"/>
          </a:ln>
        </p:spPr>
      </p:sp>
      <p:sp>
        <p:nvSpPr>
          <p:cNvPr id="24" name="Shape 35"/>
          <p:cNvSpPr/>
          <p:nvPr/>
        </p:nvSpPr>
        <p:spPr>
          <a:xfrm>
            <a:off x="2228850" y="5734050"/>
            <a:ext cx="1619250" cy="419100"/>
          </a:xfrm>
          <a:prstGeom prst="flowChartProcess">
            <a:avLst/>
          </a:prstGeom>
          <a:solidFill>
            <a:srgbClr val="60A5FA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Visibility</a:t>
            </a:r>
            <a:endParaRPr/>
          </a:p>
        </p:txBody>
      </p:sp>
      <p:sp>
        <p:nvSpPr>
          <p:cNvPr id="25" name="Shape 36"/>
          <p:cNvSpPr/>
          <p:nvPr/>
        </p:nvSpPr>
        <p:spPr>
          <a:xfrm>
            <a:off x="4267200" y="5734050"/>
            <a:ext cx="1619250" cy="419100"/>
          </a:xfrm>
          <a:prstGeom prst="flowChartProcess">
            <a:avLst/>
          </a:prstGeom>
          <a:solidFill>
            <a:srgbClr val="2563EB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Offtakes</a:t>
            </a:r>
            <a:endParaRPr/>
          </a:p>
        </p:txBody>
      </p:sp>
      <p:sp>
        <p:nvSpPr>
          <p:cNvPr id="26" name="Shape 37"/>
          <p:cNvSpPr/>
          <p:nvPr/>
        </p:nvSpPr>
        <p:spPr>
          <a:xfrm>
            <a:off x="6305550" y="5734050"/>
            <a:ext cx="1619250" cy="419100"/>
          </a:xfrm>
          <a:prstGeom prst="flowChartProcess">
            <a:avLst/>
          </a:prstGeom>
          <a:solidFill>
            <a:srgbClr val="1E3A8A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Market Share</a:t>
            </a:r>
            <a:endParaRPr/>
          </a:p>
        </p:txBody>
      </p:sp>
      <p:sp>
        <p:nvSpPr>
          <p:cNvPr id="27" name="Shape 38"/>
          <p:cNvSpPr/>
          <p:nvPr/>
        </p:nvSpPr>
        <p:spPr>
          <a:xfrm>
            <a:off x="8343900" y="5734050"/>
            <a:ext cx="1619250" cy="419100"/>
          </a:xfrm>
          <a:prstGeom prst="flowChartTerminator">
            <a:avLst/>
          </a:prstGeom>
          <a:solidFill>
            <a:srgbClr val="15803D"/>
          </a:solidFill>
          <a:ln w="9525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10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Profitability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0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COMMERCE INTELLIGENCE PLATFORM</a:t>
            </a:r>
            <a:endParaRPr/>
          </a:p>
        </p:txBody>
      </p:sp>
      <p:sp>
        <p:nvSpPr>
          <p:cNvPr id="3" name="Text 51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How Our Commerce Intelligence Platform Drives Faster Growth</a:t>
            </a:r>
            <a:endParaRPr/>
          </a:p>
        </p:txBody>
      </p:sp>
      <p:sp>
        <p:nvSpPr>
          <p:cNvPr id="4" name="Text 52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Data-driven visibility, automation, and execution to accelerate share and offtakes in Quick Commerce</a:t>
            </a:r>
            <a:endParaRPr/>
          </a:p>
        </p:txBody>
      </p:sp>
      <p:sp>
        <p:nvSpPr>
          <p:cNvPr id="5" name="Shape 39"/>
          <p:cNvSpPr/>
          <p:nvPr/>
        </p:nvSpPr>
        <p:spPr>
          <a:xfrm>
            <a:off x="361950" y="1295400"/>
            <a:ext cx="1146810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53"/>
          <p:cNvSpPr txBox="1"/>
          <p:nvPr/>
        </p:nvSpPr>
        <p:spPr>
          <a:xfrm>
            <a:off x="571500" y="1507350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Control Tower: Key Metrics Tracked</a:t>
            </a:r>
            <a:endParaRPr/>
          </a:p>
        </p:txBody>
      </p:sp>
      <p:sp>
        <p:nvSpPr>
          <p:cNvPr id="7" name="Text 54"/>
          <p:cNvSpPr txBox="1"/>
          <p:nvPr/>
        </p:nvSpPr>
        <p:spPr>
          <a:xfrm>
            <a:off x="571500" y="1781175"/>
            <a:ext cx="11049000" cy="1285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Share of Search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Share of Shelf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Availability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Pricing Intelligence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Competitor Monitoring across platforms</a:t>
            </a:r>
            <a:endParaRPr/>
          </a:p>
        </p:txBody>
      </p:sp>
      <p:sp>
        <p:nvSpPr>
          <p:cNvPr id="8" name="Text 55"/>
          <p:cNvSpPr txBox="1"/>
          <p:nvPr/>
        </p:nvSpPr>
        <p:spPr>
          <a:xfrm>
            <a:off x="571500" y="3231032"/>
            <a:ext cx="110490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Unified dashboard for real-time tracking and analytics across all platforms</a:t>
            </a:r>
            <a:endParaRPr/>
          </a:p>
        </p:txBody>
      </p:sp>
      <p:sp>
        <p:nvSpPr>
          <p:cNvPr id="9" name="Shape 40"/>
          <p:cNvSpPr/>
          <p:nvPr/>
        </p:nvSpPr>
        <p:spPr>
          <a:xfrm>
            <a:off x="361950" y="3752850"/>
            <a:ext cx="3686175" cy="1724025"/>
          </a:xfrm>
          <a:prstGeom prst="roundRect">
            <a:avLst>
              <a:gd name="adj" fmla="val 7735"/>
            </a:avLst>
          </a:prstGeom>
          <a:solidFill>
            <a:srgbClr val="EEF2FD"/>
          </a:solidFill>
          <a:ln>
            <a:noFill/>
          </a:ln>
        </p:spPr>
      </p:sp>
      <p:sp>
        <p:nvSpPr>
          <p:cNvPr id="10" name="Shape 41"/>
          <p:cNvSpPr/>
          <p:nvPr/>
        </p:nvSpPr>
        <p:spPr>
          <a:xfrm>
            <a:off x="361950" y="3752850"/>
            <a:ext cx="3686175" cy="1724025"/>
          </a:xfrm>
          <a:custGeom>
            <a:avLst/>
            <a:gdLst/>
            <a:ahLst/>
            <a:cxnLst/>
            <a:rect l="l" t="t" r="r" b="b"/>
            <a:pathLst>
              <a:path w="3686175" h="1724025">
                <a:moveTo>
                  <a:pt x="133350" y="1700213"/>
                </a:moveTo>
                <a:lnTo>
                  <a:pt x="111980" y="1698108"/>
                </a:lnTo>
                <a:lnTo>
                  <a:pt x="91432" y="1691874"/>
                </a:lnTo>
                <a:lnTo>
                  <a:pt x="72494" y="1681752"/>
                </a:lnTo>
                <a:lnTo>
                  <a:pt x="55895" y="1668130"/>
                </a:lnTo>
                <a:lnTo>
                  <a:pt x="42273" y="1651531"/>
                </a:lnTo>
                <a:lnTo>
                  <a:pt x="32151" y="1632593"/>
                </a:lnTo>
                <a:lnTo>
                  <a:pt x="25917" y="1612045"/>
                </a:lnTo>
                <a:lnTo>
                  <a:pt x="23813" y="1590675"/>
                </a:lnTo>
                <a:lnTo>
                  <a:pt x="23813" y="133350"/>
                </a:lnTo>
                <a:lnTo>
                  <a:pt x="25917" y="111980"/>
                </a:lnTo>
                <a:lnTo>
                  <a:pt x="32151" y="91432"/>
                </a:lnTo>
                <a:lnTo>
                  <a:pt x="42273" y="72494"/>
                </a:lnTo>
                <a:lnTo>
                  <a:pt x="55895" y="55895"/>
                </a:lnTo>
                <a:lnTo>
                  <a:pt x="72494" y="42273"/>
                </a:lnTo>
                <a:lnTo>
                  <a:pt x="91432" y="32151"/>
                </a:lnTo>
                <a:lnTo>
                  <a:pt x="111980" y="25917"/>
                </a:lnTo>
                <a:lnTo>
                  <a:pt x="133350" y="23813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pic>
        <p:nvPicPr>
          <p:cNvPr id="11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514350" y="4324350"/>
            <a:ext cx="171450" cy="171450"/>
          </a:xfrm>
          <a:prstGeom prst="rect">
            <a:avLst/>
          </a:prstGeom>
        </p:spPr>
      </p:pic>
      <p:sp>
        <p:nvSpPr>
          <p:cNvPr id="12" name="Text 56"/>
          <p:cNvSpPr txBox="1"/>
          <p:nvPr/>
        </p:nvSpPr>
        <p:spPr>
          <a:xfrm>
            <a:off x="762000" y="4326579"/>
            <a:ext cx="31432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SKU Performance Insights</a:t>
            </a:r>
            <a:endParaRPr/>
          </a:p>
        </p:txBody>
      </p:sp>
      <p:sp>
        <p:nvSpPr>
          <p:cNvPr id="13" name="Text 57"/>
          <p:cNvSpPr txBox="1"/>
          <p:nvPr/>
        </p:nvSpPr>
        <p:spPr>
          <a:xfrm>
            <a:off x="514350" y="4555960"/>
            <a:ext cx="33909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SKU-level performance analytics reveal top and underperforming products, enabling targeted interventions.</a:t>
            </a:r>
            <a:endParaRPr/>
          </a:p>
        </p:txBody>
      </p:sp>
      <p:sp>
        <p:nvSpPr>
          <p:cNvPr id="14" name="Shape 42"/>
          <p:cNvSpPr/>
          <p:nvPr/>
        </p:nvSpPr>
        <p:spPr>
          <a:xfrm>
            <a:off x="4200525" y="3752850"/>
            <a:ext cx="3267075" cy="1724025"/>
          </a:xfrm>
          <a:prstGeom prst="roundRect">
            <a:avLst>
              <a:gd name="adj" fmla="val 7735"/>
            </a:avLst>
          </a:prstGeom>
          <a:solidFill>
            <a:srgbClr val="F0F9F7"/>
          </a:solidFill>
          <a:ln>
            <a:noFill/>
          </a:ln>
        </p:spPr>
      </p:sp>
      <p:sp>
        <p:nvSpPr>
          <p:cNvPr id="15" name="Shape 43"/>
          <p:cNvSpPr/>
          <p:nvPr/>
        </p:nvSpPr>
        <p:spPr>
          <a:xfrm>
            <a:off x="4200525" y="3752850"/>
            <a:ext cx="3267075" cy="1724025"/>
          </a:xfrm>
          <a:custGeom>
            <a:avLst/>
            <a:gdLst/>
            <a:ahLst/>
            <a:cxnLst/>
            <a:rect l="l" t="t" r="r" b="b"/>
            <a:pathLst>
              <a:path w="3267075" h="1724025">
                <a:moveTo>
                  <a:pt x="133350" y="1700213"/>
                </a:moveTo>
                <a:lnTo>
                  <a:pt x="111980" y="1698108"/>
                </a:lnTo>
                <a:lnTo>
                  <a:pt x="91432" y="1691874"/>
                </a:lnTo>
                <a:lnTo>
                  <a:pt x="72494" y="1681752"/>
                </a:lnTo>
                <a:lnTo>
                  <a:pt x="55895" y="1668130"/>
                </a:lnTo>
                <a:lnTo>
                  <a:pt x="42273" y="1651531"/>
                </a:lnTo>
                <a:lnTo>
                  <a:pt x="32151" y="1632593"/>
                </a:lnTo>
                <a:lnTo>
                  <a:pt x="25917" y="1612045"/>
                </a:lnTo>
                <a:lnTo>
                  <a:pt x="23813" y="1590675"/>
                </a:lnTo>
                <a:lnTo>
                  <a:pt x="23813" y="133350"/>
                </a:lnTo>
                <a:lnTo>
                  <a:pt x="25917" y="111980"/>
                </a:lnTo>
                <a:lnTo>
                  <a:pt x="32151" y="91432"/>
                </a:lnTo>
                <a:lnTo>
                  <a:pt x="42273" y="72494"/>
                </a:lnTo>
                <a:lnTo>
                  <a:pt x="55895" y="55895"/>
                </a:lnTo>
                <a:lnTo>
                  <a:pt x="72494" y="42273"/>
                </a:lnTo>
                <a:lnTo>
                  <a:pt x="91432" y="32151"/>
                </a:lnTo>
                <a:lnTo>
                  <a:pt x="111980" y="25917"/>
                </a:lnTo>
                <a:lnTo>
                  <a:pt x="133350" y="23813"/>
                </a:lnTo>
              </a:path>
            </a:pathLst>
          </a:custGeom>
          <a:noFill/>
          <a:ln w="47625">
            <a:solidFill>
              <a:srgbClr val="0EA5E9"/>
            </a:solidFill>
          </a:ln>
        </p:spPr>
      </p:sp>
      <p:pic>
        <p:nvPicPr>
          <p:cNvPr id="16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4352925" y="4324350"/>
            <a:ext cx="171450" cy="171450"/>
          </a:xfrm>
          <a:prstGeom prst="rect">
            <a:avLst/>
          </a:prstGeom>
        </p:spPr>
      </p:pic>
      <p:sp>
        <p:nvSpPr>
          <p:cNvPr id="17" name="Text 58"/>
          <p:cNvSpPr txBox="1"/>
          <p:nvPr/>
        </p:nvSpPr>
        <p:spPr>
          <a:xfrm>
            <a:off x="4600575" y="4326579"/>
            <a:ext cx="27241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City Opportunity Mapping</a:t>
            </a:r>
            <a:endParaRPr/>
          </a:p>
        </p:txBody>
      </p:sp>
      <p:sp>
        <p:nvSpPr>
          <p:cNvPr id="18" name="Text 59"/>
          <p:cNvSpPr txBox="1"/>
          <p:nvPr/>
        </p:nvSpPr>
        <p:spPr>
          <a:xfrm>
            <a:off x="4352925" y="455596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City-level opportunity mapping identifies high-potential growth pockets for focused activation.</a:t>
            </a:r>
            <a:endParaRPr/>
          </a:p>
        </p:txBody>
      </p:sp>
      <p:sp>
        <p:nvSpPr>
          <p:cNvPr id="19" name="Shape 44"/>
          <p:cNvSpPr/>
          <p:nvPr/>
        </p:nvSpPr>
        <p:spPr>
          <a:xfrm>
            <a:off x="7620000" y="3752850"/>
            <a:ext cx="4210050" cy="1724025"/>
          </a:xfrm>
          <a:prstGeom prst="roundRect">
            <a:avLst>
              <a:gd name="adj" fmla="val 7735"/>
            </a:avLst>
          </a:prstGeom>
          <a:solidFill>
            <a:srgbClr val="F7F6F9"/>
          </a:solidFill>
          <a:ln>
            <a:noFill/>
          </a:ln>
        </p:spPr>
      </p:sp>
      <p:sp>
        <p:nvSpPr>
          <p:cNvPr id="20" name="Shape 45"/>
          <p:cNvSpPr/>
          <p:nvPr/>
        </p:nvSpPr>
        <p:spPr>
          <a:xfrm>
            <a:off x="7620000" y="3752850"/>
            <a:ext cx="4210050" cy="1724025"/>
          </a:xfrm>
          <a:custGeom>
            <a:avLst/>
            <a:gdLst/>
            <a:ahLst/>
            <a:cxnLst/>
            <a:rect l="l" t="t" r="r" b="b"/>
            <a:pathLst>
              <a:path w="4210050" h="1724025">
                <a:moveTo>
                  <a:pt x="133350" y="1700213"/>
                </a:moveTo>
                <a:lnTo>
                  <a:pt x="111980" y="1698108"/>
                </a:lnTo>
                <a:lnTo>
                  <a:pt x="91432" y="1691874"/>
                </a:lnTo>
                <a:lnTo>
                  <a:pt x="72494" y="1681752"/>
                </a:lnTo>
                <a:lnTo>
                  <a:pt x="55895" y="1668130"/>
                </a:lnTo>
                <a:lnTo>
                  <a:pt x="42273" y="1651531"/>
                </a:lnTo>
                <a:lnTo>
                  <a:pt x="32151" y="1632593"/>
                </a:lnTo>
                <a:lnTo>
                  <a:pt x="25917" y="1612045"/>
                </a:lnTo>
                <a:lnTo>
                  <a:pt x="23813" y="1590675"/>
                </a:lnTo>
                <a:lnTo>
                  <a:pt x="23813" y="133350"/>
                </a:lnTo>
                <a:lnTo>
                  <a:pt x="25917" y="111980"/>
                </a:lnTo>
                <a:lnTo>
                  <a:pt x="32151" y="91432"/>
                </a:lnTo>
                <a:lnTo>
                  <a:pt x="42273" y="72494"/>
                </a:lnTo>
                <a:lnTo>
                  <a:pt x="55895" y="55895"/>
                </a:lnTo>
                <a:lnTo>
                  <a:pt x="72494" y="42273"/>
                </a:lnTo>
                <a:lnTo>
                  <a:pt x="91432" y="32151"/>
                </a:lnTo>
                <a:lnTo>
                  <a:pt x="111980" y="25917"/>
                </a:lnTo>
                <a:lnTo>
                  <a:pt x="133350" y="23813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pic>
        <p:nvPicPr>
          <p:cNvPr id="21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7772400" y="4162425"/>
            <a:ext cx="171450" cy="171450"/>
          </a:xfrm>
          <a:prstGeom prst="rect">
            <a:avLst/>
          </a:prstGeom>
        </p:spPr>
      </p:pic>
      <p:sp>
        <p:nvSpPr>
          <p:cNvPr id="22" name="Text 60"/>
          <p:cNvSpPr txBox="1"/>
          <p:nvPr/>
        </p:nvSpPr>
        <p:spPr>
          <a:xfrm>
            <a:off x="8020050" y="4164654"/>
            <a:ext cx="36576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268"/>
              </a:lnSpc>
              <a:buNone/>
            </a:pPr>
            <a:r>
              <a:rPr b="1"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Platform Trends &amp; Insights</a:t>
            </a:r>
            <a:endParaRPr/>
          </a:p>
        </p:txBody>
      </p:sp>
      <p:sp>
        <p:nvSpPr>
          <p:cNvPr id="23" name="Text 61"/>
          <p:cNvSpPr txBox="1"/>
          <p:nvPr/>
        </p:nvSpPr>
        <p:spPr>
          <a:xfrm>
            <a:off x="7772400" y="4394035"/>
            <a:ext cx="390525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  Platform-wise growth pockets and category trends are surfaced through </a:t>
            </a:r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real-time</a:t>
            </a: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data, enabling agile decision-making.</a:t>
            </a:r>
            <a:endParaRPr/>
          </a:p>
          <a:p>
            <a:pPr marL="0" indent="0">
              <a:lnSpc>
                <a:spcPts val="1305"/>
              </a:lnSpc>
              <a:buNone/>
            </a:pPr>
            <a:r>
              <a:rPr sz="90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       </a:t>
            </a:r>
            <a:endParaRPr/>
          </a:p>
        </p:txBody>
      </p:sp>
      <p:sp>
        <p:nvSpPr>
          <p:cNvPr id="24" name="Shape 46"/>
          <p:cNvSpPr/>
          <p:nvPr/>
        </p:nvSpPr>
        <p:spPr>
          <a:xfrm>
            <a:off x="361950" y="5648325"/>
            <a:ext cx="11468100" cy="847725"/>
          </a:xfrm>
          <a:prstGeom prst="roundRect">
            <a:avLst>
              <a:gd name="adj" fmla="val 17978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25" name="Text 62"/>
          <p:cNvSpPr txBox="1"/>
          <p:nvPr/>
        </p:nvSpPr>
        <p:spPr>
          <a:xfrm>
            <a:off x="552450" y="5983929"/>
            <a:ext cx="110871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268"/>
              </a:lnSpc>
              <a:buNone/>
            </a:pPr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What gets measured gets scaled: continuous intelligence is the foundation for accelerated growth.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3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ADS AUTOMATION ENGINE</a:t>
            </a:r>
            <a:endParaRPr/>
          </a:p>
        </p:txBody>
      </p:sp>
      <p:sp>
        <p:nvSpPr>
          <p:cNvPr id="3" name="Text 64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Designed for Quick Commerce</a:t>
            </a:r>
            <a:endParaRPr/>
          </a:p>
        </p:txBody>
      </p:sp>
      <p:sp>
        <p:nvSpPr>
          <p:cNvPr id="4" name="Text 65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Unlocking outsized growth through data-driven automation and category execution</a:t>
            </a:r>
            <a:endParaRPr/>
          </a:p>
        </p:txBody>
      </p:sp>
      <p:sp>
        <p:nvSpPr>
          <p:cNvPr id="5" name="Shape 47"/>
          <p:cNvSpPr/>
          <p:nvPr/>
        </p:nvSpPr>
        <p:spPr>
          <a:xfrm>
            <a:off x="361950" y="1581150"/>
            <a:ext cx="6981825" cy="3533775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66"/>
          <p:cNvSpPr txBox="1"/>
          <p:nvPr/>
        </p:nvSpPr>
        <p:spPr>
          <a:xfrm>
            <a:off x="552450" y="1774050"/>
            <a:ext cx="6600825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Automation Workflow</a:t>
            </a:r>
            <a:endParaRPr/>
          </a:p>
        </p:txBody>
      </p:sp>
      <p:sp>
        <p:nvSpPr>
          <p:cNvPr id="7" name="Shape 48"/>
          <p:cNvSpPr/>
          <p:nvPr/>
        </p:nvSpPr>
        <p:spPr>
          <a:xfrm>
            <a:off x="1396079" y="3490913"/>
            <a:ext cx="307810" cy="0"/>
          </a:xfrm>
          <a:prstGeom prst="line">
            <a:avLst/>
          </a:prstGeom>
          <a:noFill/>
          <a:ln w="11400">
            <a:solidFill>
              <a:srgbClr val="333333"/>
            </a:solidFill>
            <a:tailEnd type="triangle" w="med" len="med"/>
          </a:ln>
        </p:spPr>
      </p:sp>
      <p:sp>
        <p:nvSpPr>
          <p:cNvPr id="8" name="Shape 49"/>
          <p:cNvSpPr/>
          <p:nvPr/>
        </p:nvSpPr>
        <p:spPr>
          <a:xfrm>
            <a:off x="2547518" y="3490913"/>
            <a:ext cx="307810" cy="0"/>
          </a:xfrm>
          <a:prstGeom prst="line">
            <a:avLst/>
          </a:prstGeom>
          <a:noFill/>
          <a:ln w="11400">
            <a:solidFill>
              <a:srgbClr val="333333"/>
            </a:solidFill>
            <a:tailEnd type="triangle" w="med" len="med"/>
          </a:ln>
        </p:spPr>
      </p:sp>
      <p:sp>
        <p:nvSpPr>
          <p:cNvPr id="9" name="Shape 50"/>
          <p:cNvSpPr/>
          <p:nvPr/>
        </p:nvSpPr>
        <p:spPr>
          <a:xfrm>
            <a:off x="2547518" y="3490913"/>
            <a:ext cx="1459250" cy="0"/>
          </a:xfrm>
          <a:prstGeom prst="line">
            <a:avLst/>
          </a:prstGeom>
          <a:noFill/>
          <a:ln w="11400">
            <a:solidFill>
              <a:srgbClr val="333333"/>
            </a:solidFill>
            <a:tailEnd type="triangle" w="med" len="med"/>
          </a:ln>
        </p:spPr>
      </p:sp>
      <p:sp>
        <p:nvSpPr>
          <p:cNvPr id="10" name="Shape 51"/>
          <p:cNvSpPr/>
          <p:nvPr/>
        </p:nvSpPr>
        <p:spPr>
          <a:xfrm>
            <a:off x="2547518" y="3490913"/>
            <a:ext cx="2610689" cy="0"/>
          </a:xfrm>
          <a:prstGeom prst="line">
            <a:avLst/>
          </a:prstGeom>
          <a:noFill/>
          <a:ln w="11400">
            <a:solidFill>
              <a:srgbClr val="333333"/>
            </a:solidFill>
            <a:tailEnd type="triangle" w="med" len="med"/>
          </a:ln>
        </p:spPr>
      </p:sp>
      <p:sp>
        <p:nvSpPr>
          <p:cNvPr id="11" name="Shape 52"/>
          <p:cNvSpPr/>
          <p:nvPr/>
        </p:nvSpPr>
        <p:spPr>
          <a:xfrm>
            <a:off x="2547518" y="3490913"/>
            <a:ext cx="3762128" cy="0"/>
          </a:xfrm>
          <a:prstGeom prst="line">
            <a:avLst/>
          </a:prstGeom>
          <a:noFill/>
          <a:ln w="11400">
            <a:solidFill>
              <a:srgbClr val="333333"/>
            </a:solidFill>
            <a:tailEnd type="triangle" w="med" len="med"/>
          </a:ln>
        </p:spPr>
      </p:sp>
      <p:sp>
        <p:nvSpPr>
          <p:cNvPr id="12" name="Shape 53"/>
          <p:cNvSpPr/>
          <p:nvPr/>
        </p:nvSpPr>
        <p:spPr>
          <a:xfrm>
            <a:off x="552450" y="3319907"/>
            <a:ext cx="843629" cy="342012"/>
          </a:xfrm>
          <a:prstGeom prst="flowChartProcess">
            <a:avLst/>
          </a:prstGeom>
          <a:solidFill>
            <a:srgbClr val="0EA5E9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Ingest platform data</a:t>
            </a:r>
            <a:endParaRPr/>
          </a:p>
        </p:txBody>
      </p:sp>
      <p:sp>
        <p:nvSpPr>
          <p:cNvPr id="13" name="Shape 54"/>
          <p:cNvSpPr/>
          <p:nvPr/>
        </p:nvSpPr>
        <p:spPr>
          <a:xfrm>
            <a:off x="1703889" y="3319907"/>
            <a:ext cx="843629" cy="342012"/>
          </a:xfrm>
          <a:prstGeom prst="flowChartDecision">
            <a:avLst/>
          </a:prstGeom>
          <a:solidFill>
            <a:srgbClr val="2563EB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Decision engine</a:t>
            </a:r>
            <a:endParaRPr/>
          </a:p>
        </p:txBody>
      </p:sp>
      <p:sp>
        <p:nvSpPr>
          <p:cNvPr id="14" name="Shape 55"/>
          <p:cNvSpPr/>
          <p:nvPr/>
        </p:nvSpPr>
        <p:spPr>
          <a:xfrm>
            <a:off x="2855328" y="3319907"/>
            <a:ext cx="843629" cy="342012"/>
          </a:xfrm>
          <a:prstGeom prst="flowChartProcess">
            <a:avLst/>
          </a:prstGeom>
          <a:solidFill>
            <a:srgbClr val="F59E0B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Bid optimization</a:t>
            </a:r>
            <a:endParaRPr/>
          </a:p>
        </p:txBody>
      </p:sp>
      <p:sp>
        <p:nvSpPr>
          <p:cNvPr id="15" name="Shape 56"/>
          <p:cNvSpPr/>
          <p:nvPr/>
        </p:nvSpPr>
        <p:spPr>
          <a:xfrm>
            <a:off x="4006768" y="3319907"/>
            <a:ext cx="843629" cy="342012"/>
          </a:xfrm>
          <a:prstGeom prst="flowChartProcess">
            <a:avLst/>
          </a:prstGeom>
          <a:solidFill>
            <a:srgbClr val="F59E0B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Budget reallocation</a:t>
            </a:r>
            <a:endParaRPr/>
          </a:p>
        </p:txBody>
      </p:sp>
      <p:sp>
        <p:nvSpPr>
          <p:cNvPr id="16" name="Shape 57"/>
          <p:cNvSpPr/>
          <p:nvPr/>
        </p:nvSpPr>
        <p:spPr>
          <a:xfrm>
            <a:off x="5158207" y="3319907"/>
            <a:ext cx="843629" cy="342012"/>
          </a:xfrm>
          <a:prstGeom prst="flowChartProcess">
            <a:avLst/>
          </a:prstGeom>
          <a:solidFill>
            <a:srgbClr val="F59E0B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Keyword expansion</a:t>
            </a:r>
            <a:endParaRPr/>
          </a:p>
        </p:txBody>
      </p:sp>
      <p:sp>
        <p:nvSpPr>
          <p:cNvPr id="17" name="Shape 58"/>
          <p:cNvSpPr/>
          <p:nvPr/>
        </p:nvSpPr>
        <p:spPr>
          <a:xfrm>
            <a:off x="6309646" y="3319907"/>
            <a:ext cx="843629" cy="342012"/>
          </a:xfrm>
          <a:prstGeom prst="flowChartProcess">
            <a:avLst/>
          </a:prstGeom>
          <a:solidFill>
            <a:srgbClr val="F59E0B"/>
          </a:solidFill>
          <a:ln w="5700">
            <a:solidFill>
              <a:srgbClr val="333333"/>
            </a:solidFill>
          </a:ln>
        </p:spPr>
        <p:txBody>
          <a:bodyPr wrap="square" anchor="ctr"/>
          <a:lstStyle/>
          <a:p>
            <a:pPr algn="ctr"/>
            <a:r>
              <a:rPr sz="628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Placement optimization</a:t>
            </a:r>
            <a:endParaRPr/>
          </a:p>
        </p:txBody>
      </p:sp>
      <p:sp>
        <p:nvSpPr>
          <p:cNvPr id="18" name="Shape 59"/>
          <p:cNvSpPr/>
          <p:nvPr/>
        </p:nvSpPr>
        <p:spPr>
          <a:xfrm>
            <a:off x="7553325" y="1581150"/>
            <a:ext cx="4276725" cy="3533775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9" name="Text 67"/>
          <p:cNvSpPr txBox="1"/>
          <p:nvPr/>
        </p:nvSpPr>
        <p:spPr>
          <a:xfrm>
            <a:off x="7743825" y="1774050"/>
            <a:ext cx="390525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Automation Benefits</a:t>
            </a:r>
            <a:endParaRPr/>
          </a:p>
        </p:txBody>
      </p:sp>
      <p:sp>
        <p:nvSpPr>
          <p:cNvPr id="20" name="Text 68"/>
          <p:cNvSpPr txBox="1"/>
          <p:nvPr/>
        </p:nvSpPr>
        <p:spPr>
          <a:xfrm>
            <a:off x="7743825" y="2009775"/>
            <a:ext cx="3905250" cy="2914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● 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Faster optimization cycles (hours, not weeks)
  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● 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Reduced manual intervention
  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● 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Improved ROAS
  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● 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Increased share of visibility
  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  </a:t>
            </a:r>
            <a:r>
              <a:rPr sz="97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● </a:t>
            </a:r>
            <a:r>
              <a:rPr sz="9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Higher conversion efficiency
          </a:t>
            </a:r>
            <a:endParaRPr/>
          </a:p>
        </p:txBody>
      </p:sp>
      <p:sp>
        <p:nvSpPr>
          <p:cNvPr id="21" name="Shape 60"/>
          <p:cNvSpPr/>
          <p:nvPr/>
        </p:nvSpPr>
        <p:spPr>
          <a:xfrm>
            <a:off x="361950" y="5286375"/>
            <a:ext cx="11468100" cy="1209675"/>
          </a:xfrm>
          <a:prstGeom prst="roundRect">
            <a:avLst>
              <a:gd name="adj" fmla="val 12598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22" name="Text 69"/>
          <p:cNvSpPr txBox="1"/>
          <p:nvPr/>
        </p:nvSpPr>
        <p:spPr>
          <a:xfrm>
            <a:off x="533400" y="5612692"/>
            <a:ext cx="11125200" cy="54292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Automation enables XTSY to react dynamically to market changes, outperforming competitors who rely on manual processes.</a:t>
            </a:r>
            <a:endParaRPr/>
          </a:p>
          <a:p>
            <a:pPr marL="0" indent="0">
              <a:lnSpc>
                <a:spcPts val="1414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0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EXPECTED BUSINESS IMPACT</a:t>
            </a:r>
            <a:endParaRPr/>
          </a:p>
        </p:txBody>
      </p:sp>
      <p:sp>
        <p:nvSpPr>
          <p:cNvPr id="3" name="Text 71"/>
          <p:cNvSpPr txBox="1"/>
          <p:nvPr/>
        </p:nvSpPr>
        <p:spPr>
          <a:xfrm>
            <a:off x="361950" y="548069"/>
            <a:ext cx="11468100" cy="3714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925"/>
              </a:lnSpc>
              <a:buNone/>
            </a:pPr>
            <a:r>
              <a:rPr b="1" sz="22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Unlocking outsized growth through Quick Commerce acceleration</a:t>
            </a:r>
            <a:endParaRPr/>
          </a:p>
        </p:txBody>
      </p:sp>
      <p:sp>
        <p:nvSpPr>
          <p:cNvPr id="4" name="Text 72"/>
          <p:cNvSpPr txBox="1"/>
          <p:nvPr/>
        </p:nvSpPr>
        <p:spPr>
          <a:xfrm>
            <a:off x="361950" y="964082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Data-driven visibility, automation, and category execution drive share and offtakes</a:t>
            </a:r>
            <a:endParaRPr/>
          </a:p>
        </p:txBody>
      </p:sp>
      <p:sp>
        <p:nvSpPr>
          <p:cNvPr id="5" name="Shape 61"/>
          <p:cNvSpPr/>
          <p:nvPr/>
        </p:nvSpPr>
        <p:spPr>
          <a:xfrm>
            <a:off x="361950" y="1447800"/>
            <a:ext cx="11468100" cy="3667125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73"/>
          <p:cNvSpPr txBox="1"/>
          <p:nvPr/>
        </p:nvSpPr>
        <p:spPr>
          <a:xfrm>
            <a:off x="609600" y="1695450"/>
            <a:ext cx="10972800" cy="3181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↑ 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Category Visibility: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Improved presence on search and category pages drives top-of-funnel awareness.
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↑ 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Search Share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↑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and Sponsored Placement Share: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Greater discoverability leads to higher conversion rates.
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↑ 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New Consumer Acquisition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↑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and Repeat Purchase Rate: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Expanding the consumer base and increasing loyalty fuel sustainable growth.
        </a:t>
            </a:r>
            <a:endParaRPr/>
          </a:p>
          <a:p>
            <a:pPr algn="l" marL="342900" indent="-342900">
              <a:lnSpc>
                <a:spcPct val="145000"/>
              </a:lnSpc>
              <a:buSzPct val="100000"/>
              <a:buChar char="•"/>
            </a:pP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 xml:space="preserve">↑ 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
         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Market Share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sz="1125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↑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</a:t>
            </a: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and Sales Velocity:</a:t>
            </a:r>
            <a:r>
              <a:rPr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 xml:space="preserve"> Accelerated offtakes translate directly into market share gains and revenue growth.
        </a:t>
            </a:r>
            <a:endParaRPr/>
          </a:p>
        </p:txBody>
      </p:sp>
      <p:sp>
        <p:nvSpPr>
          <p:cNvPr id="7" name="Shape 62"/>
          <p:cNvSpPr/>
          <p:nvPr/>
        </p:nvSpPr>
        <p:spPr>
          <a:xfrm>
            <a:off x="361950" y="5305425"/>
            <a:ext cx="11468100" cy="1190625"/>
          </a:xfrm>
          <a:prstGeom prst="roundRect">
            <a:avLst>
              <a:gd name="adj" fmla="val 12800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8" name="Text 74"/>
          <p:cNvSpPr txBox="1"/>
          <p:nvPr/>
        </p:nvSpPr>
        <p:spPr>
          <a:xfrm>
            <a:off x="552450" y="5609596"/>
            <a:ext cx="11087100" cy="561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l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The integrated approach of category intelligence, automation, and performance execution delivers </a:t>
            </a:r>
            <a:r>
              <a:rPr b="1"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compounding business impact</a:t>
            </a: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.</a:t>
            </a:r>
            <a:endParaRPr/>
          </a:p>
          <a:p>
            <a:pPr algn="l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5"/>
          <p:cNvSpPr txBox="1"/>
          <p:nvPr/>
        </p:nvSpPr>
        <p:spPr>
          <a:xfrm>
            <a:off x="361950" y="363836"/>
            <a:ext cx="11468100" cy="1428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073"/>
              </a:lnSpc>
              <a:buNone/>
            </a:pPr>
            <a:r>
              <a:rPr b="1" sz="825" spc="15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ROADMAP</a:t>
            </a:r>
            <a:endParaRPr/>
          </a:p>
        </p:txBody>
      </p:sp>
      <p:sp>
        <p:nvSpPr>
          <p:cNvPr id="3" name="Text 76"/>
          <p:cNvSpPr txBox="1"/>
          <p:nvPr/>
        </p:nvSpPr>
        <p:spPr>
          <a:xfrm>
            <a:off x="361950" y="547897"/>
            <a:ext cx="114681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2828"/>
              </a:lnSpc>
              <a:buNone/>
            </a:pPr>
            <a:r>
              <a:rPr b="1" sz="2175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Next 90 Days: Data-Driven Execution Roadmap</a:t>
            </a:r>
            <a:endParaRPr/>
          </a:p>
        </p:txBody>
      </p:sp>
      <p:sp>
        <p:nvSpPr>
          <p:cNvPr id="4" name="Text 77"/>
          <p:cNvSpPr txBox="1"/>
          <p:nvPr/>
        </p:nvSpPr>
        <p:spPr>
          <a:xfrm>
            <a:off x="361950" y="954557"/>
            <a:ext cx="11468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170"/>
              </a:lnSpc>
              <a:buNone/>
            </a:pPr>
            <a:r>
              <a:rPr sz="900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Accelerating share and offtakes in Quick Commerce through visibility, automation, and category excellence</a:t>
            </a:r>
            <a:endParaRPr/>
          </a:p>
        </p:txBody>
      </p:sp>
      <p:sp>
        <p:nvSpPr>
          <p:cNvPr id="5" name="Shape 63"/>
          <p:cNvSpPr/>
          <p:nvPr/>
        </p:nvSpPr>
        <p:spPr>
          <a:xfrm>
            <a:off x="361950" y="1571625"/>
            <a:ext cx="11468100" cy="3543300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" name="Text 78"/>
          <p:cNvSpPr txBox="1"/>
          <p:nvPr/>
        </p:nvSpPr>
        <p:spPr>
          <a:xfrm>
            <a:off x="571500" y="1783575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marL="0" indent="0">
              <a:lnSpc>
                <a:spcPts val="1365"/>
              </a:lnSpc>
              <a:buNone/>
            </a:pPr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90-Day Execution Timeline</a:t>
            </a:r>
            <a:endParaRPr/>
          </a:p>
        </p:txBody>
      </p:sp>
      <p:sp>
        <p:nvSpPr>
          <p:cNvPr id="7" name="Shape 64"/>
          <p:cNvSpPr/>
          <p:nvPr/>
        </p:nvSpPr>
        <p:spPr>
          <a:xfrm>
            <a:off x="1143000" y="3486150"/>
            <a:ext cx="9906000" cy="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8" name="Shape 65"/>
          <p:cNvSpPr/>
          <p:nvPr/>
        </p:nvSpPr>
        <p:spPr>
          <a:xfrm>
            <a:off x="1028700" y="337185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 79"/>
          <p:cNvSpPr txBox="1"/>
          <p:nvPr/>
        </p:nvSpPr>
        <p:spPr>
          <a:xfrm>
            <a:off x="571500" y="29908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1</a:t>
            </a:r>
            <a:endParaRPr/>
          </a:p>
        </p:txBody>
      </p:sp>
      <p:sp>
        <p:nvSpPr>
          <p:cNvPr id="10" name="Text 80"/>
          <p:cNvSpPr txBox="1"/>
          <p:nvPr/>
        </p:nvSpPr>
        <p:spPr>
          <a:xfrm>
            <a:off x="571500" y="36766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Audit &amp; Benchmarking</a:t>
            </a:r>
            <a:endParaRPr/>
          </a:p>
        </p:txBody>
      </p:sp>
      <p:sp>
        <p:nvSpPr>
          <p:cNvPr id="11" name="Text 81"/>
          <p:cNvSpPr txBox="1"/>
          <p:nvPr/>
        </p:nvSpPr>
        <p:spPr>
          <a:xfrm>
            <a:off x="571500" y="390525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Category assessment, search visibility audit, availability review, and platform diagnostics to establish baselines.</a:t>
            </a:r>
            <a:endParaRPr/>
          </a:p>
        </p:txBody>
      </p:sp>
      <p:sp>
        <p:nvSpPr>
          <p:cNvPr id="12" name="Shape 66"/>
          <p:cNvSpPr/>
          <p:nvPr/>
        </p:nvSpPr>
        <p:spPr>
          <a:xfrm>
            <a:off x="5981700" y="3371850"/>
            <a:ext cx="228600" cy="2286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</p:sp>
      <p:sp>
        <p:nvSpPr>
          <p:cNvPr id="13" name="Text 82"/>
          <p:cNvSpPr txBox="1"/>
          <p:nvPr/>
        </p:nvSpPr>
        <p:spPr>
          <a:xfrm>
            <a:off x="5524500" y="29908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2</a:t>
            </a:r>
            <a:endParaRPr/>
          </a:p>
        </p:txBody>
      </p:sp>
      <p:sp>
        <p:nvSpPr>
          <p:cNvPr id="14" name="Text 83"/>
          <p:cNvSpPr txBox="1"/>
          <p:nvPr/>
        </p:nvSpPr>
        <p:spPr>
          <a:xfrm>
            <a:off x="5524500" y="36766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Growth Activation</a:t>
            </a:r>
            <a:endParaRPr/>
          </a:p>
        </p:txBody>
      </p:sp>
      <p:sp>
        <p:nvSpPr>
          <p:cNvPr id="15" name="Text 84"/>
          <p:cNvSpPr txBox="1"/>
          <p:nvPr/>
        </p:nvSpPr>
        <p:spPr>
          <a:xfrm>
            <a:off x="5524500" y="390525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Search scaling, placement expansion, competitor conquesting, and portfolio prioritization to drive rapid impact.</a:t>
            </a:r>
            <a:endParaRPr/>
          </a:p>
        </p:txBody>
      </p:sp>
      <p:sp>
        <p:nvSpPr>
          <p:cNvPr id="16" name="Shape 67"/>
          <p:cNvSpPr/>
          <p:nvPr/>
        </p:nvSpPr>
        <p:spPr>
          <a:xfrm>
            <a:off x="10934700" y="3371850"/>
            <a:ext cx="228600" cy="22860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</p:sp>
      <p:sp>
        <p:nvSpPr>
          <p:cNvPr id="17" name="Text 85"/>
          <p:cNvSpPr txBox="1"/>
          <p:nvPr/>
        </p:nvSpPr>
        <p:spPr>
          <a:xfrm>
            <a:off x="10477500" y="29908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sz="900">
                <a:solidFill>
                  <a:srgbClr val="2563EB"/>
                </a:solidFill>
                <a:latin typeface="Noto Sans JP"/>
                <a:ea typeface="Noto Sans JP"/>
                <a:cs typeface="Noto Sans JP"/>
              </a:rPr>
              <a:t>Month 3</a:t>
            </a:r>
            <a:endParaRPr/>
          </a:p>
        </p:txBody>
      </p:sp>
      <p:sp>
        <p:nvSpPr>
          <p:cNvPr id="18" name="Text 86"/>
          <p:cNvSpPr txBox="1"/>
          <p:nvPr/>
        </p:nvSpPr>
        <p:spPr>
          <a:xfrm>
            <a:off x="10477500" y="367665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b="1" sz="1050">
                <a:solidFill>
                  <a:srgbClr val="16202E"/>
                </a:solidFill>
                <a:latin typeface="Noto Sans JP"/>
                <a:ea typeface="Noto Sans JP"/>
                <a:cs typeface="Noto Sans JP"/>
              </a:rPr>
              <a:t>Optimization &amp; Scale</a:t>
            </a:r>
            <a:endParaRPr/>
          </a:p>
        </p:txBody>
      </p:sp>
      <p:sp>
        <p:nvSpPr>
          <p:cNvPr id="19" name="Text 87"/>
          <p:cNvSpPr txBox="1"/>
          <p:nvPr/>
        </p:nvSpPr>
        <p:spPr>
          <a:xfrm>
            <a:off x="10477500" y="390525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sz="825">
                <a:solidFill>
                  <a:srgbClr val="55627A"/>
                </a:solidFill>
                <a:latin typeface="Noto Sans JP"/>
                <a:ea typeface="Noto Sans JP"/>
                <a:cs typeface="Noto Sans JP"/>
              </a:rPr>
              <a:t>Automation deployment, budget optimization, expansion planning, and growth measurement to sustain and scale gains.</a:t>
            </a:r>
            <a:endParaRPr/>
          </a:p>
        </p:txBody>
      </p:sp>
      <p:sp>
        <p:nvSpPr>
          <p:cNvPr id="20" name="Shape 68"/>
          <p:cNvSpPr/>
          <p:nvPr/>
        </p:nvSpPr>
        <p:spPr>
          <a:xfrm>
            <a:off x="361950" y="5286375"/>
            <a:ext cx="11468100" cy="1209675"/>
          </a:xfrm>
          <a:prstGeom prst="roundRect">
            <a:avLst>
              <a:gd name="adj" fmla="val 12598"/>
            </a:avLst>
          </a:prstGeom>
          <a:solidFill>
            <a:srgbClr val="16202E"/>
          </a:solidFill>
          <a:ln>
            <a:noFill/>
          </a:ln>
        </p:spPr>
      </p:sp>
      <p:sp>
        <p:nvSpPr>
          <p:cNvPr id="21" name="Text 88"/>
          <p:cNvSpPr txBox="1"/>
          <p:nvPr/>
        </p:nvSpPr>
        <p:spPr>
          <a:xfrm>
            <a:off x="533400" y="5600071"/>
            <a:ext cx="11125200" cy="561975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  <a:endParaRPr/>
          </a:p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  Winning Quick Commerce is no longer about spending more. It is about capturing visibility faster, converting demand better, and scaling through intelligence and automation.</a:t>
            </a:r>
            <a:endParaRPr/>
          </a:p>
          <a:p>
            <a:pPr algn="ctr" marL="0" indent="0">
              <a:lnSpc>
                <a:spcPts val="1463"/>
              </a:lnSpc>
              <a:buNone/>
            </a:pPr>
            <a:r>
              <a:rPr sz="975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 xml:space="preserve"> 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pptx-glimpse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pptx-glimpse</dc:creator>
  <cp:lastModifiedBy>pptx-glimpse</cp:lastModifiedBy>
</cp:coreProperties>
</file>