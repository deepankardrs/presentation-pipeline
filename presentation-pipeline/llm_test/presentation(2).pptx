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OM_LAYOUT"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OM_MASTER"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 1"/>
          <p:cNvSpPr txBox="1"/>
          <p:nvPr/>
        </p:nvSpPr>
        <p:spPr>
          <a:xfrm>
            <a:off x="457200" y="459086"/>
            <a:ext cx="98679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b="1" sz="825" spc="150">
                <a:solidFill>
                  <a:srgbClr val="6D28D9"/>
                </a:solidFill>
                <a:latin typeface="Noto Sans JP"/>
                <a:ea typeface="Noto Sans JP"/>
                <a:cs typeface="Noto Sans JP"/>
              </a:rPr>
              <a:t>UNLOCKING THE NEXT PHASE OF GROWTH</a:t>
            </a:r>
            <a:endParaRPr/>
          </a:p>
        </p:txBody>
      </p:sp>
      <p:sp>
        <p:nvSpPr>
          <p:cNvPr id="2" name="Text 2"/>
          <p:cNvSpPr txBox="1"/>
          <p:nvPr/>
        </p:nvSpPr>
        <p:spPr>
          <a:xfrm>
            <a:off x="457200" y="643319"/>
            <a:ext cx="9867900" cy="3714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2925"/>
              </a:lnSpc>
              <a:buNone/>
            </a:pPr>
            <a:r>
              <a:rPr b="1" sz="2250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XTSY on Quick Commerce</a:t>
            </a:r>
            <a:endParaRPr/>
          </a:p>
        </p:txBody>
      </p:sp>
      <p:sp>
        <p:nvSpPr>
          <p:cNvPr id="3" name="Shape 1"/>
          <p:cNvSpPr/>
          <p:nvPr/>
        </p:nvSpPr>
        <p:spPr>
          <a:xfrm>
            <a:off x="10325100" y="457200"/>
            <a:ext cx="1409700" cy="266700"/>
          </a:xfrm>
          <a:prstGeom prst="roundRect">
            <a:avLst/>
          </a:prstGeom>
          <a:solidFill>
            <a:srgbClr val="EDE9FE"/>
          </a:solidFill>
        </p:spPr>
        <p:txBody>
          <a:bodyPr wrap="square" anchor="ctr"/>
          <a:lstStyle/>
          <a:p>
            <a:pPr algn="ctr">
              <a:lnSpc>
                <a:spcPts val="1073"/>
              </a:lnSpc>
            </a:pPr>
            <a:r>
              <a:rPr b="1" sz="825">
                <a:solidFill>
                  <a:srgbClr val="6D28D9"/>
                </a:solidFill>
                <a:latin typeface="Noto Sans JP"/>
                <a:ea typeface="Noto Sans JP"/>
                <a:cs typeface="Noto Sans JP"/>
              </a:rPr>
              <a:t>Quick Commerce Ecosystem</a:t>
            </a:r>
            <a:endParaRPr/>
          </a:p>
        </p:txBody>
      </p:sp>
      <p:sp>
        <p:nvSpPr>
          <p:cNvPr id="4" name="Shape 2"/>
          <p:cNvSpPr/>
          <p:nvPr/>
        </p:nvSpPr>
        <p:spPr>
          <a:xfrm>
            <a:off x="3848100" y="1219200"/>
            <a:ext cx="1409700" cy="1409700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228600" dist="50800" dir="5400000" algn="bl" rotWithShape="1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8100" y="1219200"/>
            <a:ext cx="1409700" cy="1409700"/>
          </a:xfrm>
          <a:prstGeom prst="ellipse">
            <a:avLst/>
          </a:prstGeom>
          <a:noFill/>
          <a:effectLst>
            <a:outerShdw blurRad="228600" dist="50800" dir="5400000" algn="bl" rotWithShape="1">
              <a:srgbClr val="000000">
                <a:alpha val="10000"/>
              </a:srgbClr>
            </a:outerShdw>
          </a:effectLst>
        </p:spPr>
        <p:txBody>
          <a:bodyPr wrap="square" anchor="ctr"/>
          <a:lstStyle/>
          <a:p>
            <a:pPr algn="ctr">
              <a:lnSpc>
                <a:spcPts val="1560"/>
              </a:lnSpc>
            </a:pPr>
            <a:r>
              <a:rPr b="1" sz="120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XTSY Growth Engine</a:t>
            </a:r>
            <a:endParaRPr/>
          </a:p>
        </p:txBody>
      </p:sp>
      <p:sp>
        <p:nvSpPr>
          <p:cNvPr id="6" name="Shape 4"/>
          <p:cNvSpPr/>
          <p:nvPr/>
        </p:nvSpPr>
        <p:spPr>
          <a:xfrm>
            <a:off x="3848100" y="1219200"/>
            <a:ext cx="685800" cy="685800"/>
          </a:xfrm>
          <a:prstGeom prst="rect">
            <a:avLst/>
          </a:prstGeom>
          <a:solidFill>
            <a:srgbClr val="FEE2E2"/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3848100" y="1219200"/>
            <a:ext cx="685800" cy="685800"/>
          </a:xfrm>
          <a:prstGeom prst="ellipse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268"/>
              </a:lnSpc>
            </a:pPr>
            <a:r>
              <a:rPr b="1"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Zepto</a:t>
            </a:r>
            <a:endParaRPr/>
          </a:p>
        </p:txBody>
      </p:sp>
      <p:sp>
        <p:nvSpPr>
          <p:cNvPr id="8" name="Shape 6"/>
          <p:cNvSpPr/>
          <p:nvPr/>
        </p:nvSpPr>
        <p:spPr>
          <a:xfrm>
            <a:off x="3848100" y="1219200"/>
            <a:ext cx="685800" cy="685800"/>
          </a:xfrm>
          <a:prstGeom prst="rect">
            <a:avLst/>
          </a:prstGeom>
          <a:solidFill>
            <a:srgbClr val="FEF9C3"/>
          </a:solidFill>
          <a:ln>
            <a:noFill/>
          </a:ln>
        </p:spPr>
      </p:sp>
      <p:sp>
        <p:nvSpPr>
          <p:cNvPr id="9" name="Shape 7"/>
          <p:cNvSpPr/>
          <p:nvPr/>
        </p:nvSpPr>
        <p:spPr>
          <a:xfrm>
            <a:off x="3848100" y="1219200"/>
            <a:ext cx="685800" cy="685800"/>
          </a:xfrm>
          <a:prstGeom prst="ellipse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268"/>
              </a:lnSpc>
            </a:pPr>
            <a:r>
              <a:rPr b="1"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Swiggy Instamart</a:t>
            </a:r>
            <a:endParaRPr/>
          </a:p>
        </p:txBody>
      </p:sp>
      <p:sp>
        <p:nvSpPr>
          <p:cNvPr id="10" name="Shape 8"/>
          <p:cNvSpPr/>
          <p:nvPr/>
        </p:nvSpPr>
        <p:spPr>
          <a:xfrm>
            <a:off x="3848100" y="1219200"/>
            <a:ext cx="6858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3848100" y="1219200"/>
            <a:ext cx="685800" cy="685800"/>
          </a:xfrm>
          <a:prstGeom prst="ellipse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268"/>
              </a:lnSpc>
            </a:pPr>
            <a:r>
              <a:rPr b="1"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Blinkit</a:t>
            </a:r>
            <a:endParaRPr/>
          </a:p>
        </p:txBody>
      </p:sp>
      <p:cxnSp>
        <p:nvCxnSpPr>
          <p:cNvPr id="16" name="Connector 1"/>
          <p:cNvCxnSpPr>
            <a:stCxn id="5" idx="0"/>
            <a:endCxn id="7" idx="2"/>
          </p:cNvCxnSpPr>
          <p:nvPr/>
        </p:nvCxnSpPr>
        <p:spPr>
          <a:xfrm flipH="1">
            <a:off x="4191000" y="1219200"/>
            <a:ext cx="361950" cy="685800"/>
          </a:xfrm>
          <a:prstGeom prst="straightConnector1">
            <a:avLst/>
          </a:prstGeom>
          <a:ln w="28575">
            <a:solidFill>
              <a:srgbClr val="6D28D9"/>
            </a:solidFill>
          </a:ln>
        </p:spPr>
      </p:cxnSp>
      <p:cxnSp>
        <p:nvCxnSpPr>
          <p:cNvPr id="17" name="Connector 2"/>
          <p:cNvCxnSpPr>
            <a:stCxn id="5" idx="0"/>
            <a:endCxn id="9" idx="2"/>
          </p:cNvCxnSpPr>
          <p:nvPr/>
        </p:nvCxnSpPr>
        <p:spPr>
          <a:xfrm flipH="1">
            <a:off x="4191000" y="1219200"/>
            <a:ext cx="361950" cy="685800"/>
          </a:xfrm>
          <a:prstGeom prst="straightConnector1">
            <a:avLst/>
          </a:prstGeom>
          <a:ln w="28575">
            <a:solidFill>
              <a:srgbClr val="6D28D9"/>
            </a:solidFill>
          </a:ln>
        </p:spPr>
      </p:cxnSp>
      <p:cxnSp>
        <p:nvCxnSpPr>
          <p:cNvPr id="18" name="Connector 3"/>
          <p:cNvCxnSpPr>
            <a:stCxn id="5" idx="0"/>
            <a:endCxn id="11" idx="2"/>
          </p:cNvCxnSpPr>
          <p:nvPr/>
        </p:nvCxnSpPr>
        <p:spPr>
          <a:xfrm flipH="1">
            <a:off x="4191000" y="1219200"/>
            <a:ext cx="361950" cy="685800"/>
          </a:xfrm>
          <a:prstGeom prst="straightConnector1">
            <a:avLst/>
          </a:prstGeom>
          <a:ln w="28575">
            <a:solidFill>
              <a:srgbClr val="6D28D9"/>
            </a:solidFill>
          </a:ln>
        </p:spPr>
      </p:cxnSp>
      <p:sp>
        <p:nvSpPr>
          <p:cNvPr id="12" name="Shape 10"/>
          <p:cNvSpPr/>
          <p:nvPr/>
        </p:nvSpPr>
        <p:spPr>
          <a:xfrm>
            <a:off x="457200" y="4152900"/>
            <a:ext cx="11277600" cy="1038225"/>
          </a:xfrm>
          <a:prstGeom prst="roundRect">
            <a:avLst>
              <a:gd name="adj" fmla="val 12844"/>
            </a:avLst>
          </a:prstGeom>
          <a:solidFill>
            <a:srgbClr val="FFFFFF"/>
          </a:solidFill>
          <a:ln w="9525">
            <a:solidFill>
              <a:srgbClr val="E6E2F0"/>
            </a:solidFill>
          </a:ln>
        </p:spPr>
      </p:sp>
      <p:sp>
        <p:nvSpPr>
          <p:cNvPr id="13" name="Text 3"/>
          <p:cNvSpPr txBox="1"/>
          <p:nvPr/>
        </p:nvSpPr>
        <p:spPr>
          <a:xfrm>
            <a:off x="628650" y="4314196"/>
            <a:ext cx="10934700" cy="704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463"/>
              </a:lnSpc>
              <a:buNone/>
            </a:pP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  <a:p>
            <a:pPr marL="0" indent="0">
              <a:lnSpc>
                <a:spcPts val="1463"/>
              </a:lnSpc>
              <a:buNone/>
            </a:pP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 xml:space="preserve">          Quick Commerce platforms like </a:t>
            </a:r>
            <a:r>
              <a:rPr b="1"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Zepto</a:t>
            </a: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 xml:space="preserve">, </a:t>
            </a:r>
            <a:r>
              <a:rPr b="1"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Swiggy Instamart</a:t>
            </a: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 xml:space="preserve">, and </a:t>
            </a:r>
            <a:r>
              <a:rPr b="1"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Blinkit</a:t>
            </a: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 xml:space="preserve"> are now primary channels for impulse beverage consumption, with category sales growing </a:t>
            </a:r>
            <a:r>
              <a:rPr sz="975">
                <a:solidFill>
                  <a:srgbClr val="6D28D9"/>
                </a:solidFill>
                <a:latin typeface="Noto Sans JP"/>
                <a:ea typeface="Noto Sans JP"/>
                <a:cs typeface="Noto Sans JP"/>
              </a:rPr>
              <a:t>over 60% YoY</a:t>
            </a: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 xml:space="preserve"> on these platforms.</a:t>
            </a:r>
            <a:endParaRPr/>
          </a:p>
          <a:p>
            <a:pPr marL="0" indent="0">
              <a:lnSpc>
                <a:spcPts val="1463"/>
              </a:lnSpc>
              <a:buNone/>
            </a:pP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 xml:space="preserve">        </a:t>
            </a:r>
            <a:endParaRPr/>
          </a:p>
        </p:txBody>
      </p:sp>
      <p:sp>
        <p:nvSpPr>
          <p:cNvPr id="14" name="Shape 11"/>
          <p:cNvSpPr/>
          <p:nvPr/>
        </p:nvSpPr>
        <p:spPr>
          <a:xfrm>
            <a:off x="457200" y="5362575"/>
            <a:ext cx="11277600" cy="1038225"/>
          </a:xfrm>
          <a:prstGeom prst="roundRect">
            <a:avLst>
              <a:gd name="adj" fmla="val 12844"/>
            </a:avLst>
          </a:prstGeom>
          <a:solidFill>
            <a:srgbClr val="FFFFFF"/>
          </a:solidFill>
          <a:ln w="9525">
            <a:solidFill>
              <a:srgbClr val="E6E2F0"/>
            </a:solidFill>
          </a:ln>
        </p:spPr>
      </p:sp>
      <p:sp>
        <p:nvSpPr>
          <p:cNvPr id="15" name="Text 4"/>
          <p:cNvSpPr txBox="1"/>
          <p:nvPr/>
        </p:nvSpPr>
        <p:spPr>
          <a:xfrm>
            <a:off x="628650" y="5523871"/>
            <a:ext cx="10934700" cy="704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463"/>
              </a:lnSpc>
              <a:buNone/>
            </a:pP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  <a:p>
            <a:pPr marL="0" indent="0">
              <a:lnSpc>
                <a:spcPts val="1463"/>
              </a:lnSpc>
              <a:buNone/>
            </a:pP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 xml:space="preserve">          XTSY is positioned to scale rapidly by leveraging the unique growth engine of Quick Commerce, which combines instant fulfillment, high-frequency purchase occasions, and data-driven commerce execution.</a:t>
            </a:r>
            <a:endParaRPr/>
          </a:p>
          <a:p>
            <a:pPr marL="0" indent="0">
              <a:lnSpc>
                <a:spcPts val="1463"/>
              </a:lnSpc>
              <a:buNone/>
            </a:pP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 xml:space="preserve">       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2"/>
          <p:cNvSpPr/>
          <p:nvPr/>
        </p:nvSpPr>
        <p:spPr>
          <a:xfrm>
            <a:off x="457200" y="457200"/>
            <a:ext cx="11277600" cy="2809875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9525">
            <a:solidFill>
              <a:srgbClr val="E6E2F0"/>
            </a:solidFill>
          </a:ln>
        </p:spPr>
      </p:sp>
      <p:sp>
        <p:nvSpPr>
          <p:cNvPr id="3" name="Text 5"/>
          <p:cNvSpPr txBox="1"/>
          <p:nvPr/>
        </p:nvSpPr>
        <p:spPr>
          <a:xfrm>
            <a:off x="666750" y="668636"/>
            <a:ext cx="108585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b="1" sz="825" spc="150">
                <a:solidFill>
                  <a:srgbClr val="6D28D9"/>
                </a:solidFill>
                <a:latin typeface="Noto Sans JP"/>
                <a:ea typeface="Noto Sans JP"/>
                <a:cs typeface="Noto Sans JP"/>
              </a:rPr>
              <a:t>DEMAND PEAKS</a:t>
            </a:r>
            <a:endParaRPr/>
          </a:p>
        </p:txBody>
      </p:sp>
      <p:sp>
        <p:nvSpPr>
          <p:cNvPr id="4" name="Text 6"/>
          <p:cNvSpPr txBox="1"/>
          <p:nvPr/>
        </p:nvSpPr>
        <p:spPr>
          <a:xfrm>
            <a:off x="666750" y="900151"/>
            <a:ext cx="10858500" cy="3524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2730"/>
              </a:lnSpc>
              <a:buNone/>
            </a:pPr>
            <a:r>
              <a:rPr b="1" sz="2100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Energy Drink Consumption Peaks by Occasion</a:t>
            </a:r>
            <a:endParaRPr/>
          </a:p>
        </p:txBody>
      </p:sp>
      <p:sp>
        <p:nvSpPr>
          <p:cNvPr id="5" name="Shape 13"/>
          <p:cNvSpPr/>
          <p:nvPr/>
        </p:nvSpPr>
        <p:spPr>
          <a:xfrm>
            <a:off x="1238250" y="2195513"/>
            <a:ext cx="9715500" cy="0"/>
          </a:xfrm>
          <a:prstGeom prst="line">
            <a:avLst/>
          </a:prstGeom>
          <a:noFill/>
          <a:ln w="38100">
            <a:solidFill>
              <a:srgbClr val="6D28D9"/>
            </a:solidFill>
          </a:ln>
        </p:spPr>
      </p:sp>
      <p:sp>
        <p:nvSpPr>
          <p:cNvPr id="6" name="Shape 14"/>
          <p:cNvSpPr/>
          <p:nvPr/>
        </p:nvSpPr>
        <p:spPr>
          <a:xfrm>
            <a:off x="1123950" y="2081213"/>
            <a:ext cx="228600" cy="2286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666750" y="1700213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sz="900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>6-9am, 5-8pm</a:t>
            </a:r>
            <a:endParaRPr/>
          </a:p>
        </p:txBody>
      </p:sp>
      <p:sp>
        <p:nvSpPr>
          <p:cNvPr id="8" name="Text 8"/>
          <p:cNvSpPr txBox="1"/>
          <p:nvPr/>
        </p:nvSpPr>
        <p:spPr>
          <a:xfrm>
            <a:off x="666750" y="2386013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b="1" sz="1050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Pre-workout</a:t>
            </a:r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666750" y="2614613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sz="825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>Energy boost before exercise</a:t>
            </a:r>
            <a:endParaRPr/>
          </a:p>
        </p:txBody>
      </p:sp>
      <p:sp>
        <p:nvSpPr>
          <p:cNvPr id="10" name="Shape 15"/>
          <p:cNvSpPr/>
          <p:nvPr/>
        </p:nvSpPr>
        <p:spPr>
          <a:xfrm>
            <a:off x="3067050" y="2081213"/>
            <a:ext cx="228600" cy="2286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1" name="Text 10"/>
          <p:cNvSpPr txBox="1"/>
          <p:nvPr/>
        </p:nvSpPr>
        <p:spPr>
          <a:xfrm>
            <a:off x="2609850" y="1700213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sz="900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>8pm-1am</a:t>
            </a:r>
            <a:endParaRPr/>
          </a:p>
        </p:txBody>
      </p:sp>
      <p:sp>
        <p:nvSpPr>
          <p:cNvPr id="12" name="Text 11"/>
          <p:cNvSpPr txBox="1"/>
          <p:nvPr/>
        </p:nvSpPr>
        <p:spPr>
          <a:xfrm>
            <a:off x="2609850" y="2386013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b="1" sz="1050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Gaming sessions</a:t>
            </a:r>
            <a:endParaRPr/>
          </a:p>
        </p:txBody>
      </p:sp>
      <p:sp>
        <p:nvSpPr>
          <p:cNvPr id="13" name="Text 12"/>
          <p:cNvSpPr txBox="1"/>
          <p:nvPr/>
        </p:nvSpPr>
        <p:spPr>
          <a:xfrm>
            <a:off x="2609850" y="2614613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sz="825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>Sustained focus for play</a:t>
            </a:r>
            <a:endParaRPr/>
          </a:p>
        </p:txBody>
      </p:sp>
      <p:sp>
        <p:nvSpPr>
          <p:cNvPr id="14" name="Shape 16"/>
          <p:cNvSpPr/>
          <p:nvPr/>
        </p:nvSpPr>
        <p:spPr>
          <a:xfrm>
            <a:off x="5010150" y="2081213"/>
            <a:ext cx="228600" cy="22860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</p:sp>
      <p:sp>
        <p:nvSpPr>
          <p:cNvPr id="15" name="Text 13"/>
          <p:cNvSpPr txBox="1"/>
          <p:nvPr/>
        </p:nvSpPr>
        <p:spPr>
          <a:xfrm>
            <a:off x="4552950" y="1700213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sz="900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>10pm-2am</a:t>
            </a:r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4552950" y="2386013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b="1" sz="1050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Late-night work/study</a:t>
            </a:r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4552950" y="2614613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sz="825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>Productivity during late hours</a:t>
            </a:r>
            <a:endParaRPr/>
          </a:p>
        </p:txBody>
      </p:sp>
      <p:sp>
        <p:nvSpPr>
          <p:cNvPr id="18" name="Shape 17"/>
          <p:cNvSpPr/>
          <p:nvPr/>
        </p:nvSpPr>
        <p:spPr>
          <a:xfrm>
            <a:off x="6953250" y="2081213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9" name="Text 16"/>
          <p:cNvSpPr txBox="1"/>
          <p:nvPr/>
        </p:nvSpPr>
        <p:spPr>
          <a:xfrm>
            <a:off x="6496050" y="1700213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sz="900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>7-10am, 6-9pm</a:t>
            </a:r>
            <a:endParaRPr/>
          </a:p>
        </p:txBody>
      </p:sp>
      <p:sp>
        <p:nvSpPr>
          <p:cNvPr id="20" name="Text 17"/>
          <p:cNvSpPr txBox="1"/>
          <p:nvPr/>
        </p:nvSpPr>
        <p:spPr>
          <a:xfrm>
            <a:off x="6496050" y="2386013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b="1" sz="1050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Travel/commuting</a:t>
            </a:r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6496050" y="2614613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sz="825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>Alertness on the move</a:t>
            </a:r>
            <a:endParaRPr/>
          </a:p>
        </p:txBody>
      </p:sp>
      <p:sp>
        <p:nvSpPr>
          <p:cNvPr id="22" name="Shape 18"/>
          <p:cNvSpPr/>
          <p:nvPr/>
        </p:nvSpPr>
        <p:spPr>
          <a:xfrm>
            <a:off x="8896350" y="2081213"/>
            <a:ext cx="228600" cy="228600"/>
          </a:xfrm>
          <a:prstGeom prst="ellipse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23" name="Text 19"/>
          <p:cNvSpPr txBox="1"/>
          <p:nvPr/>
        </p:nvSpPr>
        <p:spPr>
          <a:xfrm>
            <a:off x="8439150" y="1700213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sz="900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>8pm-2am</a:t>
            </a:r>
            <a:endParaRPr/>
          </a:p>
        </p:txBody>
      </p:sp>
      <p:sp>
        <p:nvSpPr>
          <p:cNvPr id="24" name="Text 20"/>
          <p:cNvSpPr txBox="1"/>
          <p:nvPr/>
        </p:nvSpPr>
        <p:spPr>
          <a:xfrm>
            <a:off x="8439150" y="2386013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b="1" sz="1050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Parties/social occasions</a:t>
            </a:r>
            <a:endParaRPr/>
          </a:p>
        </p:txBody>
      </p:sp>
      <p:sp>
        <p:nvSpPr>
          <p:cNvPr id="25" name="Text 21"/>
          <p:cNvSpPr txBox="1"/>
          <p:nvPr/>
        </p:nvSpPr>
        <p:spPr>
          <a:xfrm>
            <a:off x="8439150" y="2614613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sz="825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>Social energy lift</a:t>
            </a:r>
            <a:endParaRPr/>
          </a:p>
        </p:txBody>
      </p:sp>
      <p:sp>
        <p:nvSpPr>
          <p:cNvPr id="26" name="Shape 19"/>
          <p:cNvSpPr/>
          <p:nvPr/>
        </p:nvSpPr>
        <p:spPr>
          <a:xfrm>
            <a:off x="10839450" y="2081213"/>
            <a:ext cx="228600" cy="2286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7" name="Text 22"/>
          <p:cNvSpPr txBox="1"/>
          <p:nvPr/>
        </p:nvSpPr>
        <p:spPr>
          <a:xfrm>
            <a:off x="10382250" y="1700213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sz="900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>All day</a:t>
            </a:r>
            <a:endParaRPr/>
          </a:p>
        </p:txBody>
      </p:sp>
      <p:sp>
        <p:nvSpPr>
          <p:cNvPr id="28" name="Text 23"/>
          <p:cNvSpPr txBox="1"/>
          <p:nvPr/>
        </p:nvSpPr>
        <p:spPr>
          <a:xfrm>
            <a:off x="10382250" y="2386013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b="1" sz="1050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Instant energy needs</a:t>
            </a:r>
            <a:endParaRPr/>
          </a:p>
        </p:txBody>
      </p:sp>
      <p:sp>
        <p:nvSpPr>
          <p:cNvPr id="29" name="Text 24"/>
          <p:cNvSpPr txBox="1"/>
          <p:nvPr/>
        </p:nvSpPr>
        <p:spPr>
          <a:xfrm>
            <a:off x="10382250" y="2614613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sz="825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>On-demand pick-me-up</a:t>
            </a:r>
            <a:endParaRPr/>
          </a:p>
        </p:txBody>
      </p:sp>
      <p:sp>
        <p:nvSpPr>
          <p:cNvPr id="30" name="Shape 20"/>
          <p:cNvSpPr/>
          <p:nvPr/>
        </p:nvSpPr>
        <p:spPr>
          <a:xfrm>
            <a:off x="457200" y="3495675"/>
            <a:ext cx="5572125" cy="1000125"/>
          </a:xfrm>
          <a:prstGeom prst="roundRect">
            <a:avLst>
              <a:gd name="adj" fmla="val 13333"/>
            </a:avLst>
          </a:prstGeom>
          <a:solidFill>
            <a:srgbClr val="F3E8FF"/>
          </a:solidFill>
          <a:ln w="9525">
            <a:solidFill>
              <a:srgbClr val="E6E2F0"/>
            </a:solidFill>
          </a:ln>
        </p:spPr>
      </p:sp>
      <p:sp>
        <p:nvSpPr>
          <p:cNvPr id="31" name="Text 25"/>
          <p:cNvSpPr txBox="1"/>
          <p:nvPr/>
        </p:nvSpPr>
        <p:spPr>
          <a:xfrm>
            <a:off x="590550" y="3669011"/>
            <a:ext cx="5305425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b="1" sz="825">
                <a:solidFill>
                  <a:srgbClr val="6D28D9"/>
                </a:solidFill>
                <a:latin typeface="Noto Sans JP"/>
                <a:ea typeface="Noto Sans JP"/>
                <a:cs typeface="Noto Sans JP"/>
              </a:rPr>
              <a:t>Quick Commerce</a:t>
            </a:r>
            <a:endParaRPr/>
          </a:p>
        </p:txBody>
      </p:sp>
      <p:sp>
        <p:nvSpPr>
          <p:cNvPr id="32" name="Text 26"/>
          <p:cNvSpPr txBox="1"/>
          <p:nvPr/>
        </p:nvSpPr>
        <p:spPr>
          <a:xfrm>
            <a:off x="590550" y="3842690"/>
            <a:ext cx="5305425" cy="3143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2340"/>
              </a:lnSpc>
              <a:buNone/>
            </a:pPr>
            <a:r>
              <a:rPr b="1" sz="1800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70</a:t>
            </a:r>
            <a:r>
              <a:rPr b="1" sz="1050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>%+</a:t>
            </a:r>
            <a:endParaRPr/>
          </a:p>
        </p:txBody>
      </p:sp>
      <p:sp>
        <p:nvSpPr>
          <p:cNvPr id="33" name="Text 27"/>
          <p:cNvSpPr txBox="1"/>
          <p:nvPr/>
        </p:nvSpPr>
        <p:spPr>
          <a:xfrm>
            <a:off x="590550" y="4183361"/>
            <a:ext cx="5305425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sz="825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>Impulse &amp; instant-need purchases</a:t>
            </a:r>
            <a:endParaRPr/>
          </a:p>
        </p:txBody>
      </p:sp>
      <p:sp>
        <p:nvSpPr>
          <p:cNvPr id="34" name="Shape 21"/>
          <p:cNvSpPr/>
          <p:nvPr/>
        </p:nvSpPr>
        <p:spPr>
          <a:xfrm>
            <a:off x="6162675" y="3495675"/>
            <a:ext cx="5572125" cy="1000125"/>
          </a:xfrm>
          <a:prstGeom prst="roundRect">
            <a:avLst>
              <a:gd name="adj" fmla="val 13333"/>
            </a:avLst>
          </a:prstGeom>
          <a:solidFill>
            <a:srgbClr val="E0E7FF"/>
          </a:solidFill>
          <a:ln w="9525">
            <a:solidFill>
              <a:srgbClr val="E6E2F0"/>
            </a:solidFill>
          </a:ln>
        </p:spPr>
      </p:sp>
      <p:sp>
        <p:nvSpPr>
          <p:cNvPr id="35" name="Text 28"/>
          <p:cNvSpPr txBox="1"/>
          <p:nvPr/>
        </p:nvSpPr>
        <p:spPr>
          <a:xfrm>
            <a:off x="6296025" y="3669011"/>
            <a:ext cx="5305425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b="1" sz="825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>Traditional Retail</a:t>
            </a:r>
            <a:endParaRPr/>
          </a:p>
        </p:txBody>
      </p:sp>
      <p:sp>
        <p:nvSpPr>
          <p:cNvPr id="36" name="Text 29"/>
          <p:cNvSpPr txBox="1"/>
          <p:nvPr/>
        </p:nvSpPr>
        <p:spPr>
          <a:xfrm>
            <a:off x="6296025" y="3842690"/>
            <a:ext cx="5305425" cy="3143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2340"/>
              </a:lnSpc>
              <a:buNone/>
            </a:pPr>
            <a:r>
              <a:rPr b="1" sz="1800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45</a:t>
            </a:r>
            <a:r>
              <a:rPr b="1" sz="1050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>%</a:t>
            </a:r>
            <a:endParaRPr/>
          </a:p>
        </p:txBody>
      </p:sp>
      <p:sp>
        <p:nvSpPr>
          <p:cNvPr id="37" name="Text 30"/>
          <p:cNvSpPr txBox="1"/>
          <p:nvPr/>
        </p:nvSpPr>
        <p:spPr>
          <a:xfrm>
            <a:off x="6296025" y="4183361"/>
            <a:ext cx="5305425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sz="825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>Impulse &amp; instant-need purchases</a:t>
            </a:r>
            <a:endParaRPr/>
          </a:p>
        </p:txBody>
      </p:sp>
      <p:sp>
        <p:nvSpPr>
          <p:cNvPr id="38" name="Shape 22"/>
          <p:cNvSpPr/>
          <p:nvPr/>
        </p:nvSpPr>
        <p:spPr>
          <a:xfrm>
            <a:off x="457200" y="4724400"/>
            <a:ext cx="11277600" cy="1676400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E6E2F0"/>
            </a:solidFill>
          </a:ln>
        </p:spPr>
      </p:sp>
      <p:sp>
        <p:nvSpPr>
          <p:cNvPr id="39" name="Text 31"/>
          <p:cNvSpPr txBox="1"/>
          <p:nvPr/>
        </p:nvSpPr>
        <p:spPr>
          <a:xfrm>
            <a:off x="628650" y="5305425"/>
            <a:ext cx="109347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sz="975">
                <a:solidFill>
                  <a:srgbClr val="6D28D9"/>
                </a:solidFill>
                <a:latin typeface="Noto Sans JP"/>
                <a:ea typeface="Noto Sans JP"/>
                <a:cs typeface="Noto Sans JP"/>
              </a:rPr>
              <a:t xml:space="preserve">• </a:t>
            </a: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Increased frequency of demand moments</a:t>
            </a:r>
            <a:endParaRPr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sz="975">
                <a:solidFill>
                  <a:srgbClr val="6D28D9"/>
                </a:solidFill>
                <a:latin typeface="Noto Sans JP"/>
                <a:ea typeface="Noto Sans JP"/>
                <a:cs typeface="Noto Sans JP"/>
              </a:rPr>
              <a:t xml:space="preserve">• </a:t>
            </a: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Quick Commerce fulfills immediate consumption occasions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2"/>
          <p:cNvSpPr txBox="1"/>
          <p:nvPr/>
        </p:nvSpPr>
        <p:spPr>
          <a:xfrm>
            <a:off x="457200" y="459086"/>
            <a:ext cx="112776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b="1" sz="825" spc="150">
                <a:solidFill>
                  <a:srgbClr val="6D28D9"/>
                </a:solidFill>
                <a:latin typeface="Noto Sans JP"/>
                <a:ea typeface="Noto Sans JP"/>
                <a:cs typeface="Noto Sans JP"/>
              </a:rPr>
              <a:t>GROWTH OPPORTUNITIES</a:t>
            </a:r>
            <a:endParaRPr/>
          </a:p>
        </p:txBody>
      </p:sp>
      <p:sp>
        <p:nvSpPr>
          <p:cNvPr id="3" name="Text 33"/>
          <p:cNvSpPr txBox="1"/>
          <p:nvPr/>
        </p:nvSpPr>
        <p:spPr>
          <a:xfrm>
            <a:off x="457200" y="643319"/>
            <a:ext cx="11277600" cy="3714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2925"/>
              </a:lnSpc>
              <a:buNone/>
            </a:pPr>
            <a:r>
              <a:rPr b="1" sz="2250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Growth Opportunities for XTSY Across Quick Commerce Platforms</a:t>
            </a:r>
            <a:endParaRPr/>
          </a:p>
        </p:txBody>
      </p:sp>
      <p:sp>
        <p:nvSpPr>
          <p:cNvPr id="4" name="Text 34"/>
          <p:cNvSpPr txBox="1"/>
          <p:nvPr/>
        </p:nvSpPr>
        <p:spPr>
          <a:xfrm>
            <a:off x="457200" y="1059332"/>
            <a:ext cx="112776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>Quick Commerce is rapidly reshaping beverage consumption. XTSY can capture outsized category growth by leveraging data-driven execution, automation, and platform-specific scale levers.</a:t>
            </a:r>
            <a:endParaRPr/>
          </a:p>
        </p:txBody>
      </p:sp>
      <p:sp>
        <p:nvSpPr>
          <p:cNvPr id="5" name="Shape 23"/>
          <p:cNvSpPr/>
          <p:nvPr/>
        </p:nvSpPr>
        <p:spPr>
          <a:xfrm>
            <a:off x="457200" y="1771650"/>
            <a:ext cx="11277600" cy="3152775"/>
          </a:xfrm>
          <a:prstGeom prst="roundRect">
            <a:avLst>
              <a:gd name="adj" fmla="val 4230"/>
            </a:avLst>
          </a:prstGeom>
          <a:solidFill>
            <a:srgbClr val="FFFFFF"/>
          </a:solidFill>
          <a:ln w="9525">
            <a:solidFill>
              <a:srgbClr val="E6E2F0"/>
            </a:solidFill>
          </a:ln>
        </p:spPr>
      </p:sp>
      <p:sp>
        <p:nvSpPr>
          <p:cNvPr id="6" name="Text 35"/>
          <p:cNvSpPr txBox="1"/>
          <p:nvPr/>
        </p:nvSpPr>
        <p:spPr>
          <a:xfrm>
            <a:off x="628650" y="1945500"/>
            <a:ext cx="54673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65"/>
              </a:lnSpc>
              <a:buNone/>
            </a:pPr>
            <a:r>
              <a:rPr b="1" sz="1050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Platform x Growth Lever Opportunity Matrix</a:t>
            </a:r>
            <a:endParaRPr/>
          </a:p>
        </p:txBody>
      </p:sp>
      <p:sp>
        <p:nvSpPr>
          <p:cNvPr id="7" name="Text 36"/>
          <p:cNvSpPr txBox="1"/>
          <p:nvPr/>
        </p:nvSpPr>
        <p:spPr>
          <a:xfrm>
            <a:off x="6096000" y="1954511"/>
            <a:ext cx="54673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sz="825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>Strengths and whitespace by platform</a:t>
            </a:r>
            <a:endParaRPr/>
          </a:p>
        </p:txBody>
      </p:sp>
      <p:sp>
        <p:nvSpPr>
          <p:cNvPr id="8" name="Shape 24"/>
          <p:cNvSpPr/>
          <p:nvPr/>
        </p:nvSpPr>
        <p:spPr>
          <a:xfrm>
            <a:off x="1200150" y="3367088"/>
            <a:ext cx="9791700" cy="0"/>
          </a:xfrm>
          <a:prstGeom prst="line">
            <a:avLst/>
          </a:prstGeom>
          <a:noFill/>
          <a:ln w="19050">
            <a:solidFill>
              <a:srgbClr val="E2E8F0"/>
            </a:solidFill>
          </a:ln>
        </p:spPr>
      </p:sp>
      <p:sp>
        <p:nvSpPr>
          <p:cNvPr id="9" name="Shape 25"/>
          <p:cNvSpPr/>
          <p:nvPr/>
        </p:nvSpPr>
        <p:spPr>
          <a:xfrm>
            <a:off x="6096000" y="2781300"/>
            <a:ext cx="0" cy="1171575"/>
          </a:xfrm>
          <a:prstGeom prst="line">
            <a:avLst/>
          </a:prstGeom>
          <a:noFill/>
          <a:ln w="19050">
            <a:solidFill>
              <a:srgbClr val="E2E8F0"/>
            </a:solidFill>
          </a:ln>
        </p:spPr>
      </p:sp>
      <p:sp>
        <p:nvSpPr>
          <p:cNvPr id="10" name="Text 37"/>
          <p:cNvSpPr txBox="1"/>
          <p:nvPr/>
        </p:nvSpPr>
        <p:spPr>
          <a:xfrm>
            <a:off x="5524500" y="4029075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sz="900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>Platform</a:t>
            </a:r>
            <a:endParaRPr/>
          </a:p>
        </p:txBody>
      </p:sp>
      <p:sp>
        <p:nvSpPr>
          <p:cNvPr id="11" name="Text 38"/>
          <p:cNvSpPr txBox="1"/>
          <p:nvPr/>
        </p:nvSpPr>
        <p:spPr>
          <a:xfrm rot="16200000">
            <a:off x="438150" y="3271838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sz="900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>Growth Lever</a:t>
            </a:r>
            <a:endParaRPr/>
          </a:p>
        </p:txBody>
      </p:sp>
      <p:sp>
        <p:nvSpPr>
          <p:cNvPr id="12" name="Text 39"/>
          <p:cNvSpPr txBox="1"/>
          <p:nvPr/>
        </p:nvSpPr>
        <p:spPr>
          <a:xfrm>
            <a:off x="1295400" y="2876550"/>
            <a:ext cx="47053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sz="825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</p:txBody>
      </p:sp>
      <p:sp>
        <p:nvSpPr>
          <p:cNvPr id="13" name="Text 40"/>
          <p:cNvSpPr txBox="1"/>
          <p:nvPr/>
        </p:nvSpPr>
        <p:spPr>
          <a:xfrm>
            <a:off x="6191250" y="2876550"/>
            <a:ext cx="47053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sz="825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</p:txBody>
      </p:sp>
      <p:sp>
        <p:nvSpPr>
          <p:cNvPr id="14" name="Text 41"/>
          <p:cNvSpPr txBox="1"/>
          <p:nvPr/>
        </p:nvSpPr>
        <p:spPr>
          <a:xfrm>
            <a:off x="1295400" y="3400425"/>
            <a:ext cx="47053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/>
            <a:r>
              <a:rPr sz="825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</p:txBody>
      </p:sp>
      <p:sp>
        <p:nvSpPr>
          <p:cNvPr id="15" name="Text 42"/>
          <p:cNvSpPr txBox="1"/>
          <p:nvPr/>
        </p:nvSpPr>
        <p:spPr>
          <a:xfrm>
            <a:off x="6191250" y="3400425"/>
            <a:ext cx="47053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r"/>
            <a:r>
              <a:rPr sz="825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</p:txBody>
      </p:sp>
      <p:sp>
        <p:nvSpPr>
          <p:cNvPr id="16" name="Shape 26"/>
          <p:cNvSpPr/>
          <p:nvPr/>
        </p:nvSpPr>
        <p:spPr>
          <a:xfrm>
            <a:off x="1085850" y="2667000"/>
            <a:ext cx="228600" cy="2286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</p:sp>
      <p:sp>
        <p:nvSpPr>
          <p:cNvPr id="17" name="Text 43"/>
          <p:cNvSpPr txBox="1"/>
          <p:nvPr/>
        </p:nvSpPr>
        <p:spPr>
          <a:xfrm>
            <a:off x="723900" y="2476500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b="1" sz="82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High potential in search visibility and new city penetration</a:t>
            </a:r>
            <a:endParaRPr/>
          </a:p>
        </p:txBody>
      </p:sp>
      <p:sp>
        <p:nvSpPr>
          <p:cNvPr id="18" name="Shape 27"/>
          <p:cNvSpPr/>
          <p:nvPr/>
        </p:nvSpPr>
        <p:spPr>
          <a:xfrm>
            <a:off x="5981700" y="2667000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19" name="Text 44"/>
          <p:cNvSpPr txBox="1"/>
          <p:nvPr/>
        </p:nvSpPr>
        <p:spPr>
          <a:xfrm>
            <a:off x="5619750" y="2476500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b="1" sz="82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Strong in sponsored placements</a:t>
            </a:r>
            <a:endParaRPr/>
          </a:p>
        </p:txBody>
      </p:sp>
      <p:sp>
        <p:nvSpPr>
          <p:cNvPr id="20" name="Shape 28"/>
          <p:cNvSpPr/>
          <p:nvPr/>
        </p:nvSpPr>
        <p:spPr>
          <a:xfrm>
            <a:off x="10877550" y="2667000"/>
            <a:ext cx="228600" cy="228600"/>
          </a:xfrm>
          <a:prstGeom prst="ellipse">
            <a:avLst/>
          </a:prstGeom>
          <a:solidFill>
            <a:srgbClr val="9AA6B8"/>
          </a:solidFill>
          <a:ln>
            <a:noFill/>
          </a:ln>
        </p:spPr>
      </p:sp>
      <p:sp>
        <p:nvSpPr>
          <p:cNvPr id="21" name="Text 45"/>
          <p:cNvSpPr txBox="1"/>
          <p:nvPr/>
        </p:nvSpPr>
        <p:spPr>
          <a:xfrm>
            <a:off x="10515600" y="2476500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b="1" sz="82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</p:txBody>
      </p:sp>
      <p:sp>
        <p:nvSpPr>
          <p:cNvPr id="22" name="Shape 29"/>
          <p:cNvSpPr/>
          <p:nvPr/>
        </p:nvSpPr>
        <p:spPr>
          <a:xfrm>
            <a:off x="1085850" y="3053620"/>
            <a:ext cx="228600" cy="2286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</p:sp>
      <p:sp>
        <p:nvSpPr>
          <p:cNvPr id="23" name="Text 46"/>
          <p:cNvSpPr txBox="1"/>
          <p:nvPr/>
        </p:nvSpPr>
        <p:spPr>
          <a:xfrm>
            <a:off x="723900" y="2863120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b="1" sz="82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</p:txBody>
      </p:sp>
      <p:sp>
        <p:nvSpPr>
          <p:cNvPr id="24" name="Shape 30"/>
          <p:cNvSpPr/>
          <p:nvPr/>
        </p:nvSpPr>
        <p:spPr>
          <a:xfrm>
            <a:off x="5981700" y="3053620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25" name="Text 47"/>
          <p:cNvSpPr txBox="1"/>
          <p:nvPr/>
        </p:nvSpPr>
        <p:spPr>
          <a:xfrm>
            <a:off x="5619750" y="2863120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b="1" sz="82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Strong in basket attachment</a:t>
            </a:r>
            <a:endParaRPr/>
          </a:p>
        </p:txBody>
      </p:sp>
      <p:sp>
        <p:nvSpPr>
          <p:cNvPr id="26" name="Shape 31"/>
          <p:cNvSpPr/>
          <p:nvPr/>
        </p:nvSpPr>
        <p:spPr>
          <a:xfrm>
            <a:off x="10877550" y="3053620"/>
            <a:ext cx="228600" cy="2286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27" name="Text 48"/>
          <p:cNvSpPr txBox="1"/>
          <p:nvPr/>
        </p:nvSpPr>
        <p:spPr>
          <a:xfrm>
            <a:off x="10515600" y="2863120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b="1" sz="82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Leading in portfolio expansion</a:t>
            </a:r>
            <a:endParaRPr/>
          </a:p>
        </p:txBody>
      </p:sp>
      <p:sp>
        <p:nvSpPr>
          <p:cNvPr id="28" name="Shape 32"/>
          <p:cNvSpPr/>
          <p:nvPr/>
        </p:nvSpPr>
        <p:spPr>
          <a:xfrm>
            <a:off x="1085850" y="3451955"/>
            <a:ext cx="228600" cy="2286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</p:sp>
      <p:sp>
        <p:nvSpPr>
          <p:cNvPr id="29" name="Text 49"/>
          <p:cNvSpPr txBox="1"/>
          <p:nvPr/>
        </p:nvSpPr>
        <p:spPr>
          <a:xfrm>
            <a:off x="723900" y="3261455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b="1" sz="82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</p:txBody>
      </p:sp>
      <p:sp>
        <p:nvSpPr>
          <p:cNvPr id="30" name="Shape 33"/>
          <p:cNvSpPr/>
          <p:nvPr/>
        </p:nvSpPr>
        <p:spPr>
          <a:xfrm>
            <a:off x="5981700" y="3451955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31" name="Text 50"/>
          <p:cNvSpPr txBox="1"/>
          <p:nvPr/>
        </p:nvSpPr>
        <p:spPr>
          <a:xfrm>
            <a:off x="5619750" y="3261455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b="1" sz="82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</p:txBody>
      </p:sp>
      <p:sp>
        <p:nvSpPr>
          <p:cNvPr id="32" name="Shape 34"/>
          <p:cNvSpPr/>
          <p:nvPr/>
        </p:nvSpPr>
        <p:spPr>
          <a:xfrm>
            <a:off x="10877550" y="3451955"/>
            <a:ext cx="228600" cy="2286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33" name="Text 51"/>
          <p:cNvSpPr txBox="1"/>
          <p:nvPr/>
        </p:nvSpPr>
        <p:spPr>
          <a:xfrm>
            <a:off x="10515600" y="3261455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b="1" sz="82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Leading in repeat purchase</a:t>
            </a:r>
            <a:endParaRPr/>
          </a:p>
        </p:txBody>
      </p:sp>
      <p:sp>
        <p:nvSpPr>
          <p:cNvPr id="34" name="Shape 35"/>
          <p:cNvSpPr/>
          <p:nvPr/>
        </p:nvSpPr>
        <p:spPr>
          <a:xfrm>
            <a:off x="1085850" y="3838575"/>
            <a:ext cx="228600" cy="2286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</p:sp>
      <p:sp>
        <p:nvSpPr>
          <p:cNvPr id="35" name="Text 52"/>
          <p:cNvSpPr txBox="1"/>
          <p:nvPr/>
        </p:nvSpPr>
        <p:spPr>
          <a:xfrm>
            <a:off x="723900" y="3648075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b="1" sz="82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High potential in new city penetration</a:t>
            </a:r>
            <a:endParaRPr/>
          </a:p>
        </p:txBody>
      </p:sp>
      <p:sp>
        <p:nvSpPr>
          <p:cNvPr id="36" name="Shape 36"/>
          <p:cNvSpPr/>
          <p:nvPr/>
        </p:nvSpPr>
        <p:spPr>
          <a:xfrm>
            <a:off x="5981700" y="3838575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37" name="Text 53"/>
          <p:cNvSpPr txBox="1"/>
          <p:nvPr/>
        </p:nvSpPr>
        <p:spPr>
          <a:xfrm>
            <a:off x="5619750" y="3648075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b="1" sz="82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</p:txBody>
      </p:sp>
      <p:sp>
        <p:nvSpPr>
          <p:cNvPr id="38" name="Shape 37"/>
          <p:cNvSpPr/>
          <p:nvPr/>
        </p:nvSpPr>
        <p:spPr>
          <a:xfrm>
            <a:off x="10877550" y="3838575"/>
            <a:ext cx="228600" cy="228600"/>
          </a:xfrm>
          <a:prstGeom prst="ellipse">
            <a:avLst/>
          </a:prstGeom>
          <a:solidFill>
            <a:srgbClr val="9AA6B8"/>
          </a:solidFill>
          <a:ln>
            <a:noFill/>
          </a:ln>
        </p:spPr>
      </p:sp>
      <p:sp>
        <p:nvSpPr>
          <p:cNvPr id="39" name="Text 54"/>
          <p:cNvSpPr txBox="1"/>
          <p:nvPr/>
        </p:nvSpPr>
        <p:spPr>
          <a:xfrm>
            <a:off x="10515600" y="3648075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b="1" sz="82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</p:txBody>
      </p:sp>
      <p:sp>
        <p:nvSpPr>
          <p:cNvPr id="40" name="Text 55"/>
          <p:cNvSpPr txBox="1"/>
          <p:nvPr/>
        </p:nvSpPr>
        <p:spPr>
          <a:xfrm>
            <a:off x="628650" y="4621511"/>
            <a:ext cx="54102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sz="825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>Rows: Growth levers (Visibility, Conversion, Repeat, Market Expansion)</a:t>
            </a:r>
            <a:endParaRPr/>
          </a:p>
        </p:txBody>
      </p:sp>
      <p:sp>
        <p:nvSpPr>
          <p:cNvPr id="41" name="Text 56"/>
          <p:cNvSpPr txBox="1"/>
          <p:nvPr/>
        </p:nvSpPr>
        <p:spPr>
          <a:xfrm>
            <a:off x="6153150" y="4621511"/>
            <a:ext cx="54102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sz="825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>Columns: Zepto, Blinkit, Instamart</a:t>
            </a:r>
            <a:endParaRPr/>
          </a:p>
        </p:txBody>
      </p:sp>
      <p:sp>
        <p:nvSpPr>
          <p:cNvPr id="42" name="Shape 38"/>
          <p:cNvSpPr/>
          <p:nvPr/>
        </p:nvSpPr>
        <p:spPr>
          <a:xfrm>
            <a:off x="457200" y="5153025"/>
            <a:ext cx="11277600" cy="1247775"/>
          </a:xfrm>
          <a:prstGeom prst="rect">
            <a:avLst/>
          </a:prstGeom>
          <a:solidFill>
            <a:srgbClr val="EEF2FD"/>
          </a:solidFill>
          <a:ln>
            <a:noFill/>
          </a:ln>
        </p:spPr>
      </p:sp>
      <p:sp>
        <p:nvSpPr>
          <p:cNvPr id="43" name="Shape 39"/>
          <p:cNvSpPr/>
          <p:nvPr/>
        </p:nvSpPr>
        <p:spPr>
          <a:xfrm>
            <a:off x="457200" y="5153025"/>
            <a:ext cx="0" cy="1247775"/>
          </a:xfrm>
          <a:prstGeom prst="line">
            <a:avLst/>
          </a:prstGeom>
          <a:noFill/>
          <a:ln w="47625">
            <a:solidFill>
              <a:srgbClr val="6D28D9"/>
            </a:solidFill>
          </a:ln>
        </p:spPr>
      </p:sp>
      <p:sp>
        <p:nvSpPr>
          <p:cNvPr id="44" name="Text 57"/>
          <p:cNvSpPr txBox="1"/>
          <p:nvPr/>
        </p:nvSpPr>
        <p:spPr>
          <a:xfrm>
            <a:off x="609600" y="5592890"/>
            <a:ext cx="10972800" cy="1238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975"/>
              </a:lnSpc>
              <a:buNone/>
            </a:pPr>
            <a:r>
              <a:rPr b="1" sz="750" spc="75">
                <a:solidFill>
                  <a:srgbClr val="6D28D9"/>
                </a:solidFill>
                <a:latin typeface="Noto Sans JP"/>
                <a:ea typeface="Noto Sans JP"/>
                <a:cs typeface="Noto Sans JP"/>
              </a:rPr>
              <a:t>MULTIDIMENSIONAL GROWTH LEVERS</a:t>
            </a:r>
            <a:endParaRPr/>
          </a:p>
        </p:txBody>
      </p:sp>
      <p:sp>
        <p:nvSpPr>
          <p:cNvPr id="45" name="Text 58"/>
          <p:cNvSpPr txBox="1"/>
          <p:nvPr/>
        </p:nvSpPr>
        <p:spPr>
          <a:xfrm>
            <a:off x="609600" y="5765092"/>
            <a:ext cx="109728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414"/>
              </a:lnSpc>
              <a:buNone/>
            </a:pP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Unlocking growth requires coordinated strategies in visibility, availability, discoverability, and repeat purchase, not just increased media investment.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9"/>
          <p:cNvSpPr txBox="1"/>
          <p:nvPr/>
        </p:nvSpPr>
        <p:spPr>
          <a:xfrm>
            <a:off x="457200" y="462001"/>
            <a:ext cx="11277600" cy="3524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2730"/>
              </a:lnSpc>
              <a:buNone/>
            </a:pPr>
            <a:r>
              <a:rPr b="1" sz="2100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Our 4-Phase Framework to Build Category Share</a:t>
            </a:r>
            <a:endParaRPr/>
          </a:p>
        </p:txBody>
      </p:sp>
      <p:sp>
        <p:nvSpPr>
          <p:cNvPr id="3" name="Shape 40"/>
          <p:cNvSpPr/>
          <p:nvPr/>
        </p:nvSpPr>
        <p:spPr>
          <a:xfrm>
            <a:off x="457200" y="1571625"/>
            <a:ext cx="11277600" cy="3352800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9525">
            <a:solidFill>
              <a:srgbClr val="E6E2F0"/>
            </a:solidFill>
          </a:ln>
        </p:spPr>
      </p:sp>
      <p:sp>
        <p:nvSpPr>
          <p:cNvPr id="4" name="Text 60"/>
          <p:cNvSpPr txBox="1"/>
          <p:nvPr/>
        </p:nvSpPr>
        <p:spPr>
          <a:xfrm>
            <a:off x="666750" y="1783404"/>
            <a:ext cx="10858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268"/>
              </a:lnSpc>
              <a:buNone/>
            </a:pPr>
            <a:r>
              <a:rPr b="1"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Strategic Roadmap</a:t>
            </a:r>
            <a:endParaRPr/>
          </a:p>
        </p:txBody>
      </p:sp>
      <p:sp>
        <p:nvSpPr>
          <p:cNvPr id="5" name="Shape 41"/>
          <p:cNvSpPr/>
          <p:nvPr/>
        </p:nvSpPr>
        <p:spPr>
          <a:xfrm>
            <a:off x="3638550" y="2471738"/>
            <a:ext cx="1428750" cy="762000"/>
          </a:xfrm>
          <a:custGeom>
            <a:avLst/>
            <a:gdLst/>
            <a:ahLst/>
            <a:cxnLst/>
            <a:rect l="l" t="t" r="r" b="b"/>
            <a:pathLst>
              <a:path w="1428750" h="762000">
                <a:moveTo>
                  <a:pt x="0" y="0"/>
                </a:moveTo>
                <a:lnTo>
                  <a:pt x="1162050" y="0"/>
                </a:lnTo>
                <a:lnTo>
                  <a:pt x="1428750" y="381000"/>
                </a:lnTo>
                <a:lnTo>
                  <a:pt x="1162050" y="762000"/>
                </a:lnTo>
                <a:lnTo>
                  <a:pt x="0" y="762000"/>
                </a:lnTo>
                <a:close/>
              </a:path>
            </a:pathLst>
          </a:custGeom>
          <a:solidFill>
            <a:srgbClr val="BFD3F7"/>
          </a:solidFill>
          <a:ln>
            <a:noFill/>
          </a:ln>
        </p:spPr>
      </p:sp>
      <p:sp>
        <p:nvSpPr>
          <p:cNvPr id="6" name="Text 61"/>
          <p:cNvSpPr txBox="1"/>
          <p:nvPr/>
        </p:nvSpPr>
        <p:spPr>
          <a:xfrm>
            <a:off x="3638550" y="2471738"/>
            <a:ext cx="11620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b="1"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Foundation &amp; Hygiene</a:t>
            </a:r>
            <a:endParaRPr/>
          </a:p>
        </p:txBody>
      </p:sp>
      <p:sp>
        <p:nvSpPr>
          <p:cNvPr id="7" name="Shape 42"/>
          <p:cNvSpPr/>
          <p:nvPr/>
        </p:nvSpPr>
        <p:spPr>
          <a:xfrm>
            <a:off x="4800600" y="2471738"/>
            <a:ext cx="1428750" cy="762000"/>
          </a:xfrm>
          <a:custGeom>
            <a:avLst/>
            <a:gdLst/>
            <a:ahLst/>
            <a:cxnLst/>
            <a:rect l="l" t="t" r="r" b="b"/>
            <a:pathLst>
              <a:path w="1428750" h="762000">
                <a:moveTo>
                  <a:pt x="0" y="0"/>
                </a:moveTo>
                <a:lnTo>
                  <a:pt x="1162050" y="0"/>
                </a:lnTo>
                <a:lnTo>
                  <a:pt x="1428750" y="381000"/>
                </a:lnTo>
                <a:lnTo>
                  <a:pt x="1162050" y="762000"/>
                </a:lnTo>
                <a:lnTo>
                  <a:pt x="0" y="762000"/>
                </a:lnTo>
                <a:lnTo>
                  <a:pt x="266700" y="381000"/>
                </a:lnTo>
                <a:close/>
              </a:path>
            </a:pathLst>
          </a:custGeom>
          <a:solidFill>
            <a:srgbClr val="60A5FA"/>
          </a:solidFill>
          <a:ln>
            <a:noFill/>
          </a:ln>
        </p:spPr>
      </p:sp>
      <p:sp>
        <p:nvSpPr>
          <p:cNvPr id="8" name="Text 62"/>
          <p:cNvSpPr txBox="1"/>
          <p:nvPr/>
        </p:nvSpPr>
        <p:spPr>
          <a:xfrm>
            <a:off x="5067300" y="2471738"/>
            <a:ext cx="8953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b="1" sz="90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Market Share Capture</a:t>
            </a:r>
            <a:endParaRPr/>
          </a:p>
        </p:txBody>
      </p:sp>
      <p:sp>
        <p:nvSpPr>
          <p:cNvPr id="9" name="Shape 43"/>
          <p:cNvSpPr/>
          <p:nvPr/>
        </p:nvSpPr>
        <p:spPr>
          <a:xfrm>
            <a:off x="5962650" y="2471738"/>
            <a:ext cx="1428750" cy="762000"/>
          </a:xfrm>
          <a:custGeom>
            <a:avLst/>
            <a:gdLst/>
            <a:ahLst/>
            <a:cxnLst/>
            <a:rect l="l" t="t" r="r" b="b"/>
            <a:pathLst>
              <a:path w="1428750" h="762000">
                <a:moveTo>
                  <a:pt x="0" y="0"/>
                </a:moveTo>
                <a:lnTo>
                  <a:pt x="1162050" y="0"/>
                </a:lnTo>
                <a:lnTo>
                  <a:pt x="1428750" y="381000"/>
                </a:lnTo>
                <a:lnTo>
                  <a:pt x="1162050" y="762000"/>
                </a:lnTo>
                <a:lnTo>
                  <a:pt x="0" y="762000"/>
                </a:lnTo>
                <a:lnTo>
                  <a:pt x="266700" y="381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10" name="Text 63"/>
          <p:cNvSpPr txBox="1"/>
          <p:nvPr/>
        </p:nvSpPr>
        <p:spPr>
          <a:xfrm>
            <a:off x="6229350" y="2471738"/>
            <a:ext cx="8953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b="1" sz="90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Consumer Expansion</a:t>
            </a:r>
            <a:endParaRPr/>
          </a:p>
        </p:txBody>
      </p:sp>
      <p:sp>
        <p:nvSpPr>
          <p:cNvPr id="11" name="Shape 44"/>
          <p:cNvSpPr/>
          <p:nvPr/>
        </p:nvSpPr>
        <p:spPr>
          <a:xfrm>
            <a:off x="7124700" y="2471738"/>
            <a:ext cx="1428750" cy="762000"/>
          </a:xfrm>
          <a:custGeom>
            <a:avLst/>
            <a:gdLst/>
            <a:ahLst/>
            <a:cxnLst/>
            <a:rect l="l" t="t" r="r" b="b"/>
            <a:pathLst>
              <a:path w="1428750" h="762000">
                <a:moveTo>
                  <a:pt x="0" y="0"/>
                </a:moveTo>
                <a:lnTo>
                  <a:pt x="1162050" y="0"/>
                </a:lnTo>
                <a:lnTo>
                  <a:pt x="1428750" y="381000"/>
                </a:lnTo>
                <a:lnTo>
                  <a:pt x="1162050" y="762000"/>
                </a:lnTo>
                <a:lnTo>
                  <a:pt x="0" y="762000"/>
                </a:lnTo>
                <a:lnTo>
                  <a:pt x="266700" y="38100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</p:sp>
      <p:sp>
        <p:nvSpPr>
          <p:cNvPr id="12" name="Text 64"/>
          <p:cNvSpPr txBox="1"/>
          <p:nvPr/>
        </p:nvSpPr>
        <p:spPr>
          <a:xfrm>
            <a:off x="7391400" y="2471738"/>
            <a:ext cx="8953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b="1" sz="90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Scale &amp; Profitability</a:t>
            </a:r>
            <a:endParaRPr/>
          </a:p>
        </p:txBody>
      </p:sp>
      <p:sp>
        <p:nvSpPr>
          <p:cNvPr id="13" name="Text 65"/>
          <p:cNvSpPr txBox="1"/>
          <p:nvPr/>
        </p:nvSpPr>
        <p:spPr>
          <a:xfrm>
            <a:off x="666750" y="3689185"/>
            <a:ext cx="10858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05"/>
              </a:lnSpc>
              <a:buNone/>
            </a:pPr>
            <a:r>
              <a:rPr b="1" sz="900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Phase 1:</a:t>
            </a:r>
            <a:r>
              <a:rPr sz="900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 xml:space="preserve"> Foundation &amp; Hygiene — focus on availability tracking, out-of-stock reduction, search audit, visibility benchmarking, and portfolio prioritization to build a strong base.</a:t>
            </a:r>
            <a:endParaRPr/>
          </a:p>
        </p:txBody>
      </p:sp>
      <p:sp>
        <p:nvSpPr>
          <p:cNvPr id="14" name="Text 66"/>
          <p:cNvSpPr txBox="1"/>
          <p:nvPr/>
        </p:nvSpPr>
        <p:spPr>
          <a:xfrm>
            <a:off x="666750" y="3908260"/>
            <a:ext cx="1085850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05"/>
              </a:lnSpc>
              <a:buNone/>
            </a:pPr>
            <a:r>
              <a:rPr b="1" sz="900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Phase 2:</a:t>
            </a:r>
            <a:r>
              <a:rPr sz="900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 xml:space="preserve"> Market Share Capture — drive search dominance, expand sponsored placements, broaden keyword coverage, and execute competitor conquesting for increased category presence.</a:t>
            </a:r>
            <a:endParaRPr/>
          </a:p>
        </p:txBody>
      </p:sp>
      <p:sp>
        <p:nvSpPr>
          <p:cNvPr id="15" name="Text 67"/>
          <p:cNvSpPr txBox="1"/>
          <p:nvPr/>
        </p:nvSpPr>
        <p:spPr>
          <a:xfrm>
            <a:off x="666750" y="4127335"/>
            <a:ext cx="10858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05"/>
              </a:lnSpc>
              <a:buNone/>
            </a:pPr>
            <a:r>
              <a:rPr b="1" sz="900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Phase 3:</a:t>
            </a:r>
            <a:r>
              <a:rPr sz="900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 xml:space="preserve"> Consumer Expansion — target new-to-brand and new-to-category consumers, expand across platforms and geographies, and drive cross-platform synergies.</a:t>
            </a:r>
            <a:endParaRPr/>
          </a:p>
        </p:txBody>
      </p:sp>
      <p:sp>
        <p:nvSpPr>
          <p:cNvPr id="16" name="Text 68"/>
          <p:cNvSpPr txBox="1"/>
          <p:nvPr/>
        </p:nvSpPr>
        <p:spPr>
          <a:xfrm>
            <a:off x="666750" y="4355935"/>
            <a:ext cx="10858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05"/>
              </a:lnSpc>
              <a:buNone/>
            </a:pPr>
            <a:r>
              <a:rPr b="1" sz="900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Phase 4:</a:t>
            </a:r>
            <a:r>
              <a:rPr sz="900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 xml:space="preserve"> Scale &amp; Profitability — deploy automation-led optimization, focus on incrementality, accelerate repeat purchase, and scale the portfolio for sustainable growth.</a:t>
            </a:r>
            <a:endParaRPr/>
          </a:p>
        </p:txBody>
      </p:sp>
      <p:sp>
        <p:nvSpPr>
          <p:cNvPr id="17" name="Shape 45"/>
          <p:cNvSpPr/>
          <p:nvPr/>
        </p:nvSpPr>
        <p:spPr>
          <a:xfrm>
            <a:off x="457200" y="5153025"/>
            <a:ext cx="11277600" cy="1247775"/>
          </a:xfrm>
          <a:prstGeom prst="rect">
            <a:avLst/>
          </a:prstGeom>
          <a:solidFill>
            <a:srgbClr val="EEF2FD"/>
          </a:solidFill>
          <a:ln>
            <a:noFill/>
          </a:ln>
        </p:spPr>
      </p:sp>
      <p:sp>
        <p:nvSpPr>
          <p:cNvPr id="18" name="Shape 46"/>
          <p:cNvSpPr/>
          <p:nvPr/>
        </p:nvSpPr>
        <p:spPr>
          <a:xfrm>
            <a:off x="457200" y="5153025"/>
            <a:ext cx="0" cy="1247775"/>
          </a:xfrm>
          <a:prstGeom prst="line">
            <a:avLst/>
          </a:prstGeom>
          <a:noFill/>
          <a:ln w="47625">
            <a:solidFill>
              <a:srgbClr val="6D28D9"/>
            </a:solidFill>
          </a:ln>
        </p:spPr>
      </p:sp>
      <p:sp>
        <p:nvSpPr>
          <p:cNvPr id="19" name="Text 69"/>
          <p:cNvSpPr txBox="1"/>
          <p:nvPr/>
        </p:nvSpPr>
        <p:spPr>
          <a:xfrm>
            <a:off x="628650" y="5593061"/>
            <a:ext cx="109347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b="1" sz="825" spc="150">
                <a:solidFill>
                  <a:srgbClr val="6D28D9"/>
                </a:solidFill>
                <a:latin typeface="Noto Sans JP"/>
                <a:ea typeface="Noto Sans JP"/>
                <a:cs typeface="Noto Sans JP"/>
              </a:rPr>
              <a:t>FRAMEWORK PROGRESSION</a:t>
            </a:r>
            <a:endParaRPr/>
          </a:p>
        </p:txBody>
      </p:sp>
      <p:sp>
        <p:nvSpPr>
          <p:cNvPr id="20" name="Text 70"/>
          <p:cNvSpPr txBox="1"/>
          <p:nvPr/>
        </p:nvSpPr>
        <p:spPr>
          <a:xfrm>
            <a:off x="628650" y="5774617"/>
            <a:ext cx="1093470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414"/>
              </a:lnSpc>
              <a:buNone/>
            </a:pP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The framework delivers progression from visibility to offtakes, then to market share and ultimately profitability.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7"/>
          <p:cNvSpPr/>
          <p:nvPr/>
        </p:nvSpPr>
        <p:spPr>
          <a:xfrm>
            <a:off x="457200" y="457200"/>
            <a:ext cx="11277600" cy="2343150"/>
          </a:xfrm>
          <a:prstGeom prst="roundRect">
            <a:avLst>
              <a:gd name="adj" fmla="val 7317"/>
            </a:avLst>
          </a:prstGeom>
          <a:solidFill>
            <a:srgbClr val="1E1B2E"/>
          </a:solidFill>
          <a:ln>
            <a:noFill/>
          </a:ln>
        </p:spPr>
      </p:sp>
      <p:sp>
        <p:nvSpPr>
          <p:cNvPr id="3" name="Text 71"/>
          <p:cNvSpPr txBox="1"/>
          <p:nvPr/>
        </p:nvSpPr>
        <p:spPr>
          <a:xfrm>
            <a:off x="685800" y="1192511"/>
            <a:ext cx="108204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b="1" sz="825" spc="15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CONTROL TOWER</a:t>
            </a:r>
            <a:endParaRPr/>
          </a:p>
        </p:txBody>
      </p:sp>
      <p:sp>
        <p:nvSpPr>
          <p:cNvPr id="4" name="Text 72"/>
          <p:cNvSpPr txBox="1"/>
          <p:nvPr/>
        </p:nvSpPr>
        <p:spPr>
          <a:xfrm>
            <a:off x="685800" y="1410995"/>
            <a:ext cx="10820400" cy="3714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2835"/>
              </a:lnSpc>
              <a:buNone/>
            </a:pPr>
            <a:r>
              <a:rPr b="1" sz="2025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How Our Commerce Intelligence Platform Drives Faster Growth</a:t>
            </a:r>
            <a:endParaRPr/>
          </a:p>
        </p:txBody>
      </p:sp>
      <p:sp>
        <p:nvSpPr>
          <p:cNvPr id="5" name="Text 73"/>
          <p:cNvSpPr txBox="1"/>
          <p:nvPr/>
        </p:nvSpPr>
        <p:spPr>
          <a:xfrm>
            <a:off x="685800" y="1866271"/>
            <a:ext cx="108204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463"/>
              </a:lnSpc>
              <a:buNone/>
            </a:pPr>
            <a:r>
              <a:rPr sz="975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Real-time measurement enables rapid identification of growth levers and bottlenecks, ensuring that what gets measured gets scaled.</a:t>
            </a:r>
            <a:endParaRPr/>
          </a:p>
        </p:txBody>
      </p:sp>
      <p:sp>
        <p:nvSpPr>
          <p:cNvPr id="6" name="Shape 48"/>
          <p:cNvSpPr/>
          <p:nvPr/>
        </p:nvSpPr>
        <p:spPr>
          <a:xfrm>
            <a:off x="457200" y="3028950"/>
            <a:ext cx="8067675" cy="2362200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E6E2F0"/>
            </a:solidFill>
          </a:ln>
        </p:spPr>
      </p:sp>
      <p:sp>
        <p:nvSpPr>
          <p:cNvPr id="7" name="Text 74"/>
          <p:cNvSpPr txBox="1"/>
          <p:nvPr/>
        </p:nvSpPr>
        <p:spPr>
          <a:xfrm>
            <a:off x="685800" y="4126554"/>
            <a:ext cx="105727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 marL="0" indent="0">
              <a:lnSpc>
                <a:spcPts val="1268"/>
              </a:lnSpc>
              <a:buNone/>
            </a:pPr>
            <a:r>
              <a:rPr b="1"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Share of Search</a:t>
            </a:r>
            <a:endParaRPr/>
          </a:p>
        </p:txBody>
      </p:sp>
      <p:sp>
        <p:nvSpPr>
          <p:cNvPr id="8" name="Text 75"/>
          <p:cNvSpPr txBox="1"/>
          <p:nvPr/>
        </p:nvSpPr>
        <p:spPr>
          <a:xfrm>
            <a:off x="1914525" y="4126554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 marL="0" indent="0">
              <a:lnSpc>
                <a:spcPts val="1268"/>
              </a:lnSpc>
              <a:buNone/>
            </a:pPr>
            <a:r>
              <a:rPr b="1"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Share of Shelf</a:t>
            </a:r>
            <a:endParaRPr/>
          </a:p>
        </p:txBody>
      </p:sp>
      <p:sp>
        <p:nvSpPr>
          <p:cNvPr id="9" name="Text 76"/>
          <p:cNvSpPr txBox="1"/>
          <p:nvPr/>
        </p:nvSpPr>
        <p:spPr>
          <a:xfrm>
            <a:off x="3038475" y="4126554"/>
            <a:ext cx="79057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 marL="0" indent="0">
              <a:lnSpc>
                <a:spcPts val="1268"/>
              </a:lnSpc>
              <a:buNone/>
            </a:pPr>
            <a:r>
              <a:rPr b="1"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Availability</a:t>
            </a:r>
            <a:endParaRPr/>
          </a:p>
        </p:txBody>
      </p:sp>
      <p:sp>
        <p:nvSpPr>
          <p:cNvPr id="10" name="Text 77"/>
          <p:cNvSpPr txBox="1"/>
          <p:nvPr/>
        </p:nvSpPr>
        <p:spPr>
          <a:xfrm>
            <a:off x="4010025" y="4126554"/>
            <a:ext cx="533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 marL="0" indent="0">
              <a:lnSpc>
                <a:spcPts val="1268"/>
              </a:lnSpc>
              <a:buNone/>
            </a:pPr>
            <a:r>
              <a:rPr b="1"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Pricing</a:t>
            </a:r>
            <a:endParaRPr/>
          </a:p>
        </p:txBody>
      </p:sp>
      <p:sp>
        <p:nvSpPr>
          <p:cNvPr id="11" name="Text 78"/>
          <p:cNvSpPr txBox="1"/>
          <p:nvPr/>
        </p:nvSpPr>
        <p:spPr>
          <a:xfrm>
            <a:off x="4714875" y="4126554"/>
            <a:ext cx="3581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 marL="0" indent="0">
              <a:lnSpc>
                <a:spcPts val="1268"/>
              </a:lnSpc>
              <a:buNone/>
            </a:pPr>
            <a:r>
              <a:rPr b="1"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Competitor activity across all Quick Commerce platforms</a:t>
            </a:r>
            <a:endParaRPr/>
          </a:p>
        </p:txBody>
      </p:sp>
      <p:sp>
        <p:nvSpPr>
          <p:cNvPr id="12" name="Shape 49"/>
          <p:cNvSpPr/>
          <p:nvPr/>
        </p:nvSpPr>
        <p:spPr>
          <a:xfrm>
            <a:off x="8753475" y="3028950"/>
            <a:ext cx="2981325" cy="23526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Shape 50"/>
          <p:cNvSpPr/>
          <p:nvPr/>
        </p:nvSpPr>
        <p:spPr>
          <a:xfrm>
            <a:off x="8753475" y="3028950"/>
            <a:ext cx="0" cy="2352675"/>
          </a:xfrm>
          <a:prstGeom prst="line">
            <a:avLst/>
          </a:prstGeom>
          <a:noFill/>
          <a:ln w="47625">
            <a:solidFill>
              <a:srgbClr val="6D28D9"/>
            </a:solidFill>
          </a:ln>
        </p:spPr>
      </p:sp>
      <p:sp>
        <p:nvSpPr>
          <p:cNvPr id="14" name="Text 79"/>
          <p:cNvSpPr txBox="1"/>
          <p:nvPr/>
        </p:nvSpPr>
        <p:spPr>
          <a:xfrm>
            <a:off x="8963025" y="3564407"/>
            <a:ext cx="2562225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170"/>
              </a:lnSpc>
              <a:buNone/>
            </a:pPr>
            <a:r>
              <a:rPr b="1" sz="900" spc="75">
                <a:solidFill>
                  <a:srgbClr val="6D28D9"/>
                </a:solidFill>
                <a:latin typeface="Noto Sans JP"/>
                <a:ea typeface="Noto Sans JP"/>
                <a:cs typeface="Noto Sans JP"/>
              </a:rPr>
              <a:t>ACTIONABLE INSIGHTS</a:t>
            </a:r>
            <a:endParaRPr/>
          </a:p>
        </p:txBody>
      </p:sp>
      <p:sp>
        <p:nvSpPr>
          <p:cNvPr id="15" name="Text 80"/>
          <p:cNvSpPr txBox="1"/>
          <p:nvPr/>
        </p:nvSpPr>
        <p:spPr>
          <a:xfrm>
            <a:off x="8963025" y="3829050"/>
            <a:ext cx="2562225" cy="1009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SKU-level performance analytics</a:t>
            </a:r>
            <a:endParaRPr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City-level opportunity mapping</a:t>
            </a:r>
            <a:endParaRPr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Platform-wise growth pockets</a:t>
            </a:r>
            <a:endParaRPr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Category trend identification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1"/>
          <p:cNvSpPr txBox="1"/>
          <p:nvPr/>
        </p:nvSpPr>
        <p:spPr>
          <a:xfrm>
            <a:off x="457200" y="459086"/>
            <a:ext cx="112776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b="1" sz="825" spc="150">
                <a:solidFill>
                  <a:srgbClr val="6D28D9"/>
                </a:solidFill>
                <a:latin typeface="Noto Sans JP"/>
                <a:ea typeface="Noto Sans JP"/>
                <a:cs typeface="Noto Sans JP"/>
              </a:rPr>
              <a:t>ADS AUTOMATION ENGINE</a:t>
            </a:r>
            <a:endParaRPr/>
          </a:p>
        </p:txBody>
      </p:sp>
      <p:sp>
        <p:nvSpPr>
          <p:cNvPr id="3" name="Text 82"/>
          <p:cNvSpPr txBox="1"/>
          <p:nvPr/>
        </p:nvSpPr>
        <p:spPr>
          <a:xfrm>
            <a:off x="457200" y="643319"/>
            <a:ext cx="11277600" cy="3714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2925"/>
              </a:lnSpc>
              <a:buNone/>
            </a:pPr>
            <a:r>
              <a:rPr b="1" sz="2250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Designed for Quick Commerce</a:t>
            </a:r>
            <a:endParaRPr/>
          </a:p>
        </p:txBody>
      </p:sp>
      <p:sp>
        <p:nvSpPr>
          <p:cNvPr id="4" name="Shape 51"/>
          <p:cNvSpPr/>
          <p:nvPr/>
        </p:nvSpPr>
        <p:spPr>
          <a:xfrm>
            <a:off x="457200" y="1495425"/>
            <a:ext cx="11277600" cy="295275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E6E2F0"/>
            </a:solidFill>
          </a:ln>
        </p:spPr>
      </p:sp>
      <p:sp>
        <p:nvSpPr>
          <p:cNvPr id="5" name="Text 83"/>
          <p:cNvSpPr txBox="1"/>
          <p:nvPr/>
        </p:nvSpPr>
        <p:spPr>
          <a:xfrm>
            <a:off x="628650" y="1669104"/>
            <a:ext cx="109347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268"/>
              </a:lnSpc>
              <a:buNone/>
            </a:pPr>
            <a:r>
              <a:rPr b="1"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Automation Workflow</a:t>
            </a:r>
            <a:endParaRPr/>
          </a:p>
        </p:txBody>
      </p:sp>
      <p:sp>
        <p:nvSpPr>
          <p:cNvPr id="6" name="Shape 52"/>
          <p:cNvSpPr/>
          <p:nvPr/>
        </p:nvSpPr>
        <p:spPr>
          <a:xfrm>
            <a:off x="2111321" y="3090863"/>
            <a:ext cx="407735" cy="0"/>
          </a:xfrm>
          <a:prstGeom prst="line">
            <a:avLst/>
          </a:prstGeom>
          <a:noFill/>
          <a:ln w="18533">
            <a:solidFill>
              <a:srgbClr val="333333"/>
            </a:solidFill>
            <a:tailEnd type="triangle" w="med" len="med"/>
          </a:ln>
        </p:spPr>
      </p:sp>
      <p:sp>
        <p:nvSpPr>
          <p:cNvPr id="7" name="Shape 53"/>
          <p:cNvSpPr/>
          <p:nvPr/>
        </p:nvSpPr>
        <p:spPr>
          <a:xfrm>
            <a:off x="4001727" y="3090863"/>
            <a:ext cx="407735" cy="0"/>
          </a:xfrm>
          <a:prstGeom prst="line">
            <a:avLst/>
          </a:prstGeom>
          <a:noFill/>
          <a:ln w="18533">
            <a:solidFill>
              <a:srgbClr val="333333"/>
            </a:solidFill>
            <a:tailEnd type="triangle" w="med" len="med"/>
          </a:ln>
        </p:spPr>
      </p:sp>
      <p:sp>
        <p:nvSpPr>
          <p:cNvPr id="8" name="Shape 54"/>
          <p:cNvSpPr/>
          <p:nvPr/>
        </p:nvSpPr>
        <p:spPr>
          <a:xfrm>
            <a:off x="5892133" y="3090863"/>
            <a:ext cx="407735" cy="0"/>
          </a:xfrm>
          <a:prstGeom prst="line">
            <a:avLst/>
          </a:prstGeom>
          <a:noFill/>
          <a:ln w="18533">
            <a:solidFill>
              <a:srgbClr val="333333"/>
            </a:solidFill>
            <a:tailEnd type="triangle" w="med" len="med"/>
          </a:ln>
        </p:spPr>
      </p:sp>
      <p:sp>
        <p:nvSpPr>
          <p:cNvPr id="9" name="Shape 55"/>
          <p:cNvSpPr/>
          <p:nvPr/>
        </p:nvSpPr>
        <p:spPr>
          <a:xfrm>
            <a:off x="7782538" y="3090863"/>
            <a:ext cx="407735" cy="0"/>
          </a:xfrm>
          <a:prstGeom prst="line">
            <a:avLst/>
          </a:prstGeom>
          <a:noFill/>
          <a:ln w="18533">
            <a:solidFill>
              <a:srgbClr val="333333"/>
            </a:solidFill>
            <a:tailEnd type="triangle" w="med" len="med"/>
          </a:ln>
        </p:spPr>
      </p:sp>
      <p:sp>
        <p:nvSpPr>
          <p:cNvPr id="10" name="Shape 56"/>
          <p:cNvSpPr/>
          <p:nvPr/>
        </p:nvSpPr>
        <p:spPr>
          <a:xfrm>
            <a:off x="9672944" y="3090863"/>
            <a:ext cx="407735" cy="0"/>
          </a:xfrm>
          <a:prstGeom prst="line">
            <a:avLst/>
          </a:prstGeom>
          <a:noFill/>
          <a:ln w="18533">
            <a:solidFill>
              <a:srgbClr val="333333"/>
            </a:solidFill>
            <a:tailEnd type="triangle" w="med" len="med"/>
          </a:ln>
        </p:spPr>
      </p:sp>
      <p:sp>
        <p:nvSpPr>
          <p:cNvPr id="11" name="Shape 57"/>
          <p:cNvSpPr/>
          <p:nvPr/>
        </p:nvSpPr>
        <p:spPr>
          <a:xfrm>
            <a:off x="628650" y="2840662"/>
            <a:ext cx="1482671" cy="500402"/>
          </a:xfrm>
          <a:prstGeom prst="flowChartProcess">
            <a:avLst/>
          </a:prstGeom>
          <a:solidFill>
            <a:srgbClr val="6D28D9"/>
          </a:solidFill>
          <a:ln w="9267">
            <a:solidFill>
              <a:srgbClr val="333333"/>
            </a:solidFill>
          </a:ln>
        </p:spPr>
        <p:txBody>
          <a:bodyPr wrap="square" anchor="ctr"/>
          <a:lstStyle/>
          <a:p>
            <a:pPr algn="ctr"/>
            <a:r>
              <a:rPr sz="1022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Ingest platform data</a:t>
            </a:r>
            <a:endParaRPr/>
          </a:p>
        </p:txBody>
      </p:sp>
      <p:sp>
        <p:nvSpPr>
          <p:cNvPr id="12" name="Shape 58"/>
          <p:cNvSpPr/>
          <p:nvPr/>
        </p:nvSpPr>
        <p:spPr>
          <a:xfrm>
            <a:off x="2519056" y="2840662"/>
            <a:ext cx="1482671" cy="500402"/>
          </a:xfrm>
          <a:prstGeom prst="flowChartDecision">
            <a:avLst/>
          </a:prstGeom>
          <a:solidFill>
            <a:srgbClr val="7C3AED"/>
          </a:solidFill>
          <a:ln w="9267">
            <a:solidFill>
              <a:srgbClr val="333333"/>
            </a:solidFill>
          </a:ln>
        </p:spPr>
        <p:txBody>
          <a:bodyPr wrap="square" anchor="ctr"/>
          <a:lstStyle/>
          <a:p>
            <a:pPr algn="ctr"/>
            <a:r>
              <a:rPr sz="1022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Process through decision engine</a:t>
            </a:r>
            <a:endParaRPr/>
          </a:p>
        </p:txBody>
      </p:sp>
      <p:sp>
        <p:nvSpPr>
          <p:cNvPr id="13" name="Shape 59"/>
          <p:cNvSpPr/>
          <p:nvPr/>
        </p:nvSpPr>
        <p:spPr>
          <a:xfrm>
            <a:off x="4409462" y="2840662"/>
            <a:ext cx="1482671" cy="500402"/>
          </a:xfrm>
          <a:prstGeom prst="flowChartProcess">
            <a:avLst/>
          </a:prstGeom>
          <a:solidFill>
            <a:srgbClr val="2563EB"/>
          </a:solidFill>
          <a:ln w="9267">
            <a:solidFill>
              <a:srgbClr val="333333"/>
            </a:solidFill>
          </a:ln>
        </p:spPr>
        <p:txBody>
          <a:bodyPr wrap="square" anchor="ctr"/>
          <a:lstStyle/>
          <a:p>
            <a:pPr algn="ctr"/>
            <a:r>
              <a:rPr sz="1022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Dynamically optimize bids</a:t>
            </a:r>
            <a:endParaRPr/>
          </a:p>
        </p:txBody>
      </p:sp>
      <p:sp>
        <p:nvSpPr>
          <p:cNvPr id="14" name="Shape 60"/>
          <p:cNvSpPr/>
          <p:nvPr/>
        </p:nvSpPr>
        <p:spPr>
          <a:xfrm>
            <a:off x="6299867" y="2840662"/>
            <a:ext cx="1482671" cy="500402"/>
          </a:xfrm>
          <a:prstGeom prst="flowChartProcess">
            <a:avLst/>
          </a:prstGeom>
          <a:solidFill>
            <a:srgbClr val="0EA5E9"/>
          </a:solidFill>
          <a:ln w="9267">
            <a:solidFill>
              <a:srgbClr val="333333"/>
            </a:solidFill>
          </a:ln>
        </p:spPr>
        <p:txBody>
          <a:bodyPr wrap="square" anchor="ctr"/>
          <a:lstStyle/>
          <a:p>
            <a:pPr algn="ctr"/>
            <a:r>
              <a:rPr sz="1022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Reallocate budgets</a:t>
            </a:r>
            <a:endParaRPr/>
          </a:p>
        </p:txBody>
      </p:sp>
      <p:sp>
        <p:nvSpPr>
          <p:cNvPr id="15" name="Shape 61"/>
          <p:cNvSpPr/>
          <p:nvPr/>
        </p:nvSpPr>
        <p:spPr>
          <a:xfrm>
            <a:off x="8190273" y="2840662"/>
            <a:ext cx="1482671" cy="500402"/>
          </a:xfrm>
          <a:prstGeom prst="flowChartProcess">
            <a:avLst/>
          </a:prstGeom>
          <a:solidFill>
            <a:srgbClr val="F59E0B"/>
          </a:solidFill>
          <a:ln w="9267">
            <a:solidFill>
              <a:srgbClr val="333333"/>
            </a:solidFill>
          </a:ln>
        </p:spPr>
        <p:txBody>
          <a:bodyPr wrap="square" anchor="ctr"/>
          <a:lstStyle/>
          <a:p>
            <a:pPr algn="ctr"/>
            <a:r>
              <a:rPr sz="1022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Expand keywords</a:t>
            </a:r>
            <a:endParaRPr/>
          </a:p>
        </p:txBody>
      </p:sp>
      <p:sp>
        <p:nvSpPr>
          <p:cNvPr id="16" name="Shape 62"/>
          <p:cNvSpPr/>
          <p:nvPr/>
        </p:nvSpPr>
        <p:spPr>
          <a:xfrm>
            <a:off x="10080679" y="2840662"/>
            <a:ext cx="1482671" cy="500402"/>
          </a:xfrm>
          <a:prstGeom prst="flowChartProcess">
            <a:avLst/>
          </a:prstGeom>
          <a:solidFill>
            <a:srgbClr val="15803D"/>
          </a:solidFill>
          <a:ln w="9267">
            <a:solidFill>
              <a:srgbClr val="333333"/>
            </a:solidFill>
          </a:ln>
        </p:spPr>
        <p:txBody>
          <a:bodyPr wrap="square" anchor="ctr"/>
          <a:lstStyle/>
          <a:p>
            <a:pPr algn="ctr"/>
            <a:r>
              <a:rPr sz="1022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Refine placements</a:t>
            </a:r>
            <a:endParaRPr/>
          </a:p>
        </p:txBody>
      </p:sp>
      <p:sp>
        <p:nvSpPr>
          <p:cNvPr id="17" name="Shape 63"/>
          <p:cNvSpPr/>
          <p:nvPr/>
        </p:nvSpPr>
        <p:spPr>
          <a:xfrm>
            <a:off x="457200" y="4676775"/>
            <a:ext cx="6848475" cy="14668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6E2F0"/>
            </a:solidFill>
          </a:ln>
        </p:spPr>
      </p:sp>
      <p:sp>
        <p:nvSpPr>
          <p:cNvPr id="18" name="Text 84"/>
          <p:cNvSpPr txBox="1"/>
          <p:nvPr/>
        </p:nvSpPr>
        <p:spPr>
          <a:xfrm>
            <a:off x="647700" y="4867275"/>
            <a:ext cx="6477000" cy="1085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Faster optimization cycles (hours, not weeks)</a:t>
            </a:r>
            <a:endParaRPr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Reduced manual intervention</a:t>
            </a:r>
            <a:endParaRPr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Improved ROAS</a:t>
            </a:r>
            <a:endParaRPr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Higher share of visibility</a:t>
            </a:r>
            <a:endParaRPr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Increased conversion efficiency</a:t>
            </a:r>
            <a:endParaRPr/>
          </a:p>
        </p:txBody>
      </p:sp>
      <p:sp>
        <p:nvSpPr>
          <p:cNvPr id="19" name="Shape 64"/>
          <p:cNvSpPr/>
          <p:nvPr/>
        </p:nvSpPr>
        <p:spPr>
          <a:xfrm>
            <a:off x="7534275" y="4676775"/>
            <a:ext cx="4200525" cy="1466850"/>
          </a:xfrm>
          <a:prstGeom prst="rect">
            <a:avLst/>
          </a:prstGeom>
          <a:solidFill>
            <a:srgbClr val="EEF2FD"/>
          </a:solidFill>
          <a:ln>
            <a:noFill/>
          </a:ln>
        </p:spPr>
      </p:sp>
      <p:sp>
        <p:nvSpPr>
          <p:cNvPr id="20" name="Shape 65"/>
          <p:cNvSpPr/>
          <p:nvPr/>
        </p:nvSpPr>
        <p:spPr>
          <a:xfrm>
            <a:off x="7534275" y="4676775"/>
            <a:ext cx="0" cy="1466850"/>
          </a:xfrm>
          <a:prstGeom prst="line">
            <a:avLst/>
          </a:prstGeom>
          <a:noFill/>
          <a:ln w="47625">
            <a:solidFill>
              <a:srgbClr val="6D28D9"/>
            </a:solidFill>
          </a:ln>
        </p:spPr>
      </p:sp>
      <p:sp>
        <p:nvSpPr>
          <p:cNvPr id="21" name="Text 85"/>
          <p:cNvSpPr txBox="1"/>
          <p:nvPr/>
        </p:nvSpPr>
        <p:spPr>
          <a:xfrm>
            <a:off x="7705725" y="4849940"/>
            <a:ext cx="3857625" cy="952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975"/>
              </a:lnSpc>
              <a:buNone/>
            </a:pPr>
            <a:r>
              <a:rPr b="1" sz="750" spc="75">
                <a:solidFill>
                  <a:srgbClr val="6D28D9"/>
                </a:solidFill>
                <a:latin typeface="Noto Sans JP"/>
                <a:ea typeface="Noto Sans JP"/>
                <a:cs typeface="Noto Sans JP"/>
              </a:rPr>
              <a:t>REAL-TIME ADVANTAGE</a:t>
            </a:r>
            <a:endParaRPr/>
          </a:p>
        </p:txBody>
      </p:sp>
      <p:sp>
        <p:nvSpPr>
          <p:cNvPr id="22" name="Text 86"/>
          <p:cNvSpPr txBox="1"/>
          <p:nvPr/>
        </p:nvSpPr>
        <p:spPr>
          <a:xfrm>
            <a:off x="7705725" y="5003092"/>
            <a:ext cx="3857625" cy="971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414"/>
              </a:lnSpc>
              <a:buNone/>
            </a:pP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  <a:p>
            <a:pPr marL="0" indent="0">
              <a:lnSpc>
                <a:spcPts val="1414"/>
              </a:lnSpc>
              <a:buNone/>
            </a:pP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 xml:space="preserve">          </a:t>
            </a:r>
            <a:r>
              <a:rPr sz="975">
                <a:solidFill>
                  <a:srgbClr val="6D28D9"/>
                </a:solidFill>
                <a:latin typeface="Noto Sans JP"/>
                <a:ea typeface="Noto Sans JP"/>
                <a:cs typeface="Noto Sans JP"/>
              </a:rPr>
              <a:t xml:space="preserve">Automation empowers XTSY to react to market changes in </a:t>
            </a: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  <a:p>
            <a:pPr marL="0" indent="0">
              <a:lnSpc>
                <a:spcPts val="1414"/>
              </a:lnSpc>
              <a:buNone/>
            </a:pP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 xml:space="preserve">          </a:t>
            </a:r>
            <a:r>
              <a:rPr sz="975">
                <a:solidFill>
                  <a:srgbClr val="6D28D9"/>
                </a:solidFill>
                <a:latin typeface="Noto Sans JP"/>
                <a:ea typeface="Noto Sans JP"/>
                <a:cs typeface="Noto Sans JP"/>
              </a:rPr>
              <a:t>real time</a:t>
            </a: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  <a:p>
            <a:pPr marL="0" indent="0">
              <a:lnSpc>
                <a:spcPts val="1414"/>
              </a:lnSpc>
              <a:buNone/>
            </a:pP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 xml:space="preserve">          </a:t>
            </a: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 xml:space="preserve">, capturing demand spikes and </a:t>
            </a: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  <a:p>
            <a:pPr marL="0" indent="0">
              <a:lnSpc>
                <a:spcPts val="1414"/>
              </a:lnSpc>
              <a:buNone/>
            </a:pP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 xml:space="preserve">          </a:t>
            </a:r>
            <a:r>
              <a:rPr sz="975">
                <a:solidFill>
                  <a:srgbClr val="6D28D9"/>
                </a:solidFill>
                <a:latin typeface="Noto Sans JP"/>
                <a:ea typeface="Noto Sans JP"/>
                <a:cs typeface="Noto Sans JP"/>
              </a:rPr>
              <a:t>minimizing wasted spend</a:t>
            </a: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  <a:p>
            <a:pPr marL="0" indent="0">
              <a:lnSpc>
                <a:spcPts val="1414"/>
              </a:lnSpc>
              <a:buNone/>
            </a:pP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 xml:space="preserve">          </a:t>
            </a: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.</a:t>
            </a: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  <a:p>
            <a:pPr marL="0" indent="0">
              <a:lnSpc>
                <a:spcPts val="1414"/>
              </a:lnSpc>
              <a:buNone/>
            </a:pP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 xml:space="preserve">       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66"/>
          <p:cNvSpPr/>
          <p:nvPr/>
        </p:nvSpPr>
        <p:spPr>
          <a:xfrm>
            <a:off x="457200" y="457200"/>
            <a:ext cx="11277600" cy="381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2F0"/>
            </a:solidFill>
          </a:ln>
        </p:spPr>
      </p:sp>
      <p:sp>
        <p:nvSpPr>
          <p:cNvPr id="3" name="Text 87"/>
          <p:cNvSpPr txBox="1"/>
          <p:nvPr/>
        </p:nvSpPr>
        <p:spPr>
          <a:xfrm>
            <a:off x="685800" y="688200"/>
            <a:ext cx="1082040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65"/>
              </a:lnSpc>
              <a:buNone/>
            </a:pPr>
            <a:r>
              <a:rPr b="1" sz="1050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Growth Impact Framework: Key Business Outcomes</a:t>
            </a:r>
            <a:endParaRPr/>
          </a:p>
        </p:txBody>
      </p:sp>
      <p:sp>
        <p:nvSpPr>
          <p:cNvPr id="4" name="Shape 67"/>
          <p:cNvSpPr/>
          <p:nvPr/>
        </p:nvSpPr>
        <p:spPr>
          <a:xfrm>
            <a:off x="1895475" y="1985963"/>
            <a:ext cx="1428750" cy="762000"/>
          </a:xfrm>
          <a:custGeom>
            <a:avLst/>
            <a:gdLst/>
            <a:ahLst/>
            <a:cxnLst/>
            <a:rect l="l" t="t" r="r" b="b"/>
            <a:pathLst>
              <a:path w="1428750" h="762000">
                <a:moveTo>
                  <a:pt x="0" y="0"/>
                </a:moveTo>
                <a:lnTo>
                  <a:pt x="1162050" y="0"/>
                </a:lnTo>
                <a:lnTo>
                  <a:pt x="1428750" y="381000"/>
                </a:lnTo>
                <a:lnTo>
                  <a:pt x="1162050" y="762000"/>
                </a:lnTo>
                <a:lnTo>
                  <a:pt x="0" y="762000"/>
                </a:lnTo>
                <a:close/>
              </a:path>
            </a:pathLst>
          </a:custGeom>
          <a:solidFill>
            <a:srgbClr val="E0E7FF"/>
          </a:solidFill>
          <a:ln>
            <a:noFill/>
          </a:ln>
        </p:spPr>
      </p:sp>
      <p:sp>
        <p:nvSpPr>
          <p:cNvPr id="5" name="Text 88"/>
          <p:cNvSpPr txBox="1"/>
          <p:nvPr/>
        </p:nvSpPr>
        <p:spPr>
          <a:xfrm>
            <a:off x="1895475" y="1985963"/>
            <a:ext cx="11620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b="1" sz="900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Category Visibility</a:t>
            </a:r>
            <a:endParaRPr/>
          </a:p>
        </p:txBody>
      </p:sp>
      <p:sp>
        <p:nvSpPr>
          <p:cNvPr id="6" name="Shape 68"/>
          <p:cNvSpPr/>
          <p:nvPr/>
        </p:nvSpPr>
        <p:spPr>
          <a:xfrm>
            <a:off x="3057525" y="1985963"/>
            <a:ext cx="1428750" cy="762000"/>
          </a:xfrm>
          <a:custGeom>
            <a:avLst/>
            <a:gdLst/>
            <a:ahLst/>
            <a:cxnLst/>
            <a:rect l="l" t="t" r="r" b="b"/>
            <a:pathLst>
              <a:path w="1428750" h="762000">
                <a:moveTo>
                  <a:pt x="0" y="0"/>
                </a:moveTo>
                <a:lnTo>
                  <a:pt x="1162050" y="0"/>
                </a:lnTo>
                <a:lnTo>
                  <a:pt x="1428750" y="381000"/>
                </a:lnTo>
                <a:lnTo>
                  <a:pt x="1162050" y="762000"/>
                </a:lnTo>
                <a:lnTo>
                  <a:pt x="0" y="762000"/>
                </a:lnTo>
                <a:lnTo>
                  <a:pt x="266700" y="381000"/>
                </a:lnTo>
                <a:close/>
              </a:path>
            </a:pathLst>
          </a:custGeom>
          <a:solidFill>
            <a:srgbClr val="C7D2FE"/>
          </a:solidFill>
          <a:ln>
            <a:noFill/>
          </a:ln>
        </p:spPr>
      </p:sp>
      <p:sp>
        <p:nvSpPr>
          <p:cNvPr id="7" name="Text 89"/>
          <p:cNvSpPr txBox="1"/>
          <p:nvPr/>
        </p:nvSpPr>
        <p:spPr>
          <a:xfrm>
            <a:off x="3324225" y="1985963"/>
            <a:ext cx="8953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b="1" sz="900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Search Share</a:t>
            </a:r>
            <a:endParaRPr/>
          </a:p>
        </p:txBody>
      </p:sp>
      <p:sp>
        <p:nvSpPr>
          <p:cNvPr id="8" name="Shape 69"/>
          <p:cNvSpPr/>
          <p:nvPr/>
        </p:nvSpPr>
        <p:spPr>
          <a:xfrm>
            <a:off x="4219575" y="1985963"/>
            <a:ext cx="1428750" cy="762000"/>
          </a:xfrm>
          <a:custGeom>
            <a:avLst/>
            <a:gdLst/>
            <a:ahLst/>
            <a:cxnLst/>
            <a:rect l="l" t="t" r="r" b="b"/>
            <a:pathLst>
              <a:path w="1428750" h="762000">
                <a:moveTo>
                  <a:pt x="0" y="0"/>
                </a:moveTo>
                <a:lnTo>
                  <a:pt x="1162050" y="0"/>
                </a:lnTo>
                <a:lnTo>
                  <a:pt x="1428750" y="381000"/>
                </a:lnTo>
                <a:lnTo>
                  <a:pt x="1162050" y="762000"/>
                </a:lnTo>
                <a:lnTo>
                  <a:pt x="0" y="762000"/>
                </a:lnTo>
                <a:lnTo>
                  <a:pt x="266700" y="381000"/>
                </a:lnTo>
                <a:close/>
              </a:path>
            </a:pathLst>
          </a:custGeom>
          <a:solidFill>
            <a:srgbClr val="A5B4FC"/>
          </a:solidFill>
          <a:ln>
            <a:noFill/>
          </a:ln>
        </p:spPr>
      </p:sp>
      <p:sp>
        <p:nvSpPr>
          <p:cNvPr id="9" name="Text 90"/>
          <p:cNvSpPr txBox="1"/>
          <p:nvPr/>
        </p:nvSpPr>
        <p:spPr>
          <a:xfrm>
            <a:off x="4486275" y="1985963"/>
            <a:ext cx="8953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b="1" sz="900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Sponsored Placement Share</a:t>
            </a:r>
            <a:endParaRPr/>
          </a:p>
        </p:txBody>
      </p:sp>
      <p:sp>
        <p:nvSpPr>
          <p:cNvPr id="10" name="Shape 70"/>
          <p:cNvSpPr/>
          <p:nvPr/>
        </p:nvSpPr>
        <p:spPr>
          <a:xfrm>
            <a:off x="5381625" y="1985963"/>
            <a:ext cx="1428750" cy="762000"/>
          </a:xfrm>
          <a:custGeom>
            <a:avLst/>
            <a:gdLst/>
            <a:ahLst/>
            <a:cxnLst/>
            <a:rect l="l" t="t" r="r" b="b"/>
            <a:pathLst>
              <a:path w="1428750" h="762000">
                <a:moveTo>
                  <a:pt x="0" y="0"/>
                </a:moveTo>
                <a:lnTo>
                  <a:pt x="1162050" y="0"/>
                </a:lnTo>
                <a:lnTo>
                  <a:pt x="1428750" y="381000"/>
                </a:lnTo>
                <a:lnTo>
                  <a:pt x="1162050" y="762000"/>
                </a:lnTo>
                <a:lnTo>
                  <a:pt x="0" y="762000"/>
                </a:lnTo>
                <a:lnTo>
                  <a:pt x="266700" y="381000"/>
                </a:lnTo>
                <a:close/>
              </a:path>
            </a:pathLst>
          </a:custGeom>
          <a:solidFill>
            <a:srgbClr val="818CF8"/>
          </a:solidFill>
          <a:ln>
            <a:noFill/>
          </a:ln>
        </p:spPr>
      </p:sp>
      <p:sp>
        <p:nvSpPr>
          <p:cNvPr id="11" name="Text 91"/>
          <p:cNvSpPr txBox="1"/>
          <p:nvPr/>
        </p:nvSpPr>
        <p:spPr>
          <a:xfrm>
            <a:off x="5648325" y="1985963"/>
            <a:ext cx="8953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b="1" sz="90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New Consumer Acquisition</a:t>
            </a:r>
            <a:endParaRPr/>
          </a:p>
        </p:txBody>
      </p:sp>
      <p:sp>
        <p:nvSpPr>
          <p:cNvPr id="12" name="Shape 71"/>
          <p:cNvSpPr/>
          <p:nvPr/>
        </p:nvSpPr>
        <p:spPr>
          <a:xfrm>
            <a:off x="6543675" y="1985963"/>
            <a:ext cx="1428750" cy="762000"/>
          </a:xfrm>
          <a:custGeom>
            <a:avLst/>
            <a:gdLst/>
            <a:ahLst/>
            <a:cxnLst/>
            <a:rect l="l" t="t" r="r" b="b"/>
            <a:pathLst>
              <a:path w="1428750" h="762000">
                <a:moveTo>
                  <a:pt x="0" y="0"/>
                </a:moveTo>
                <a:lnTo>
                  <a:pt x="1162050" y="0"/>
                </a:lnTo>
                <a:lnTo>
                  <a:pt x="1428750" y="381000"/>
                </a:lnTo>
                <a:lnTo>
                  <a:pt x="1162050" y="762000"/>
                </a:lnTo>
                <a:lnTo>
                  <a:pt x="0" y="762000"/>
                </a:lnTo>
                <a:lnTo>
                  <a:pt x="266700" y="381000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</p:sp>
      <p:sp>
        <p:nvSpPr>
          <p:cNvPr id="13" name="Text 92"/>
          <p:cNvSpPr txBox="1"/>
          <p:nvPr/>
        </p:nvSpPr>
        <p:spPr>
          <a:xfrm>
            <a:off x="6810375" y="1985963"/>
            <a:ext cx="8953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b="1" sz="90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Repeat Purchase Rate</a:t>
            </a:r>
            <a:endParaRPr/>
          </a:p>
        </p:txBody>
      </p:sp>
      <p:sp>
        <p:nvSpPr>
          <p:cNvPr id="14" name="Shape 72"/>
          <p:cNvSpPr/>
          <p:nvPr/>
        </p:nvSpPr>
        <p:spPr>
          <a:xfrm>
            <a:off x="7705725" y="1985963"/>
            <a:ext cx="1428750" cy="762000"/>
          </a:xfrm>
          <a:custGeom>
            <a:avLst/>
            <a:gdLst/>
            <a:ahLst/>
            <a:cxnLst/>
            <a:rect l="l" t="t" r="r" b="b"/>
            <a:pathLst>
              <a:path w="1428750" h="762000">
                <a:moveTo>
                  <a:pt x="0" y="0"/>
                </a:moveTo>
                <a:lnTo>
                  <a:pt x="1162050" y="0"/>
                </a:lnTo>
                <a:lnTo>
                  <a:pt x="1428750" y="381000"/>
                </a:lnTo>
                <a:lnTo>
                  <a:pt x="1162050" y="762000"/>
                </a:lnTo>
                <a:lnTo>
                  <a:pt x="0" y="762000"/>
                </a:lnTo>
                <a:lnTo>
                  <a:pt x="266700" y="381000"/>
                </a:lnTo>
                <a:close/>
              </a:path>
            </a:pathLst>
          </a:custGeom>
          <a:solidFill>
            <a:srgbClr val="4F46E5"/>
          </a:solidFill>
          <a:ln>
            <a:noFill/>
          </a:ln>
        </p:spPr>
      </p:sp>
      <p:sp>
        <p:nvSpPr>
          <p:cNvPr id="15" name="Text 93"/>
          <p:cNvSpPr txBox="1"/>
          <p:nvPr/>
        </p:nvSpPr>
        <p:spPr>
          <a:xfrm>
            <a:off x="7972425" y="1985963"/>
            <a:ext cx="8953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b="1" sz="90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Market Share</a:t>
            </a:r>
            <a:endParaRPr/>
          </a:p>
        </p:txBody>
      </p:sp>
      <p:sp>
        <p:nvSpPr>
          <p:cNvPr id="16" name="Shape 73"/>
          <p:cNvSpPr/>
          <p:nvPr/>
        </p:nvSpPr>
        <p:spPr>
          <a:xfrm>
            <a:off x="8867775" y="1985963"/>
            <a:ext cx="1428750" cy="762000"/>
          </a:xfrm>
          <a:custGeom>
            <a:avLst/>
            <a:gdLst/>
            <a:ahLst/>
            <a:cxnLst/>
            <a:rect l="l" t="t" r="r" b="b"/>
            <a:pathLst>
              <a:path w="1428750" h="762000">
                <a:moveTo>
                  <a:pt x="0" y="0"/>
                </a:moveTo>
                <a:lnTo>
                  <a:pt x="1162050" y="0"/>
                </a:lnTo>
                <a:lnTo>
                  <a:pt x="1428750" y="381000"/>
                </a:lnTo>
                <a:lnTo>
                  <a:pt x="1162050" y="762000"/>
                </a:lnTo>
                <a:lnTo>
                  <a:pt x="0" y="762000"/>
                </a:lnTo>
                <a:lnTo>
                  <a:pt x="266700" y="381000"/>
                </a:lnTo>
                <a:close/>
              </a:path>
            </a:pathLst>
          </a:custGeom>
          <a:solidFill>
            <a:srgbClr val="4338CA"/>
          </a:solidFill>
          <a:ln>
            <a:noFill/>
          </a:ln>
        </p:spPr>
      </p:sp>
      <p:sp>
        <p:nvSpPr>
          <p:cNvPr id="17" name="Text 94"/>
          <p:cNvSpPr txBox="1"/>
          <p:nvPr/>
        </p:nvSpPr>
        <p:spPr>
          <a:xfrm>
            <a:off x="9134475" y="1985963"/>
            <a:ext cx="8953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b="1" sz="90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Sales Velocity</a:t>
            </a:r>
            <a:endParaRPr/>
          </a:p>
        </p:txBody>
      </p:sp>
      <p:sp>
        <p:nvSpPr>
          <p:cNvPr id="18" name="Text 95"/>
          <p:cNvSpPr txBox="1"/>
          <p:nvPr/>
        </p:nvSpPr>
        <p:spPr>
          <a:xfrm>
            <a:off x="685800" y="3860635"/>
            <a:ext cx="10820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05"/>
              </a:lnSpc>
              <a:buNone/>
            </a:pPr>
            <a:r>
              <a:rPr sz="900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>Progression across these seven outcomes enables XTSY to capture outsized category growth through data-driven execution and automation.</a:t>
            </a:r>
            <a:endParaRPr/>
          </a:p>
        </p:txBody>
      </p:sp>
      <p:sp>
        <p:nvSpPr>
          <p:cNvPr id="19" name="Shape 74"/>
          <p:cNvSpPr/>
          <p:nvPr/>
        </p:nvSpPr>
        <p:spPr>
          <a:xfrm>
            <a:off x="457200" y="4495800"/>
            <a:ext cx="11277600" cy="190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0" name="Shape 75"/>
          <p:cNvSpPr/>
          <p:nvPr/>
        </p:nvSpPr>
        <p:spPr>
          <a:xfrm>
            <a:off x="457200" y="4495800"/>
            <a:ext cx="0" cy="1905000"/>
          </a:xfrm>
          <a:prstGeom prst="line">
            <a:avLst/>
          </a:prstGeom>
          <a:noFill/>
          <a:ln w="47625">
            <a:solidFill>
              <a:srgbClr val="6D28D9"/>
            </a:solidFill>
          </a:ln>
        </p:spPr>
      </p:sp>
      <p:sp>
        <p:nvSpPr>
          <p:cNvPr id="21" name="Text 96"/>
          <p:cNvSpPr txBox="1"/>
          <p:nvPr/>
        </p:nvSpPr>
        <p:spPr>
          <a:xfrm>
            <a:off x="628650" y="5356060"/>
            <a:ext cx="109347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05"/>
              </a:lnSpc>
              <a:buNone/>
            </a:pPr>
            <a:r>
              <a:rPr sz="900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All impact areas are driven by the integration of category intelligence, automation, and performance execution into a single scalable growth engine for XTSY.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76"/>
          <p:cNvSpPr/>
          <p:nvPr/>
        </p:nvSpPr>
        <p:spPr>
          <a:xfrm>
            <a:off x="457200" y="457200"/>
            <a:ext cx="11277600" cy="381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2F0"/>
            </a:solidFill>
          </a:ln>
        </p:spPr>
      </p:sp>
      <p:sp>
        <p:nvSpPr>
          <p:cNvPr id="3" name="Text 97"/>
          <p:cNvSpPr txBox="1"/>
          <p:nvPr/>
        </p:nvSpPr>
        <p:spPr>
          <a:xfrm>
            <a:off x="685800" y="688029"/>
            <a:ext cx="1082040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268"/>
              </a:lnSpc>
              <a:buNone/>
            </a:pPr>
            <a:r>
              <a:rPr b="1"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90-Day Quick Commerce Roadmap</a:t>
            </a:r>
            <a:endParaRPr/>
          </a:p>
        </p:txBody>
      </p:sp>
      <p:sp>
        <p:nvSpPr>
          <p:cNvPr id="4" name="Shape 77"/>
          <p:cNvSpPr/>
          <p:nvPr/>
        </p:nvSpPr>
        <p:spPr>
          <a:xfrm>
            <a:off x="1257300" y="2514600"/>
            <a:ext cx="9677400" cy="0"/>
          </a:xfrm>
          <a:prstGeom prst="line">
            <a:avLst/>
          </a:prstGeom>
          <a:noFill/>
          <a:ln w="38100">
            <a:solidFill>
              <a:srgbClr val="6D28D9"/>
            </a:solidFill>
          </a:ln>
        </p:spPr>
      </p:sp>
      <p:sp>
        <p:nvSpPr>
          <p:cNvPr id="5" name="Shape 78"/>
          <p:cNvSpPr/>
          <p:nvPr/>
        </p:nvSpPr>
        <p:spPr>
          <a:xfrm>
            <a:off x="1143000" y="2400300"/>
            <a:ext cx="228600" cy="2286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</p:sp>
      <p:sp>
        <p:nvSpPr>
          <p:cNvPr id="6" name="Text 98"/>
          <p:cNvSpPr txBox="1"/>
          <p:nvPr/>
        </p:nvSpPr>
        <p:spPr>
          <a:xfrm>
            <a:off x="685800" y="20193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sz="900">
                <a:solidFill>
                  <a:srgbClr val="6D28D9"/>
                </a:solidFill>
                <a:latin typeface="Noto Sans JP"/>
                <a:ea typeface="Noto Sans JP"/>
                <a:cs typeface="Noto Sans JP"/>
              </a:rPr>
              <a:t>Month 1</a:t>
            </a:r>
            <a:endParaRPr/>
          </a:p>
        </p:txBody>
      </p:sp>
      <p:sp>
        <p:nvSpPr>
          <p:cNvPr id="7" name="Text 99"/>
          <p:cNvSpPr txBox="1"/>
          <p:nvPr/>
        </p:nvSpPr>
        <p:spPr>
          <a:xfrm>
            <a:off x="685800" y="27051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b="1" sz="1050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Audit &amp; Benchmarking</a:t>
            </a:r>
            <a:endParaRPr/>
          </a:p>
        </p:txBody>
      </p:sp>
      <p:sp>
        <p:nvSpPr>
          <p:cNvPr id="8" name="Text 100"/>
          <p:cNvSpPr txBox="1"/>
          <p:nvPr/>
        </p:nvSpPr>
        <p:spPr>
          <a:xfrm>
            <a:off x="685800" y="293370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sz="825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>• Conduct category assessment&amp;#10;• Search visibility audit&amp;#10;• Availability review&amp;#10;• Platform diagnostics to establish baselines.</a:t>
            </a:r>
            <a:endParaRPr/>
          </a:p>
        </p:txBody>
      </p:sp>
      <p:sp>
        <p:nvSpPr>
          <p:cNvPr id="9" name="Shape 79"/>
          <p:cNvSpPr/>
          <p:nvPr/>
        </p:nvSpPr>
        <p:spPr>
          <a:xfrm>
            <a:off x="5981700" y="2400300"/>
            <a:ext cx="228600" cy="2286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0" name="Text 101"/>
          <p:cNvSpPr txBox="1"/>
          <p:nvPr/>
        </p:nvSpPr>
        <p:spPr>
          <a:xfrm>
            <a:off x="5524500" y="20193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sz="900">
                <a:solidFill>
                  <a:srgbClr val="6D28D9"/>
                </a:solidFill>
                <a:latin typeface="Noto Sans JP"/>
                <a:ea typeface="Noto Sans JP"/>
                <a:cs typeface="Noto Sans JP"/>
              </a:rPr>
              <a:t>Month 2</a:t>
            </a:r>
            <a:endParaRPr/>
          </a:p>
        </p:txBody>
      </p:sp>
      <p:sp>
        <p:nvSpPr>
          <p:cNvPr id="11" name="Text 102"/>
          <p:cNvSpPr txBox="1"/>
          <p:nvPr/>
        </p:nvSpPr>
        <p:spPr>
          <a:xfrm>
            <a:off x="5524500" y="27051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b="1" sz="1050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Growth Activation</a:t>
            </a:r>
            <a:endParaRPr/>
          </a:p>
        </p:txBody>
      </p:sp>
      <p:sp>
        <p:nvSpPr>
          <p:cNvPr id="12" name="Text 103"/>
          <p:cNvSpPr txBox="1"/>
          <p:nvPr/>
        </p:nvSpPr>
        <p:spPr>
          <a:xfrm>
            <a:off x="5524500" y="293370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sz="825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>• Scale search&amp;#10;• Expand placements&amp;#10;• Execute competitor conquesting&amp;#10;• Prioritize portfolio for maximum impact.</a:t>
            </a:r>
            <a:endParaRPr/>
          </a:p>
        </p:txBody>
      </p:sp>
      <p:sp>
        <p:nvSpPr>
          <p:cNvPr id="13" name="Shape 80"/>
          <p:cNvSpPr/>
          <p:nvPr/>
        </p:nvSpPr>
        <p:spPr>
          <a:xfrm>
            <a:off x="10820400" y="2400300"/>
            <a:ext cx="228600" cy="22860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</p:sp>
      <p:sp>
        <p:nvSpPr>
          <p:cNvPr id="14" name="Text 104"/>
          <p:cNvSpPr txBox="1"/>
          <p:nvPr/>
        </p:nvSpPr>
        <p:spPr>
          <a:xfrm>
            <a:off x="10363200" y="20193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sz="900">
                <a:solidFill>
                  <a:srgbClr val="6D28D9"/>
                </a:solidFill>
                <a:latin typeface="Noto Sans JP"/>
                <a:ea typeface="Noto Sans JP"/>
                <a:cs typeface="Noto Sans JP"/>
              </a:rPr>
              <a:t>Month 3</a:t>
            </a:r>
            <a:endParaRPr/>
          </a:p>
        </p:txBody>
      </p:sp>
      <p:sp>
        <p:nvSpPr>
          <p:cNvPr id="15" name="Text 105"/>
          <p:cNvSpPr txBox="1"/>
          <p:nvPr/>
        </p:nvSpPr>
        <p:spPr>
          <a:xfrm>
            <a:off x="10363200" y="27051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b="1" sz="1050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Optimization &amp; Scale</a:t>
            </a:r>
            <a:endParaRPr/>
          </a:p>
        </p:txBody>
      </p:sp>
      <p:sp>
        <p:nvSpPr>
          <p:cNvPr id="16" name="Text 106"/>
          <p:cNvSpPr txBox="1"/>
          <p:nvPr/>
        </p:nvSpPr>
        <p:spPr>
          <a:xfrm>
            <a:off x="10363200" y="293370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sz="825">
                <a:solidFill>
                  <a:srgbClr val="5E5772"/>
                </a:solidFill>
                <a:latin typeface="Noto Sans JP"/>
                <a:ea typeface="Noto Sans JP"/>
                <a:cs typeface="Noto Sans JP"/>
              </a:rPr>
              <a:t>• Deploy automation&amp;#10;• Optimize budgets&amp;#10;• Plan for expansion&amp;#10;• Measure growth outcomes for continuous improvement.</a:t>
            </a:r>
            <a:endParaRPr/>
          </a:p>
        </p:txBody>
      </p:sp>
      <p:sp>
        <p:nvSpPr>
          <p:cNvPr id="17" name="Shape 81"/>
          <p:cNvSpPr/>
          <p:nvPr/>
        </p:nvSpPr>
        <p:spPr>
          <a:xfrm>
            <a:off x="457200" y="4495800"/>
            <a:ext cx="11277600" cy="1905000"/>
          </a:xfrm>
          <a:prstGeom prst="rect">
            <a:avLst/>
          </a:prstGeom>
          <a:solidFill>
            <a:srgbClr val="EEF2FD"/>
          </a:solidFill>
          <a:ln>
            <a:noFill/>
          </a:ln>
        </p:spPr>
      </p:sp>
      <p:sp>
        <p:nvSpPr>
          <p:cNvPr id="18" name="Shape 82"/>
          <p:cNvSpPr/>
          <p:nvPr/>
        </p:nvSpPr>
        <p:spPr>
          <a:xfrm>
            <a:off x="457200" y="4495800"/>
            <a:ext cx="0" cy="1905000"/>
          </a:xfrm>
          <a:prstGeom prst="line">
            <a:avLst/>
          </a:prstGeom>
          <a:noFill/>
          <a:ln w="47625">
            <a:solidFill>
              <a:srgbClr val="6D28D9"/>
            </a:solidFill>
          </a:ln>
        </p:spPr>
      </p:sp>
      <p:sp>
        <p:nvSpPr>
          <p:cNvPr id="19" name="Text 107"/>
          <p:cNvSpPr txBox="1"/>
          <p:nvPr/>
        </p:nvSpPr>
        <p:spPr>
          <a:xfrm>
            <a:off x="647700" y="5259515"/>
            <a:ext cx="10896600" cy="1238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975"/>
              </a:lnSpc>
              <a:buNone/>
            </a:pPr>
            <a:r>
              <a:rPr b="1" sz="750" spc="150">
                <a:solidFill>
                  <a:srgbClr val="6D28D9"/>
                </a:solidFill>
                <a:latin typeface="Noto Sans JP"/>
                <a:ea typeface="Noto Sans JP"/>
                <a:cs typeface="Noto Sans JP"/>
              </a:rPr>
              <a:t>STRATEGIC HIGHLIGHT</a:t>
            </a:r>
            <a:endParaRPr/>
          </a:p>
        </p:txBody>
      </p:sp>
      <p:sp>
        <p:nvSpPr>
          <p:cNvPr id="20" name="Text 108"/>
          <p:cNvSpPr txBox="1"/>
          <p:nvPr/>
        </p:nvSpPr>
        <p:spPr>
          <a:xfrm>
            <a:off x="647700" y="5450767"/>
            <a:ext cx="1089660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414"/>
              </a:lnSpc>
              <a:buNone/>
            </a:pPr>
            <a:r>
              <a:rPr sz="975">
                <a:solidFill>
                  <a:srgbClr val="1E1B2E"/>
                </a:solidFill>
                <a:latin typeface="Noto Sans JP"/>
                <a:ea typeface="Noto Sans JP"/>
                <a:cs typeface="Noto Sans JP"/>
              </a:rPr>
              <a:t>Winning Quick Commerce is about capturing visibility faster, converting demand better, and scaling through intelligence and automation—not just spending more.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pptx-glimpse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pptx-glimpse</dc:creator>
  <cp:lastModifiedBy>pptx-glimpse</cp:lastModifiedBy>
</cp:coreProperties>
</file>